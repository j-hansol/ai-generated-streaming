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186a7ba-3147-e14a-4a07-6889f762071e}">
          <p14:sldIdLst>
            <p14:sldId id="256"/>
            <p14:sldId id="257"/>
          </p14:sldIdLst>
        </p14:section>
        <p14:section name="개념" id="{36689d82-1b58-13f9-421b-865948eebbc5}">
          <p14:sldIdLst>
            <p14:sldId id="258"/>
            <p14:sldId id="259"/>
            <p14:sldId id="260"/>
            <p14:sldId id="261"/>
          </p14:sldIdLst>
        </p14:section>
        <p14:section name="사례" id="{81c26561-afef-b7da-6c15-53f8c58b984e}">
          <p14:sldIdLst>
            <p14:sldId id="262"/>
          </p14:sldIdLst>
        </p14:section>
        <p14:section name="실습" id="{1ba66880-b74f-a726-d271-affb0d0ea70c}">
          <p14:sldIdLst>
            <p14:sldId id="263"/>
          </p14:sldIdLst>
        </p14:section>
        <p14:section name="정리" id="{cc022a60-4a50-d4a5-f1ee-0a800e1c1a38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과정에서 가장 어려운 회차입니다. 개념(SDP, ICE)에 시간을 충분히 쓰고, 코드는 완성본을 읽는 방식으로 진행해도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2시간 수업은 매번 같은 순서로 진행합니다. 복습 10분, 개념 40분, 시연 15분, 실습 45분, 정리 10분. 실습 시간이 가장 길다는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카메라가 없는 수강생은 테스트 화면(canvas.captureStream)을 씁니다. localhost에서는 권한 요청이 허용되지만, 다른 주소에서는 HTTPS가 필요하다는 점도 알려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1~4단계는 신호 교환(HTTP), 5~6단계는 실제 영상 연결(UDP)입니다. 이 구분이 사례 학습의 핵심이 되니 꼭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chrome://webrtc-internals 를 열어 실제 SDP 문서와 후보 목록을 보여주세요. 텍스트로 된 평범한 문서라는 점에 수강생들이 놀랍니다.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응답의 Location 헤더는 세션 주소입니다. 끝낼 때 그 주소로 DELETE를 보냅니다. 코덱 우선순위(preferCodec)는 HLS가 VP8을 못 읽기 때문에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프로젝트를 만들며 실제로 겪은 문제입니다. 증상(숫자들)만 보고 어느 단계에서 막혔는지 추리하는 연습을 시키세요. 정답: 신호 교환은 성공, ICE 단계에서 실패.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송출이 안 되면 강의 화면의 연결 상태와 노란 상자 문구부터 확인하게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힌트: getUserMedia의 video.width/height와 maxVideoBitrate를 함께 바꿔야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44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ko-KR" altLang="en-US" sz="2200" dirty="0">
                <a:solidFill>
                  <a:schemeClr val="bg2"/>
                </a:solidFill>
              </a:defRPr>
            </a:lvl1pPr>
          </a:lstStyle>
          <a:p>
            <a:pPr eaLnBrk="0" indent="0" marL="0">
              <a:buNone/>
            </a:pPr>
            <a:endParaRPr lang="ko-KR" alt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200" b="1" dirty="0">
                <a:solidFill>
                  <a:schemeClr val="tx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실시간 강의 방송 만들기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1003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2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실시간 강의 방송 만들기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1004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107692" cy="310896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ON AIR · 05회차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chemeClr val="bg1"/>
                </a:solidFill>
              </a:rPr>
              <a:t>WebRTC로 송출하기</a:t>
            </a:r>
            <a:endParaRPr lang="ko-KR" alt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6118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200" dirty="0">
                <a:solidFill>
                  <a:schemeClr val="bg2"/>
                </a:solidFill>
              </a:rPr>
              <a:t>브라우저의 화면과 카메라를 미디어 서버로 보냅니다 (WHIP)</a:t>
            </a:r>
            <a:endParaRPr lang="ko-KR" alt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오늘 할 수 있게 될 것</a:t>
            </a:r>
            <a:endParaRPr lang="ko-KR" altLang="en-US" sz="1300" dirty="0"/>
          </a:p>
        </p:txBody>
      </p:sp>
      <p:sp>
        <p:nvSpPr>
          <p:cNvPr id="8" name="goal-1"/>
          <p:cNvSpPr/>
          <p:nvPr/>
        </p:nvSpPr>
        <p:spPr>
          <a:xfrm>
            <a:off x="7315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화면 · 카메라를 MediaStream으로 가져온다</a:t>
            </a:r>
            <a:endParaRPr lang="ko-KR" altLang="en-US" sz="1500" dirty="0"/>
          </a:p>
        </p:txBody>
      </p:sp>
      <p:sp>
        <p:nvSpPr>
          <p:cNvPr id="10" name="goal-2"/>
          <p:cNvSpPr/>
          <p:nvPr/>
        </p:nvSpPr>
        <p:spPr>
          <a:xfrm>
            <a:off x="43891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WebRTC 연결 과정을 설명한다</a:t>
            </a:r>
            <a:endParaRPr lang="ko-KR" altLang="en-US" sz="1500" dirty="0"/>
          </a:p>
        </p:txBody>
      </p:sp>
      <p:sp>
        <p:nvSpPr>
          <p:cNvPr id="12" name="goal-3"/>
          <p:cNvSpPr/>
          <p:nvPr/>
        </p:nvSpPr>
        <p:spPr>
          <a:xfrm>
            <a:off x="80467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연결 문제를 단계별로 찾는다</a:t>
            </a:r>
            <a:endParaRPr lang="ko-KR" alt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05회차 · WebRTC 송출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오늘의 진행</a:t>
            </a:r>
            <a:endParaRPr lang="ko-KR" altLang="en-US" sz="3200" dirty="0"/>
          </a:p>
        </p:txBody>
      </p:sp>
      <p:sp>
        <p:nvSpPr>
          <p:cNvPr id="7" name="num-1"/>
          <p:cNvSpPr/>
          <p:nvPr/>
        </p:nvSpPr>
        <p:spPr>
          <a:xfrm>
            <a:off x="548640" y="169164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69164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브라우저에서 영상 가져오기</a:t>
            </a:r>
            <a:endParaRPr lang="ko-KR" altLang="en-US" sz="1800" dirty="0"/>
          </a:p>
        </p:txBody>
      </p:sp>
      <p:sp>
        <p:nvSpPr>
          <p:cNvPr id="10" name="num-2"/>
          <p:cNvSpPr/>
          <p:nvPr/>
        </p:nvSpPr>
        <p:spPr>
          <a:xfrm>
            <a:off x="548640" y="224028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24028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WebRTC 연결이 맺어지는 과정</a:t>
            </a:r>
            <a:endParaRPr lang="ko-KR" altLang="en-US" sz="1800" dirty="0"/>
          </a:p>
        </p:txBody>
      </p:sp>
      <p:sp>
        <p:nvSpPr>
          <p:cNvPr id="13" name="num-3"/>
          <p:cNvSpPr/>
          <p:nvPr/>
        </p:nvSpPr>
        <p:spPr>
          <a:xfrm>
            <a:off x="548640" y="278892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78892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SDP와 ICE</a:t>
            </a:r>
            <a:endParaRPr lang="ko-KR" altLang="en-US" sz="1800" dirty="0"/>
          </a:p>
        </p:txBody>
      </p:sp>
      <p:sp>
        <p:nvSpPr>
          <p:cNvPr id="16" name="num-4"/>
          <p:cNvSpPr/>
          <p:nvPr/>
        </p:nvSpPr>
        <p:spPr>
          <a:xfrm>
            <a:off x="548640" y="333756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33756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WHIP 코드 읽기</a:t>
            </a:r>
            <a:endParaRPr lang="ko-KR" altLang="en-US" sz="1800" dirty="0"/>
          </a:p>
        </p:txBody>
      </p:sp>
      <p:sp>
        <p:nvSpPr>
          <p:cNvPr id="19" name="num-5"/>
          <p:cNvSpPr/>
          <p:nvPr/>
        </p:nvSpPr>
        <p:spPr>
          <a:xfrm>
            <a:off x="548640" y="388620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5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234440" y="388620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사례: connecting에서 멈춘 송출</a:t>
            </a:r>
            <a:endParaRPr lang="ko-KR" alt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6"/>
                </a:solidFill>
              </a:rPr>
              <a:t>2시간 진행 순서</a:t>
            </a:r>
            <a:endParaRPr lang="ko-KR" altLang="en-US" sz="1300" dirty="0"/>
          </a:p>
        </p:txBody>
      </p:sp>
      <p:sp>
        <p:nvSpPr>
          <p:cNvPr id="23" name="agenda-1"/>
          <p:cNvSpPr/>
          <p:nvPr/>
        </p:nvSpPr>
        <p:spPr>
          <a:xfrm>
            <a:off x="576072" y="4983480"/>
            <a:ext cx="869671" cy="50292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4983480"/>
            <a:ext cx="924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10분</a:t>
            </a:r>
            <a:endParaRPr lang="ko-KR" alt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577840"/>
            <a:ext cx="924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복습 · 퀴즈</a:t>
            </a:r>
            <a:endParaRPr lang="ko-KR" altLang="en-US" sz="1300" dirty="0"/>
          </a:p>
        </p:txBody>
      </p:sp>
      <p:sp>
        <p:nvSpPr>
          <p:cNvPr id="26" name="agenda-2"/>
          <p:cNvSpPr/>
          <p:nvPr/>
        </p:nvSpPr>
        <p:spPr>
          <a:xfrm>
            <a:off x="1500607" y="4983480"/>
            <a:ext cx="3643274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473175" y="4983480"/>
            <a:ext cx="3698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40분</a:t>
            </a:r>
            <a:endParaRPr lang="ko-KR" alt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473175" y="5577840"/>
            <a:ext cx="3698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개념 강의</a:t>
            </a:r>
            <a:endParaRPr lang="ko-KR" altLang="en-US" sz="1300" dirty="0"/>
          </a:p>
        </p:txBody>
      </p:sp>
      <p:sp>
        <p:nvSpPr>
          <p:cNvPr id="29" name="agenda-3"/>
          <p:cNvSpPr/>
          <p:nvPr/>
        </p:nvSpPr>
        <p:spPr>
          <a:xfrm>
            <a:off x="5198745" y="4983480"/>
            <a:ext cx="1331938" cy="5029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171313" y="4983480"/>
            <a:ext cx="1386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15분</a:t>
            </a:r>
            <a:endParaRPr lang="ko-KR" alt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171313" y="5577840"/>
            <a:ext cx="13868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시연</a:t>
            </a:r>
            <a:endParaRPr lang="ko-KR" altLang="en-US" sz="1300" dirty="0"/>
          </a:p>
        </p:txBody>
      </p:sp>
      <p:sp>
        <p:nvSpPr>
          <p:cNvPr id="32" name="agenda-4"/>
          <p:cNvSpPr/>
          <p:nvPr/>
        </p:nvSpPr>
        <p:spPr>
          <a:xfrm>
            <a:off x="6585547" y="4983480"/>
            <a:ext cx="4105542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558115" y="4983480"/>
            <a:ext cx="4160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45분</a:t>
            </a:r>
            <a:endParaRPr lang="ko-KR" alt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558115" y="5577840"/>
            <a:ext cx="41604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실습</a:t>
            </a:r>
            <a:endParaRPr lang="ko-KR" altLang="en-US" sz="1300" dirty="0"/>
          </a:p>
        </p:txBody>
      </p:sp>
      <p:sp>
        <p:nvSpPr>
          <p:cNvPr id="35" name="agenda-5"/>
          <p:cNvSpPr/>
          <p:nvPr/>
        </p:nvSpPr>
        <p:spPr>
          <a:xfrm>
            <a:off x="10745953" y="4983480"/>
            <a:ext cx="869671" cy="502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718521" y="4983480"/>
            <a:ext cx="924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10분</a:t>
            </a:r>
            <a:endParaRPr lang="ko-KR" alt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0718521" y="5577840"/>
            <a:ext cx="924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정리 · 과제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05회차 · WebRTC 송출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브라우저에서 영상 가져오기</a:t>
            </a:r>
            <a:endParaRPr lang="ko-KR" altLang="en-US" sz="3200" dirty="0"/>
          </a:p>
        </p:txBody>
      </p:sp>
      <p:sp>
        <p:nvSpPr>
          <p:cNvPr id="7" name="code-explain"/>
          <p:cNvSpPr txBox="1"/>
          <p:nvPr/>
        </p:nvSpPr>
        <p:spPr>
          <a:xfrm>
            <a:off x="548640" y="1645920"/>
            <a:ext cx="4160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MediaStream = 영상 · 소리 트랙의 묶음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getUserMedia: 카메라·마이크 (권한 요청)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getDisplayMedia: 화면 공유 (공유할 창을 사용자가 고름)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공유 중지를 누르면 트랙에 ended 이벤트가 온다</a:t>
            </a:r>
            <a:endParaRPr lang="ko-KR" altLang="en-US" sz="1600" dirty="0"/>
          </a:p>
        </p:txBody>
      </p:sp>
      <p:sp>
        <p:nvSpPr>
          <p:cNvPr id="8" name="code-panel"/>
          <p:cNvSpPr/>
          <p:nvPr/>
        </p:nvSpPr>
        <p:spPr>
          <a:xfrm>
            <a:off x="5029200" y="1600200"/>
            <a:ext cx="6613855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5303520" y="18745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ode-file"/>
          <p:cNvSpPr txBox="1"/>
          <p:nvPr/>
        </p:nvSpPr>
        <p:spPr>
          <a:xfrm>
            <a:off x="5504688" y="1783080"/>
            <a:ext cx="5882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apps/web/src/pages/TeachPage.tsx (요약)</a:t>
            </a:r>
            <a:endParaRPr lang="ko-KR" altLang="en-US" sz="1200" dirty="0"/>
          </a:p>
        </p:txBody>
      </p:sp>
      <p:sp>
        <p:nvSpPr>
          <p:cNvPr id="11" name="code-text"/>
          <p:cNvSpPr txBox="1"/>
          <p:nvPr/>
        </p:nvSpPr>
        <p:spPr>
          <a:xfrm>
            <a:off x="5303520" y="2194560"/>
            <a:ext cx="606521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카메라 + 마이크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cam = await navigator.mediaDevices.getUserMedia({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video: { width: 1280, height: 720 },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audio: true,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화면 공유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screen = await navigator.mediaDevices.getDisplayMedia({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video: { frameRate: 30 },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글씨가 많은 화면은 선명도 우선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screen.getVideoTracks()[0].contentHint = 'detail';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공유 중지 → 강의 종료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screen.getVideoTracks()[0].addEventListener('ended', stop);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05회차 · WebRTC 송출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WebRTC 연결이 맺어지는 과정</a:t>
            </a:r>
            <a:endParaRPr lang="ko-KR" altLang="en-US" sz="3200" dirty="0"/>
          </a:p>
        </p:txBody>
      </p:sp>
      <p:sp>
        <p:nvSpPr>
          <p:cNvPr id="7" name="step-1"/>
          <p:cNvSpPr/>
          <p:nvPr/>
        </p:nvSpPr>
        <p:spPr>
          <a:xfrm>
            <a:off x="548640" y="1828800"/>
            <a:ext cx="1529029" cy="274320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029968"/>
            <a:ext cx="10718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01</a:t>
            </a:r>
            <a:endParaRPr lang="ko-KR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77440"/>
            <a:ext cx="10718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offer 만들기</a:t>
            </a:r>
            <a:endParaRPr lang="ko-KR" alt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00400"/>
            <a:ext cx="107182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보낼 트랙과 코덱 목록을 적은 제안서</a:t>
            </a:r>
            <a:endParaRPr lang="ko-KR" altLang="en-US" sz="1300" dirty="0"/>
          </a:p>
        </p:txBody>
      </p:sp>
      <p:sp>
        <p:nvSpPr>
          <p:cNvPr id="11" name="arrow-1"/>
          <p:cNvSpPr/>
          <p:nvPr/>
        </p:nvSpPr>
        <p:spPr>
          <a:xfrm rot="5400000">
            <a:off x="2178253" y="308152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2" name="step-2"/>
          <p:cNvSpPr/>
          <p:nvPr/>
        </p:nvSpPr>
        <p:spPr>
          <a:xfrm>
            <a:off x="2461717" y="1828800"/>
            <a:ext cx="1529029" cy="274320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90317" y="2029968"/>
            <a:ext cx="10718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02</a:t>
            </a:r>
            <a:endParaRPr lang="ko-KR" alt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690317" y="2377440"/>
            <a:ext cx="10718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ICE 후보 모으기</a:t>
            </a:r>
            <a:endParaRPr lang="ko-KR" alt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690317" y="3200400"/>
            <a:ext cx="107182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내가 받을 수 있는 주소·포트 목록</a:t>
            </a:r>
            <a:endParaRPr lang="ko-KR" altLang="en-US" sz="1300" dirty="0"/>
          </a:p>
        </p:txBody>
      </p:sp>
      <p:sp>
        <p:nvSpPr>
          <p:cNvPr id="16" name="arrow-2"/>
          <p:cNvSpPr/>
          <p:nvPr/>
        </p:nvSpPr>
        <p:spPr>
          <a:xfrm rot="5400000">
            <a:off x="4091330" y="308152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7" name="step-3"/>
          <p:cNvSpPr/>
          <p:nvPr/>
        </p:nvSpPr>
        <p:spPr>
          <a:xfrm>
            <a:off x="4374794" y="1828800"/>
            <a:ext cx="1529029" cy="274320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03394" y="2029968"/>
            <a:ext cx="10718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03</a:t>
            </a:r>
            <a:endParaRPr lang="ko-KR" alt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603394" y="2377440"/>
            <a:ext cx="10718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WHIP 요청</a:t>
            </a:r>
            <a:endParaRPr lang="ko-KR" alt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603394" y="3200400"/>
            <a:ext cx="107182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offer를 HTTP POST로 서버에 보낸다</a:t>
            </a:r>
            <a:endParaRPr lang="ko-KR" altLang="en-US" sz="1300" dirty="0"/>
          </a:p>
        </p:txBody>
      </p:sp>
      <p:sp>
        <p:nvSpPr>
          <p:cNvPr id="21" name="arrow-3"/>
          <p:cNvSpPr/>
          <p:nvPr/>
        </p:nvSpPr>
        <p:spPr>
          <a:xfrm rot="5400000">
            <a:off x="6004408" y="308152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2" name="step-4"/>
          <p:cNvSpPr/>
          <p:nvPr/>
        </p:nvSpPr>
        <p:spPr>
          <a:xfrm>
            <a:off x="6287872" y="1828800"/>
            <a:ext cx="1529029" cy="274320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516472" y="2029968"/>
            <a:ext cx="10718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04</a:t>
            </a:r>
            <a:endParaRPr lang="ko-KR" alt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516472" y="2377440"/>
            <a:ext cx="10718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answer 적용</a:t>
            </a:r>
            <a:endParaRPr lang="ko-KR" alt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516472" y="3200400"/>
            <a:ext cx="107182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서버의 답장(코덱·주소)을 받아 적용</a:t>
            </a:r>
            <a:endParaRPr lang="ko-KR" altLang="en-US" sz="1300" dirty="0"/>
          </a:p>
        </p:txBody>
      </p:sp>
      <p:sp>
        <p:nvSpPr>
          <p:cNvPr id="26" name="arrow-4"/>
          <p:cNvSpPr/>
          <p:nvPr/>
        </p:nvSpPr>
        <p:spPr>
          <a:xfrm rot="5400000">
            <a:off x="7917485" y="308152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7" name="step-5"/>
          <p:cNvSpPr/>
          <p:nvPr/>
        </p:nvSpPr>
        <p:spPr>
          <a:xfrm>
            <a:off x="8200949" y="1828800"/>
            <a:ext cx="1529029" cy="274320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429549" y="2029968"/>
            <a:ext cx="10718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05</a:t>
            </a:r>
            <a:endParaRPr lang="ko-KR" alt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429549" y="2377440"/>
            <a:ext cx="10718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ICE 연결</a:t>
            </a:r>
            <a:endParaRPr lang="ko-KR" alt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429549" y="3200400"/>
            <a:ext cx="107182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후보 쌍을 시험해 실제 길을 찾는다</a:t>
            </a:r>
            <a:endParaRPr lang="ko-KR" altLang="en-US" sz="1300" dirty="0"/>
          </a:p>
        </p:txBody>
      </p:sp>
      <p:sp>
        <p:nvSpPr>
          <p:cNvPr id="31" name="arrow-5"/>
          <p:cNvSpPr/>
          <p:nvPr/>
        </p:nvSpPr>
        <p:spPr>
          <a:xfrm rot="5400000">
            <a:off x="9830562" y="308152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32" name="step-6"/>
          <p:cNvSpPr/>
          <p:nvPr/>
        </p:nvSpPr>
        <p:spPr>
          <a:xfrm>
            <a:off x="10114026" y="1828800"/>
            <a:ext cx="1529029" cy="2743200"/>
          </a:xfrm>
          <a:prstGeom prst="roundRect">
            <a:avLst>
              <a:gd name="adj" fmla="val 7176"/>
            </a:avLst>
          </a:prstGeom>
          <a:solidFill>
            <a:schemeClr val="tx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342626" y="2029968"/>
            <a:ext cx="10718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06</a:t>
            </a:r>
            <a:endParaRPr lang="ko-KR" alt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0342626" y="2377440"/>
            <a:ext cx="10718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영상 전송</a:t>
            </a:r>
            <a:endParaRPr lang="ko-KR" alt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10342626" y="3200400"/>
            <a:ext cx="107182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</a:rPr>
              <a:t>connected → 영상이 흐른다</a:t>
            </a:r>
            <a:endParaRPr lang="ko-KR" altLang="en-US" sz="1300" dirty="0"/>
          </a:p>
        </p:txBody>
      </p:sp>
      <p:sp>
        <p:nvSpPr>
          <p:cNvPr id="36" name="key-box"/>
          <p:cNvSpPr/>
          <p:nvPr/>
        </p:nvSpPr>
        <p:spPr>
          <a:xfrm>
            <a:off x="548640" y="498348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37" name="key-dot"/>
          <p:cNvSpPr/>
          <p:nvPr/>
        </p:nvSpPr>
        <p:spPr>
          <a:xfrm>
            <a:off x="777240" y="521208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key-text"/>
          <p:cNvSpPr txBox="1"/>
          <p:nvPr/>
        </p:nvSpPr>
        <p:spPr>
          <a:xfrm>
            <a:off x="1005840" y="498348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①~④ 신호 교환 (HTTP) → ⑤~⑥ 영상 연결 (UDP). 둘은 다른 길이다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05회차 · WebRTC 송출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SDP와 ICE</a:t>
            </a:r>
            <a:endParaRPr lang="ko-KR" altLang="en-US" sz="3200" dirty="0"/>
          </a:p>
        </p:txBody>
      </p:sp>
      <p:sp>
        <p:nvSpPr>
          <p:cNvPr id="7" name="card-1"/>
          <p:cNvSpPr/>
          <p:nvPr/>
        </p:nvSpPr>
        <p:spPr>
          <a:xfrm>
            <a:off x="548640" y="1600200"/>
            <a:ext cx="5410048" cy="37490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8" name="num-1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182880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SDP — 무엇을 보낼까</a:t>
            </a:r>
            <a:endParaRPr lang="ko-KR" alt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68880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m=video ... H264</a:t>
            </a:r>
            <a:endParaRPr lang="ko-KR" alt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880360"/>
            <a:ext cx="48614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트랙 종류, 코덱, 암호화 정보를 적은 텍스트 문서. offer(제안)와 answer(답장)를 주고받으며 서로 맞춘다.</a:t>
            </a:r>
            <a:endParaRPr lang="ko-KR" altLang="en-US" sz="1500" dirty="0"/>
          </a:p>
          <a:p>
            <a:pPr eaLnBrk="0" indent="0" marL="0">
              <a:spcAft>
                <a:spcPts val="600"/>
              </a:spcAft>
              <a:buNone/>
            </a:pPr>
            <a:endParaRPr lang="ko-KR" altLang="en-US" sz="15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예) 영상 1개 · H264</a:t>
            </a:r>
            <a:endParaRPr lang="ko-KR" altLang="en-US" sz="15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     소리 1개 · Opus</a:t>
            </a:r>
            <a:endParaRPr lang="ko-KR" altLang="en-US" sz="15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     방향: 보내기만(sendonly)</a:t>
            </a:r>
            <a:endParaRPr lang="ko-KR" altLang="en-US" sz="1500" dirty="0"/>
          </a:p>
        </p:txBody>
      </p:sp>
      <p:sp>
        <p:nvSpPr>
          <p:cNvPr id="13" name="card-2"/>
          <p:cNvSpPr/>
          <p:nvPr/>
        </p:nvSpPr>
        <p:spPr>
          <a:xfrm>
            <a:off x="6233008" y="1600200"/>
            <a:ext cx="5410048" cy="37490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4" name="num-2"/>
          <p:cNvSpPr/>
          <p:nvPr/>
        </p:nvSpPr>
        <p:spPr>
          <a:xfrm>
            <a:off x="6507328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0732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055968" y="182880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ICE — 어떤 길로 보낼까</a:t>
            </a:r>
            <a:endParaRPr lang="ko-KR" alt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507328" y="2468880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 ... 192.168.0.5 8189</a:t>
            </a:r>
            <a:endParaRPr lang="ko-KR" alt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507328" y="2880360"/>
            <a:ext cx="48614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양쪽이 가진 주소 후보를 짝지어 시험하고, 통하는 길 하나를 고른다.</a:t>
            </a:r>
            <a:endParaRPr lang="ko-KR" altLang="en-US" sz="1500" dirty="0"/>
          </a:p>
          <a:p>
            <a:pPr eaLnBrk="0" indent="0" marL="0">
              <a:spcAft>
                <a:spcPts val="600"/>
              </a:spcAft>
              <a:buNone/>
            </a:pPr>
            <a:endParaRPr lang="ko-KR" altLang="en-US" sz="15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host — 내 PC의 주소</a:t>
            </a:r>
            <a:endParaRPr lang="ko-KR" altLang="en-US" sz="15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srflx — 공유기 바깥에서 보이는 주소 (STUN)</a:t>
            </a:r>
            <a:endParaRPr lang="ko-KR" altLang="en-US" sz="15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relay — 중계 서버를 거치는 주소 (TURN)</a:t>
            </a:r>
            <a:endParaRPr lang="ko-KR" altLang="en-US" sz="1500" dirty="0"/>
          </a:p>
        </p:txBody>
      </p:sp>
      <p:sp>
        <p:nvSpPr>
          <p:cNvPr id="19" name="key-box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20" name="key-dot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key-text"/>
          <p:cNvSpPr txBox="1"/>
          <p:nvPr/>
        </p:nvSpPr>
        <p:spPr>
          <a:xfrm>
            <a:off x="1005840" y="55321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SDP가 맞아도 ICE 길이 없으면 영상은 흐르지 않는다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05회차 · WebRTC 송출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WHIP 핵심 코드</a:t>
            </a:r>
            <a:endParaRPr lang="ko-KR" altLang="en-US" sz="3200" dirty="0"/>
          </a:p>
        </p:txBody>
      </p:sp>
      <p:sp>
        <p:nvSpPr>
          <p:cNvPr id="7" name="code-explain"/>
          <p:cNvSpPr txBox="1"/>
          <p:nvPr/>
        </p:nvSpPr>
        <p:spPr>
          <a:xfrm>
            <a:off x="548640" y="1645920"/>
            <a:ext cx="4160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WHIP = SDP를 HTTP POST 한 번으로 교환하는 규칙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H264를 우선해서 LL-HLS로도 볼 수 있게 한다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마지막에 실제 영상 연결까지 기다린다 (10초 제한)</a:t>
            </a:r>
            <a:endParaRPr lang="ko-KR" altLang="en-US" sz="1600" dirty="0"/>
          </a:p>
        </p:txBody>
      </p:sp>
      <p:sp>
        <p:nvSpPr>
          <p:cNvPr id="8" name="code-panel"/>
          <p:cNvSpPr/>
          <p:nvPr/>
        </p:nvSpPr>
        <p:spPr>
          <a:xfrm>
            <a:off x="5029200" y="1600200"/>
            <a:ext cx="6613855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5303520" y="18745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ode-file"/>
          <p:cNvSpPr txBox="1"/>
          <p:nvPr/>
        </p:nvSpPr>
        <p:spPr>
          <a:xfrm>
            <a:off x="5504688" y="1783080"/>
            <a:ext cx="5882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apps/web/src/lib/webrtc.ts · whip.ts (요약)</a:t>
            </a:r>
            <a:endParaRPr lang="ko-KR" altLang="en-US" sz="1200" dirty="0"/>
          </a:p>
        </p:txBody>
      </p:sp>
      <p:sp>
        <p:nvSpPr>
          <p:cNvPr id="11" name="code-text"/>
          <p:cNvSpPr txBox="1"/>
          <p:nvPr/>
        </p:nvSpPr>
        <p:spPr>
          <a:xfrm>
            <a:off x="5303520" y="2194560"/>
            <a:ext cx="606521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pc = new RTCPeerConnection();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stream.getTracks().forEach((track) =&gt;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pc.addTransceiver(track, { direction: 'sendonly' }));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pc.setLocalDescription(await pc.createOffer());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waitIceGathering(pc);          // 후보 모으기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 = await fetch(whipUrl, {   // WHIP: POST 한 번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method: 'POST',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headers: { 'Content-Type': 'application/sdp' },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body: pc.localDescription.sdp,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pc.setRemoteDescription(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type: 'answer', sdp: await res.text() });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waitConnected(pc);             // 영상 길 확인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05회차 · WebRTC 송출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사례: connecting에서 멈춘 송출</a:t>
            </a:r>
            <a:endParaRPr lang="ko-KR" altLang="en-US" sz="3200" dirty="0"/>
          </a:p>
        </p:txBody>
      </p:sp>
      <p:sp>
        <p:nvSpPr>
          <p:cNvPr id="7" name="case-증상"/>
          <p:cNvSpPr/>
          <p:nvPr/>
        </p:nvSpPr>
        <p:spPr>
          <a:xfrm>
            <a:off x="548640" y="1600200"/>
            <a:ext cx="3515258" cy="361188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822960" y="18745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1874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증상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468880"/>
            <a:ext cx="296661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연결 상태가 계속 connecting</a:t>
            </a:r>
            <a:endParaRPr lang="ko-KR" altLang="en-US" sz="1500" dirty="0"/>
          </a:p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해상도 0×0 · 0 fps · 0 kbps</a:t>
            </a:r>
            <a:endParaRPr lang="ko-KR" altLang="en-US" sz="1500" dirty="0"/>
          </a:p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목록에는 "대기 중"</a:t>
            </a:r>
            <a:endParaRPr lang="ko-KR" altLang="en-US" sz="1500" dirty="0"/>
          </a:p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개발용 내장 브라우저에서는 잘 됐다</a:t>
            </a:r>
            <a:endParaRPr lang="ko-KR" altLang="en-US" sz="1500" dirty="0"/>
          </a:p>
        </p:txBody>
      </p:sp>
      <p:sp>
        <p:nvSpPr>
          <p:cNvPr id="11" name="case-원인"/>
          <p:cNvSpPr/>
          <p:nvPr/>
        </p:nvSpPr>
        <p:spPr>
          <a:xfrm>
            <a:off x="4338218" y="1600200"/>
            <a:ext cx="3515258" cy="361188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4612538" y="18745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612538" y="1874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원인</a:t>
            </a:r>
            <a:endParaRPr lang="ko-KR" alt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612538" y="2468880"/>
            <a:ext cx="296661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MediaMTX가 영상 주소로 127.0.0.1(루프백)만 알렸다</a:t>
            </a:r>
            <a:endParaRPr lang="ko-KR" altLang="en-US" sz="1500" dirty="0"/>
          </a:p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Chrome은 루프백 주소로 WebRTC 연결을 하지 않는다</a:t>
            </a:r>
            <a:endParaRPr lang="ko-KR" altLang="en-US" sz="1500" dirty="0"/>
          </a:p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신호 교환(HTTP)은 성공해서 문제가 숨었다</a:t>
            </a:r>
            <a:endParaRPr lang="ko-KR" altLang="en-US" sz="1500" dirty="0"/>
          </a:p>
        </p:txBody>
      </p:sp>
      <p:sp>
        <p:nvSpPr>
          <p:cNvPr id="15" name="case-해결"/>
          <p:cNvSpPr/>
          <p:nvPr/>
        </p:nvSpPr>
        <p:spPr>
          <a:xfrm>
            <a:off x="8127797" y="1600200"/>
            <a:ext cx="3515258" cy="361188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16" name="Shape 13"/>
          <p:cNvSpPr/>
          <p:nvPr/>
        </p:nvSpPr>
        <p:spPr>
          <a:xfrm>
            <a:off x="8402117" y="18745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02117" y="1874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해결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402117" y="2468880"/>
            <a:ext cx="296661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영상 UDP를 네트워크 주소로도 받게 설정</a:t>
            </a:r>
            <a:endParaRPr lang="ko-KR" altLang="en-US" sz="1500" dirty="0"/>
          </a:p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10초 안에 연결되지 않으면 오류 문구 표시</a:t>
            </a:r>
            <a:endParaRPr lang="ko-KR" altLang="en-US" sz="1500" dirty="0"/>
          </a:p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실제 Chrome에서 다시 확인</a:t>
            </a:r>
            <a:endParaRPr lang="ko-KR" altLang="en-US" sz="1500" dirty="0"/>
          </a:p>
        </p:txBody>
      </p:sp>
      <p:sp>
        <p:nvSpPr>
          <p:cNvPr id="19" name="key-box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20" name="key-dot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key-text"/>
          <p:cNvSpPr txBox="1"/>
          <p:nvPr/>
        </p:nvSpPr>
        <p:spPr>
          <a:xfrm>
            <a:off x="1005840" y="55321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신호 교환 성공 ≠ 영상 연결 성공. 시험은 실제 사용자 환경(Chrome)에서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05회차 · WebRTC 송출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실습: 강사 화면에서 송출하기</a:t>
            </a:r>
            <a:endParaRPr lang="ko-KR" altLang="en-US" sz="3200" dirty="0"/>
          </a:p>
        </p:txBody>
      </p:sp>
      <p:sp>
        <p:nvSpPr>
          <p:cNvPr id="7" name="num-1"/>
          <p:cNvSpPr/>
          <p:nvPr/>
        </p:nvSpPr>
        <p:spPr>
          <a:xfrm>
            <a:off x="548640" y="17099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600200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webrtc.ts 의 negotiate 를 따라 읽고 주석을 단다</a:t>
            </a:r>
            <a:endParaRPr lang="ko-KR" altLang="en-US" sz="1600" dirty="0"/>
          </a:p>
        </p:txBody>
      </p:sp>
      <p:sp>
        <p:nvSpPr>
          <p:cNvPr id="10" name="num-2"/>
          <p:cNvSpPr/>
          <p:nvPr/>
        </p:nvSpPr>
        <p:spPr>
          <a:xfrm>
            <a:off x="548640" y="2313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203704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whip.ts 로 테스트 화면을 송출한다</a:t>
            </a:r>
            <a:endParaRPr lang="ko-KR" altLang="en-US" sz="1600" dirty="0"/>
          </a:p>
        </p:txBody>
      </p:sp>
      <p:sp>
        <p:nvSpPr>
          <p:cNvPr id="13" name="num-3"/>
          <p:cNvSpPr/>
          <p:nvPr/>
        </p:nvSpPr>
        <p:spPr>
          <a:xfrm>
            <a:off x="548640" y="29169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807208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chrome://webrtc-internals 에서 후보 쌍을 찾는다</a:t>
            </a:r>
            <a:endParaRPr lang="ko-KR" altLang="en-US" sz="1600" dirty="0"/>
          </a:p>
        </p:txBody>
      </p:sp>
      <p:sp>
        <p:nvSpPr>
          <p:cNvPr id="16" name="num-4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410712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웹캠 · 화면 공유로 바꿔 송출한다</a:t>
            </a:r>
            <a:endParaRPr lang="ko-KR" altLang="en-US" sz="1600" dirty="0"/>
          </a:p>
        </p:txBody>
      </p:sp>
      <p:sp>
        <p:nvSpPr>
          <p:cNvPr id="19" name="num-5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5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4014216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송출 통계(코덱 · 해상도 · fps)를 확인한다</a:t>
            </a:r>
            <a:endParaRPr lang="ko-KR" altLang="en-US" sz="1600" dirty="0"/>
          </a:p>
        </p:txBody>
      </p:sp>
      <p:sp>
        <p:nvSpPr>
          <p:cNvPr id="22" name="num-6"/>
          <p:cNvSpPr/>
          <p:nvPr/>
        </p:nvSpPr>
        <p:spPr>
          <a:xfrm>
            <a:off x="548640" y="47274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6</a:t>
            </a:r>
            <a:endParaRPr lang="ko-KR" alt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4617720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"공유 중지"를 눌러 종료 사유 표시를 확인한다</a:t>
            </a:r>
            <a:endParaRPr lang="ko-KR" altLang="en-US" sz="1600" dirty="0"/>
          </a:p>
        </p:txBody>
      </p:sp>
      <p:sp>
        <p:nvSpPr>
          <p:cNvPr id="25" name="lab-done"/>
          <p:cNvSpPr/>
          <p:nvPr/>
        </p:nvSpPr>
        <p:spPr>
          <a:xfrm>
            <a:off x="7863840" y="1600200"/>
            <a:ext cx="3779215" cy="4572000"/>
          </a:xfrm>
          <a:prstGeom prst="roundRect">
            <a:avLst>
              <a:gd name="adj" fmla="val 2903"/>
            </a:avLst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38160" y="182880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완성 기준</a:t>
            </a:r>
            <a:endParaRPr lang="ko-KR" alt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138160" y="182880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실습 45분</a:t>
            </a:r>
            <a:endParaRPr lang="ko-KR" alt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138160" y="2423160"/>
            <a:ext cx="32305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연결 상태가 connected 가 된다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목록에서 LIVE 로 바뀐다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통계에 H264 · 1280×720 이 보인다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공유 중지 시 종료 이유가 표시된다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05회차 · WebRTC 송출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bg1"/>
                </a:solidFill>
              </a:rPr>
              <a:t>오늘의 정리</a:t>
            </a:r>
            <a:endParaRPr lang="ko-KR" alt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꼭 기억할 것</a:t>
            </a:r>
            <a:endParaRPr lang="ko-KR" altLang="en-US" sz="1400" dirty="0"/>
          </a:p>
        </p:txBody>
      </p:sp>
      <p:sp>
        <p:nvSpPr>
          <p:cNvPr id="8" name="num-1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0574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MediaStream(트랙 묶음)을 RTCPeerConnection에 넣어 보낸다</a:t>
            </a:r>
            <a:endParaRPr lang="ko-KR" altLang="en-US" sz="1700" dirty="0"/>
          </a:p>
        </p:txBody>
      </p:sp>
      <p:sp>
        <p:nvSpPr>
          <p:cNvPr id="11" name="num-2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33756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SDP는 "무엇을", ICE는 "어떤 길로". 둘 다 맞아야 영상이 흐른다</a:t>
            </a:r>
            <a:endParaRPr lang="ko-KR" altLang="en-US" sz="1700" dirty="0"/>
          </a:p>
        </p:txBody>
      </p:sp>
      <p:sp>
        <p:nvSpPr>
          <p:cNvPr id="14" name="num-3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6177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증상의 숫자로 어느 단계에서 막혔는지 추리한다</a:t>
            </a:r>
            <a:endParaRPr lang="ko-KR" altLang="en-US" sz="1700" dirty="0"/>
          </a:p>
        </p:txBody>
      </p:sp>
      <p:sp>
        <p:nvSpPr>
          <p:cNvPr id="17" name="recap-확인 퀴즈"/>
          <p:cNvSpPr/>
          <p:nvPr/>
        </p:nvSpPr>
        <p:spPr>
          <a:xfrm>
            <a:off x="6583680" y="1600200"/>
            <a:ext cx="5059375" cy="2606040"/>
          </a:xfrm>
          <a:prstGeom prst="roundRect">
            <a:avLst>
              <a:gd name="adj" fmla="val 4211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0" y="178308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확인 퀴즈</a:t>
            </a:r>
            <a:endParaRPr lang="ko-KR" alt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2240280"/>
            <a:ext cx="45107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WHIP 요청은 어떤 HTTP 메서드로 무엇을 보낼까?</a:t>
            </a:r>
            <a:endParaRPr lang="ko-KR" altLang="en-US" sz="1500" dirty="0"/>
          </a:p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connecting 에서 멈췄다면 어느 단계 문제일까?</a:t>
            </a:r>
            <a:endParaRPr lang="ko-KR" altLang="en-US" sz="1500" dirty="0"/>
          </a:p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H264를 우선하는 이유는?</a:t>
            </a:r>
            <a:endParaRPr lang="ko-KR" altLang="en-US" sz="1500" dirty="0"/>
          </a:p>
        </p:txBody>
      </p:sp>
      <p:sp>
        <p:nvSpPr>
          <p:cNvPr id="20" name="recap-과제"/>
          <p:cNvSpPr/>
          <p:nvPr/>
        </p:nvSpPr>
        <p:spPr>
          <a:xfrm>
            <a:off x="6583680" y="4434840"/>
            <a:ext cx="5059375" cy="1737360"/>
          </a:xfrm>
          <a:prstGeom prst="roundRect">
            <a:avLst>
              <a:gd name="adj" fmla="val 631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0" y="461772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과제</a:t>
            </a:r>
            <a:endParaRPr lang="ko-KR" alt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5074920"/>
            <a:ext cx="4510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bg1"/>
                </a:solidFill>
              </a:rPr>
              <a:t>송출 해상도(720p / 1080p) 선택 기능 추가하기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 Air">
  <a:themeElements>
    <a:clrScheme name="On Air">
      <a:dk1>
        <a:srgbClr val="1B2130"/>
      </a:dk1>
      <a:lt1>
        <a:srgbClr val="FFFFFF"/>
      </a:lt1>
      <a:dk2>
        <a:srgbClr val="141A26"/>
      </a:dk2>
      <a:lt2>
        <a:srgbClr val="F2F4F7"/>
      </a:lt2>
      <a:accent1>
        <a:srgbClr val="E5372C"/>
      </a:accent1>
      <a:accent2>
        <a:srgbClr val="2F6FED"/>
      </a:accent2>
      <a:accent3>
        <a:srgbClr val="12B76A"/>
      </a:accent3>
      <a:accent4>
        <a:srgbClr val="F79009"/>
      </a:accent4>
      <a:accent5>
        <a:srgbClr val="7A5AF8"/>
      </a:accent5>
      <a:accent6>
        <a:srgbClr val="667085"/>
      </a:accent6>
      <a:hlink>
        <a:srgbClr val="2F6FED"/>
      </a:hlink>
      <a:folHlink>
        <a:srgbClr val="7A5AF8"/>
      </a:folHlink>
    </a:clrScheme>
    <a:fontScheme name="On Ai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5회차 WebRTC로 송출하기</dc:title>
  <dc:subject>실시간 강의 방송 만들기</dc:subject>
  <dc:creator>실시간 강의 방송 만들기</dc:creator>
  <cp:lastModifiedBy>실시간 강의 방송 만들기</cp:lastModifiedBy>
  <cp:revision>1</cp:revision>
  <dcterms:created xsi:type="dcterms:W3CDTF">2026-10-10T06:35:49Z</dcterms:created>
  <dcterms:modified xsi:type="dcterms:W3CDTF">2026-10-10T06:35:49Z</dcterms:modified>
</cp:coreProperties>
</file>