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0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0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0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0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0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0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0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0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0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02b92c51-8b52-27b6-d708-a2787510c21d}">
          <p14:sldIdLst>
            <p14:sldId id="256"/>
            <p14:sldId id="257"/>
          </p14:sldIdLst>
        </p14:section>
        <p14:section name="개념" id="{826aad7a-d535-f881-fd09-2f0710e2e001}">
          <p14:sldIdLst>
            <p14:sldId id="258"/>
            <p14:sldId id="259"/>
            <p14:sldId id="260"/>
            <p14:sldId id="261"/>
            <p14:sldId id="262"/>
            <p14:sldId id="263"/>
          </p14:sldIdLst>
        </p14:section>
        <p14:section name="실습" id="{c85e6406-ce82-ad80-0640-2e23df07a8f2}">
          <p14:sldIdLst>
            <p14:sldId id="264"/>
          </p14:sldIdLst>
        </p14:section>
        <p14:section name="정리" id="{1dc52fa5-6bcf-a101-7ff7-2c20f4bc2f11}">
          <p14:sldIdLst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0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0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0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0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0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0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0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0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0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오늘부터 코드를 씁니다. 구조도의 아래쪽(화면 ↔ Node ↔ DB)을 만드는 시간입니다.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2시간 수업은 매번 같은 순서로 진행합니다. 복습 10분, 개념 40분, 시연 15분, 실습 45분, 정리 10분. 실습 시간이 가장 길다는 점을 강조하세요.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모노레포는 여러 앱을 한 저장소에 두는 방식입니다. pnpm-workspace.yaml이 apps/*와 packages/*를 묶습니다. pnpm dev 하나로 모두 실행되는 이유를 package.json scripts로 보여주세요.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응답은 같은 길을 거꾸로 JSON으로 돌아옵니다. 개발자 도구 Network 탭에서 실제 요청을 클릭해 요청/응답을 보여주세요.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상태 코드는 서버가 결과를 한 숫자로 알려주는 약속입니다. 2xx 성공, 4xx 요청 쪽 잘못, 5xx 서버 잘못. 실패 줄을 꼭 짚어 주세요.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schema를 빼고 빈 제목을 보내면 어떻게 되는지 직접 해 보게 하세요. 입력 검사를 서버에서 해야 하는 이유(화면은 우회 가능)를 강조합니다.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실행할 때 ExperimentalWarning이 한 줄 나오는데 무시해도 된다고 미리 알려 주세요. 문자열을 이어 붙여 SQL을 만들면 어떤 일이 생기는지(SQL 인젝션) 짧게 예를 들어 주세요.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실습 중에 title을 name으로 바꿔 보게 하면 타입 공유의 효과를 바로 느낄 수 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시작 코드 브랜치(session-02)에서 출발하세요. 콘솔 예시: await fetch("/api/classrooms", {method:"POST", headers:{"content-type":"application/json"}, body: JSON.stringify({title:"테스트"})}).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과제를 하면 세 군데(DB, API, 타입)를 모두 고쳐야 한다는 점이 핵심 학습 포인트입니다.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011680"/>
            <a:ext cx="1069848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ko-KR" altLang="en-US" sz="4400" b="1" dirty="0">
                <a:solidFill>
                  <a:schemeClr val="bg1"/>
                </a:solidFill>
              </a:defRPr>
            </a:lvl1pPr>
          </a:lstStyle>
          <a:p>
            <a:pPr eaLnBrk="0" algn="l" indent="0" marL="0">
              <a:buNone/>
            </a:pPr>
            <a:endParaRPr lang="ko-KR" alt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611880"/>
            <a:ext cx="1069848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ko-KR" altLang="en-US" sz="2200" dirty="0">
                <a:solidFill>
                  <a:schemeClr val="bg2"/>
                </a:solidFill>
              </a:defRPr>
            </a:lvl1pPr>
          </a:lstStyle>
          <a:p>
            <a:pPr eaLnBrk="0" indent="0" marL="0">
              <a:buNone/>
            </a:pPr>
            <a:endParaRPr lang="ko-KR" altLang="en-US" sz="2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658368"/>
            <a:ext cx="11094415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ko-KR" altLang="en-US" sz="3200" b="1" dirty="0">
                <a:solidFill>
                  <a:schemeClr val="tx1"/>
                </a:solidFill>
              </a:defRPr>
            </a:lvl1pPr>
          </a:lstStyle>
          <a:p>
            <a:pPr eaLnBrk="0" algn="l" indent="0" marL="0">
              <a:buNone/>
            </a:pPr>
            <a:endParaRPr lang="ko-KR" alt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altLang="en-US" sz="1000" dirty="0">
                <a:solidFill>
                  <a:schemeClr val="accent6"/>
                </a:solidFill>
              </a:rPr>
              <a:t>실시간 강의 방송 만들기</a:t>
            </a:r>
            <a:endParaRPr lang="ko-KR" alt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eaLnBrk="0" algn="r"/>
            <a:fld id="{F7021451-1387-4CA6-816F-3879F97B5CBC}" type="slidenum">
              <a:rPr b="0" lang="ko-KR" altLang="en-US"/>
              <a:t>1003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658368"/>
            <a:ext cx="11094415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ko-KR" altLang="en-US" sz="3200" b="1" dirty="0">
                <a:solidFill>
                  <a:schemeClr val="bg1"/>
                </a:solidFill>
              </a:defRPr>
            </a:lvl1pPr>
          </a:lstStyle>
          <a:p>
            <a:pPr eaLnBrk="0" algn="l" indent="0" marL="0">
              <a:buNone/>
            </a:pPr>
            <a:endParaRPr lang="ko-KR" alt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altLang="en-US" sz="1000" dirty="0">
                <a:solidFill>
                  <a:schemeClr val="accent6"/>
                </a:solidFill>
              </a:rPr>
              <a:t>실시간 강의 방송 만들기</a:t>
            </a:r>
            <a:endParaRPr lang="ko-KR" alt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eaLnBrk="0" algn="r"/>
            <a:fld id="{F7021451-1387-4CA6-816F-3879F97B5CBC}" type="slidenum">
              <a:rPr b="0" lang="ko-KR" altLang="en-US"/>
              <a:t>1004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0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0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0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0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0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0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0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0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0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0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0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0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0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0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0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0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0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0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0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-pill"/>
          <p:cNvSpPr/>
          <p:nvPr/>
        </p:nvSpPr>
        <p:spPr>
          <a:xfrm>
            <a:off x="548640" y="292608"/>
            <a:ext cx="2107692" cy="310896"/>
          </a:xfrm>
          <a:prstGeom prst="roundRect">
            <a:avLst>
              <a:gd name="adj" fmla="val 50000"/>
            </a:avLst>
          </a:prstGeom>
          <a:solidFill>
            <a:schemeClr val="bg1">
              <a:alpha val="12000"/>
            </a:schemeClr>
          </a:solidFill>
          <a:ln/>
        </p:spPr>
      </p:sp>
      <p:sp>
        <p:nvSpPr>
          <p:cNvPr id="3" name="tag-dot"/>
          <p:cNvSpPr/>
          <p:nvPr/>
        </p:nvSpPr>
        <p:spPr>
          <a:xfrm>
            <a:off x="676656" y="393192"/>
            <a:ext cx="109728" cy="10972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ag-text"/>
          <p:cNvSpPr txBox="1"/>
          <p:nvPr/>
        </p:nvSpPr>
        <p:spPr>
          <a:xfrm>
            <a:off x="841248" y="292608"/>
            <a:ext cx="17785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altLang="en-US" sz="1100" b="1" dirty="0">
                <a:solidFill>
                  <a:schemeClr val="bg1"/>
                </a:solidFill>
              </a:rPr>
              <a:t>ON AIR · 02회차</a:t>
            </a:r>
            <a:endParaRPr lang="ko-KR" altLang="en-US" sz="11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731520" y="2011680"/>
            <a:ext cx="10698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chemeClr val="bg1"/>
                </a:solidFill>
              </a:rPr>
              <a:t>모노레포와 API 서버</a:t>
            </a:r>
            <a:endParaRPr lang="ko-KR" altLang="en-US" sz="4400" dirty="0"/>
          </a:p>
        </p:txBody>
      </p:sp>
      <p:sp>
        <p:nvSpPr>
          <p:cNvPr id="6" name="Text 0"/>
          <p:cNvSpPr/>
          <p:nvPr>
            <p:ph idx="101" type="body" hasCustomPrompt="1"/>
          </p:nvPr>
        </p:nvSpPr>
        <p:spPr>
          <a:xfrm>
            <a:off x="731520" y="361188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2200" dirty="0">
                <a:solidFill>
                  <a:schemeClr val="bg2"/>
                </a:solidFill>
              </a:rPr>
              <a:t>Fastify와 SQLite로 강의실을 만들고 지우는 API를 작성합니다</a:t>
            </a:r>
            <a:endParaRPr lang="ko-KR" alt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45720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altLang="en-US" sz="1300" b="1" dirty="0">
                <a:solidFill>
                  <a:schemeClr val="accent1"/>
                </a:solidFill>
              </a:rPr>
              <a:t>오늘 할 수 있게 될 것</a:t>
            </a:r>
            <a:endParaRPr lang="ko-KR" altLang="en-US" sz="1300" dirty="0"/>
          </a:p>
        </p:txBody>
      </p:sp>
      <p:sp>
        <p:nvSpPr>
          <p:cNvPr id="8" name="goal-1"/>
          <p:cNvSpPr/>
          <p:nvPr/>
        </p:nvSpPr>
        <p:spPr>
          <a:xfrm>
            <a:off x="731520" y="4983480"/>
            <a:ext cx="3383280" cy="868680"/>
          </a:xfrm>
          <a:prstGeom prst="roundRect">
            <a:avLst>
              <a:gd name="adj" fmla="val 10526"/>
            </a:avLst>
          </a:prstGeom>
          <a:solidFill>
            <a:schemeClr val="bg1">
              <a:alpha val="10000"/>
            </a:schemeClr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960120" y="4983480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altLang="en-US" sz="1500" dirty="0">
                <a:solidFill>
                  <a:schemeClr val="bg1"/>
                </a:solidFill>
              </a:rPr>
              <a:t>모노레포 구조를 설명한다</a:t>
            </a:r>
            <a:endParaRPr lang="ko-KR" altLang="en-US" sz="1500" dirty="0"/>
          </a:p>
        </p:txBody>
      </p:sp>
      <p:sp>
        <p:nvSpPr>
          <p:cNvPr id="10" name="goal-2"/>
          <p:cNvSpPr/>
          <p:nvPr/>
        </p:nvSpPr>
        <p:spPr>
          <a:xfrm>
            <a:off x="4389120" y="4983480"/>
            <a:ext cx="3383280" cy="868680"/>
          </a:xfrm>
          <a:prstGeom prst="roundRect">
            <a:avLst>
              <a:gd name="adj" fmla="val 10526"/>
            </a:avLst>
          </a:prstGeom>
          <a:solidFill>
            <a:schemeClr val="bg1">
              <a:alpha val="10000"/>
            </a:schemeClr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617720" y="4983480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altLang="en-US" sz="1500" dirty="0">
                <a:solidFill>
                  <a:schemeClr val="bg1"/>
                </a:solidFill>
              </a:rPr>
              <a:t>REST API로 강의실 CRUD를 만든다</a:t>
            </a:r>
            <a:endParaRPr lang="ko-KR" altLang="en-US" sz="1500" dirty="0"/>
          </a:p>
        </p:txBody>
      </p:sp>
      <p:sp>
        <p:nvSpPr>
          <p:cNvPr id="12" name="goal-3"/>
          <p:cNvSpPr/>
          <p:nvPr/>
        </p:nvSpPr>
        <p:spPr>
          <a:xfrm>
            <a:off x="8046720" y="4983480"/>
            <a:ext cx="3383280" cy="868680"/>
          </a:xfrm>
          <a:prstGeom prst="roundRect">
            <a:avLst>
              <a:gd name="adj" fmla="val 10526"/>
            </a:avLst>
          </a:prstGeom>
          <a:solidFill>
            <a:schemeClr val="bg1">
              <a:alpha val="10000"/>
            </a:schemeClr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275320" y="4983480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altLang="en-US" sz="1500" dirty="0">
                <a:solidFill>
                  <a:schemeClr val="bg1"/>
                </a:solidFill>
              </a:rPr>
              <a:t>서버와 화면이 타입을 함께 쓴다</a:t>
            </a:r>
            <a:endParaRPr lang="ko-KR" alt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-pill"/>
          <p:cNvSpPr/>
          <p:nvPr/>
        </p:nvSpPr>
        <p:spPr>
          <a:xfrm>
            <a:off x="548640" y="292608"/>
            <a:ext cx="2107692" cy="310896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</p:sp>
      <p:sp>
        <p:nvSpPr>
          <p:cNvPr id="3" name="tag-dot"/>
          <p:cNvSpPr/>
          <p:nvPr/>
        </p:nvSpPr>
        <p:spPr>
          <a:xfrm>
            <a:off x="676656" y="393192"/>
            <a:ext cx="109728" cy="10972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ag-text"/>
          <p:cNvSpPr txBox="1"/>
          <p:nvPr/>
        </p:nvSpPr>
        <p:spPr>
          <a:xfrm>
            <a:off x="841248" y="292608"/>
            <a:ext cx="17785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altLang="en-US" sz="1100" b="1" dirty="0">
                <a:solidFill>
                  <a:schemeClr val="tx1"/>
                </a:solidFill>
              </a:rPr>
              <a:t>02회차 · API 서버</a:t>
            </a:r>
            <a:endParaRPr lang="ko-KR" altLang="en-US" sz="11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548640" y="65836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b="1" dirty="0">
                <a:solidFill>
                  <a:schemeClr val="tx1"/>
                </a:solidFill>
              </a:rPr>
              <a:t>오늘의 진행</a:t>
            </a:r>
            <a:endParaRPr lang="ko-KR" altLang="en-US" sz="3200" dirty="0"/>
          </a:p>
        </p:txBody>
      </p:sp>
      <p:sp>
        <p:nvSpPr>
          <p:cNvPr id="7" name="num-1"/>
          <p:cNvSpPr/>
          <p:nvPr/>
        </p:nvSpPr>
        <p:spPr>
          <a:xfrm>
            <a:off x="548640" y="1691640"/>
            <a:ext cx="402336" cy="40233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548640" y="16916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400" b="1" dirty="0">
                <a:solidFill>
                  <a:schemeClr val="bg1"/>
                </a:solidFill>
              </a:rPr>
              <a:t>1</a:t>
            </a:r>
            <a:endParaRPr lang="ko-KR" alt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1234440" y="1691640"/>
            <a:ext cx="1040861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altLang="en-US" sz="1800" dirty="0">
                <a:solidFill>
                  <a:schemeClr val="tx1"/>
                </a:solidFill>
              </a:rPr>
              <a:t>프로젝트 구조 한눈에 보기</a:t>
            </a:r>
            <a:endParaRPr lang="ko-KR" altLang="en-US" sz="1800" dirty="0"/>
          </a:p>
        </p:txBody>
      </p:sp>
      <p:sp>
        <p:nvSpPr>
          <p:cNvPr id="10" name="num-2"/>
          <p:cNvSpPr/>
          <p:nvPr/>
        </p:nvSpPr>
        <p:spPr>
          <a:xfrm>
            <a:off x="548640" y="2240280"/>
            <a:ext cx="402336" cy="40233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548640" y="22402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400" b="1" dirty="0">
                <a:solidFill>
                  <a:schemeClr val="bg1"/>
                </a:solidFill>
              </a:rPr>
              <a:t>2</a:t>
            </a:r>
            <a:endParaRPr lang="ko-KR" alt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1234440" y="2240280"/>
            <a:ext cx="1040861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altLang="en-US" sz="1800" dirty="0">
                <a:solidFill>
                  <a:schemeClr val="tx1"/>
                </a:solidFill>
              </a:rPr>
              <a:t>요청이 처리되는 길</a:t>
            </a:r>
            <a:endParaRPr lang="ko-KR" altLang="en-US" sz="1800" dirty="0"/>
          </a:p>
        </p:txBody>
      </p:sp>
      <p:sp>
        <p:nvSpPr>
          <p:cNvPr id="13" name="num-3"/>
          <p:cNvSpPr/>
          <p:nvPr/>
        </p:nvSpPr>
        <p:spPr>
          <a:xfrm>
            <a:off x="548640" y="2788920"/>
            <a:ext cx="402336" cy="40233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548640" y="27889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400" b="1" dirty="0">
                <a:solidFill>
                  <a:schemeClr val="bg1"/>
                </a:solidFill>
              </a:rPr>
              <a:t>3</a:t>
            </a:r>
            <a:endParaRPr lang="ko-KR" alt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1234440" y="2788920"/>
            <a:ext cx="1040861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altLang="en-US" sz="1800" dirty="0">
                <a:solidFill>
                  <a:schemeClr val="tx1"/>
                </a:solidFill>
              </a:rPr>
              <a:t>HTTP 메서드와 상태 코드</a:t>
            </a:r>
            <a:endParaRPr lang="ko-KR" altLang="en-US" sz="1800" dirty="0"/>
          </a:p>
        </p:txBody>
      </p:sp>
      <p:sp>
        <p:nvSpPr>
          <p:cNvPr id="16" name="num-4"/>
          <p:cNvSpPr/>
          <p:nvPr/>
        </p:nvSpPr>
        <p:spPr>
          <a:xfrm>
            <a:off x="548640" y="3337560"/>
            <a:ext cx="402336" cy="40233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548640" y="33375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400" b="1" dirty="0">
                <a:solidFill>
                  <a:schemeClr val="bg1"/>
                </a:solidFill>
              </a:rPr>
              <a:t>4</a:t>
            </a:r>
            <a:endParaRPr lang="ko-KR" alt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1234440" y="3337560"/>
            <a:ext cx="1040861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altLang="en-US" sz="1800" dirty="0">
                <a:solidFill>
                  <a:schemeClr val="tx1"/>
                </a:solidFill>
              </a:rPr>
              <a:t>Fastify 라우트와 SQLite</a:t>
            </a:r>
            <a:endParaRPr lang="ko-KR" altLang="en-US" sz="1800" dirty="0"/>
          </a:p>
        </p:txBody>
      </p:sp>
      <p:sp>
        <p:nvSpPr>
          <p:cNvPr id="19" name="num-5"/>
          <p:cNvSpPr/>
          <p:nvPr/>
        </p:nvSpPr>
        <p:spPr>
          <a:xfrm>
            <a:off x="548640" y="3886200"/>
            <a:ext cx="402336" cy="40233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548640" y="38862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400" b="1" dirty="0">
                <a:solidFill>
                  <a:schemeClr val="bg1"/>
                </a:solidFill>
              </a:rPr>
              <a:t>5</a:t>
            </a:r>
            <a:endParaRPr lang="ko-KR" alt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1234440" y="3886200"/>
            <a:ext cx="1040861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altLang="en-US" sz="1800" dirty="0">
                <a:solidFill>
                  <a:schemeClr val="tx1"/>
                </a:solidFill>
              </a:rPr>
              <a:t>실습: 강의실 API 만들기</a:t>
            </a:r>
            <a:endParaRPr lang="ko-KR" altLang="en-US" sz="1800" dirty="0"/>
          </a:p>
        </p:txBody>
      </p:sp>
      <p:sp>
        <p:nvSpPr>
          <p:cNvPr id="22" name="Text 19"/>
          <p:cNvSpPr txBox="1"/>
          <p:nvPr/>
        </p:nvSpPr>
        <p:spPr>
          <a:xfrm>
            <a:off x="548640" y="45262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altLang="en-US" sz="1300" b="1" dirty="0">
                <a:solidFill>
                  <a:schemeClr val="accent6"/>
                </a:solidFill>
              </a:rPr>
              <a:t>2시간 진행 순서</a:t>
            </a:r>
            <a:endParaRPr lang="ko-KR" altLang="en-US" sz="1300" dirty="0"/>
          </a:p>
        </p:txBody>
      </p:sp>
      <p:sp>
        <p:nvSpPr>
          <p:cNvPr id="23" name="agenda-1"/>
          <p:cNvSpPr/>
          <p:nvPr/>
        </p:nvSpPr>
        <p:spPr>
          <a:xfrm>
            <a:off x="576072" y="4983480"/>
            <a:ext cx="869671" cy="502920"/>
          </a:xfrm>
          <a:prstGeom prst="rect">
            <a:avLst/>
          </a:prstGeom>
          <a:solidFill>
            <a:schemeClr val="accent6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548640" y="4983480"/>
            <a:ext cx="9245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400" b="1" dirty="0">
                <a:solidFill>
                  <a:schemeClr val="bg1"/>
                </a:solidFill>
              </a:rPr>
              <a:t>10분</a:t>
            </a:r>
            <a:endParaRPr lang="ko-KR" altLang="en-US" sz="1400" dirty="0"/>
          </a:p>
        </p:txBody>
      </p:sp>
      <p:sp>
        <p:nvSpPr>
          <p:cNvPr id="25" name="Text 22"/>
          <p:cNvSpPr txBox="1"/>
          <p:nvPr/>
        </p:nvSpPr>
        <p:spPr>
          <a:xfrm>
            <a:off x="548640" y="5577840"/>
            <a:ext cx="9245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ctr" indent="0" marL="0">
              <a:buNone/>
            </a:pPr>
            <a:r>
              <a:rPr lang="ko-KR" altLang="en-US" sz="1300" dirty="0">
                <a:solidFill>
                  <a:schemeClr val="tx1"/>
                </a:solidFill>
              </a:rPr>
              <a:t>복습 · 퀴즈</a:t>
            </a:r>
            <a:endParaRPr lang="ko-KR" altLang="en-US" sz="1300" dirty="0"/>
          </a:p>
        </p:txBody>
      </p:sp>
      <p:sp>
        <p:nvSpPr>
          <p:cNvPr id="26" name="agenda-2"/>
          <p:cNvSpPr/>
          <p:nvPr/>
        </p:nvSpPr>
        <p:spPr>
          <a:xfrm>
            <a:off x="1500607" y="4983480"/>
            <a:ext cx="3643274" cy="502920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1473175" y="4983480"/>
            <a:ext cx="369813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400" b="1" dirty="0">
                <a:solidFill>
                  <a:schemeClr val="bg1"/>
                </a:solidFill>
              </a:rPr>
              <a:t>40분</a:t>
            </a:r>
            <a:endParaRPr lang="ko-KR" altLang="en-US" sz="1400" dirty="0"/>
          </a:p>
        </p:txBody>
      </p:sp>
      <p:sp>
        <p:nvSpPr>
          <p:cNvPr id="28" name="Text 25"/>
          <p:cNvSpPr txBox="1"/>
          <p:nvPr/>
        </p:nvSpPr>
        <p:spPr>
          <a:xfrm>
            <a:off x="1473175" y="5577840"/>
            <a:ext cx="36981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ctr" indent="0" marL="0">
              <a:buNone/>
            </a:pPr>
            <a:r>
              <a:rPr lang="ko-KR" altLang="en-US" sz="1300" dirty="0">
                <a:solidFill>
                  <a:schemeClr val="tx1"/>
                </a:solidFill>
              </a:rPr>
              <a:t>개념 강의</a:t>
            </a:r>
            <a:endParaRPr lang="ko-KR" altLang="en-US" sz="1300" dirty="0"/>
          </a:p>
        </p:txBody>
      </p:sp>
      <p:sp>
        <p:nvSpPr>
          <p:cNvPr id="29" name="agenda-3"/>
          <p:cNvSpPr/>
          <p:nvPr/>
        </p:nvSpPr>
        <p:spPr>
          <a:xfrm>
            <a:off x="5198745" y="4983480"/>
            <a:ext cx="1331938" cy="502920"/>
          </a:xfrm>
          <a:prstGeom prst="rect">
            <a:avLst/>
          </a:prstGeom>
          <a:solidFill>
            <a:schemeClr val="accent4"/>
          </a:solidFill>
          <a:ln/>
        </p:spPr>
      </p:sp>
      <p:sp>
        <p:nvSpPr>
          <p:cNvPr id="30" name="Text 27"/>
          <p:cNvSpPr txBox="1"/>
          <p:nvPr/>
        </p:nvSpPr>
        <p:spPr>
          <a:xfrm>
            <a:off x="5171313" y="4983480"/>
            <a:ext cx="138680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400" b="1" dirty="0">
                <a:solidFill>
                  <a:schemeClr val="bg1"/>
                </a:solidFill>
              </a:rPr>
              <a:t>15분</a:t>
            </a:r>
            <a:endParaRPr lang="ko-KR" altLang="en-US" sz="1400" dirty="0"/>
          </a:p>
        </p:txBody>
      </p:sp>
      <p:sp>
        <p:nvSpPr>
          <p:cNvPr id="31" name="Text 28"/>
          <p:cNvSpPr txBox="1"/>
          <p:nvPr/>
        </p:nvSpPr>
        <p:spPr>
          <a:xfrm>
            <a:off x="5171313" y="5577840"/>
            <a:ext cx="138680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ctr" indent="0" marL="0">
              <a:buNone/>
            </a:pPr>
            <a:r>
              <a:rPr lang="ko-KR" altLang="en-US" sz="1300" dirty="0">
                <a:solidFill>
                  <a:schemeClr val="tx1"/>
                </a:solidFill>
              </a:rPr>
              <a:t>시연</a:t>
            </a:r>
            <a:endParaRPr lang="ko-KR" altLang="en-US" sz="1300" dirty="0"/>
          </a:p>
        </p:txBody>
      </p:sp>
      <p:sp>
        <p:nvSpPr>
          <p:cNvPr id="32" name="agenda-4"/>
          <p:cNvSpPr/>
          <p:nvPr/>
        </p:nvSpPr>
        <p:spPr>
          <a:xfrm>
            <a:off x="6585547" y="4983480"/>
            <a:ext cx="4105542" cy="50292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33" name="Text 30"/>
          <p:cNvSpPr txBox="1"/>
          <p:nvPr/>
        </p:nvSpPr>
        <p:spPr>
          <a:xfrm>
            <a:off x="6558115" y="4983480"/>
            <a:ext cx="416040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400" b="1" dirty="0">
                <a:solidFill>
                  <a:schemeClr val="bg1"/>
                </a:solidFill>
              </a:rPr>
              <a:t>45분</a:t>
            </a:r>
            <a:endParaRPr lang="ko-KR" altLang="en-US" sz="1400" dirty="0"/>
          </a:p>
        </p:txBody>
      </p:sp>
      <p:sp>
        <p:nvSpPr>
          <p:cNvPr id="34" name="Text 31"/>
          <p:cNvSpPr txBox="1"/>
          <p:nvPr/>
        </p:nvSpPr>
        <p:spPr>
          <a:xfrm>
            <a:off x="6558115" y="5577840"/>
            <a:ext cx="416040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ctr" indent="0" marL="0">
              <a:buNone/>
            </a:pPr>
            <a:r>
              <a:rPr lang="ko-KR" altLang="en-US" sz="1300" dirty="0">
                <a:solidFill>
                  <a:schemeClr val="tx1"/>
                </a:solidFill>
              </a:rPr>
              <a:t>실습</a:t>
            </a:r>
            <a:endParaRPr lang="ko-KR" altLang="en-US" sz="1300" dirty="0"/>
          </a:p>
        </p:txBody>
      </p:sp>
      <p:sp>
        <p:nvSpPr>
          <p:cNvPr id="35" name="agenda-5"/>
          <p:cNvSpPr/>
          <p:nvPr/>
        </p:nvSpPr>
        <p:spPr>
          <a:xfrm>
            <a:off x="10745953" y="4983480"/>
            <a:ext cx="869671" cy="502920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36" name="Text 33"/>
          <p:cNvSpPr txBox="1"/>
          <p:nvPr/>
        </p:nvSpPr>
        <p:spPr>
          <a:xfrm>
            <a:off x="10718521" y="4983480"/>
            <a:ext cx="9245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400" b="1" dirty="0">
                <a:solidFill>
                  <a:schemeClr val="bg1"/>
                </a:solidFill>
              </a:rPr>
              <a:t>10분</a:t>
            </a:r>
            <a:endParaRPr lang="ko-KR" altLang="en-US" sz="1400" dirty="0"/>
          </a:p>
        </p:txBody>
      </p:sp>
      <p:sp>
        <p:nvSpPr>
          <p:cNvPr id="37" name="Text 34"/>
          <p:cNvSpPr txBox="1"/>
          <p:nvPr/>
        </p:nvSpPr>
        <p:spPr>
          <a:xfrm>
            <a:off x="10718521" y="5577840"/>
            <a:ext cx="9245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ctr" indent="0" marL="0">
              <a:buNone/>
            </a:pPr>
            <a:r>
              <a:rPr lang="ko-KR" altLang="en-US" sz="1300" dirty="0">
                <a:solidFill>
                  <a:schemeClr val="tx1"/>
                </a:solidFill>
              </a:rPr>
              <a:t>정리 · 과제</a:t>
            </a:r>
            <a:endParaRPr lang="ko-KR" alt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eaLnBrk="0" algn="r"/>
            <a:fld id="{F7021451-1387-4CA6-816F-3879F97B5CBC}" type="slidenum">
              <a:rPr b="0" lang="ko-KR" altLang="en-US"/>
              <a:t>2</a:t>
            </a:fld>
            <a:endParaRPr lang="ko-KR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-pill"/>
          <p:cNvSpPr/>
          <p:nvPr/>
        </p:nvSpPr>
        <p:spPr>
          <a:xfrm>
            <a:off x="548640" y="292608"/>
            <a:ext cx="2107692" cy="310896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</p:sp>
      <p:sp>
        <p:nvSpPr>
          <p:cNvPr id="3" name="tag-dot"/>
          <p:cNvSpPr/>
          <p:nvPr/>
        </p:nvSpPr>
        <p:spPr>
          <a:xfrm>
            <a:off x="676656" y="393192"/>
            <a:ext cx="109728" cy="10972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ag-text"/>
          <p:cNvSpPr txBox="1"/>
          <p:nvPr/>
        </p:nvSpPr>
        <p:spPr>
          <a:xfrm>
            <a:off x="841248" y="292608"/>
            <a:ext cx="17785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altLang="en-US" sz="1100" b="1" dirty="0">
                <a:solidFill>
                  <a:schemeClr val="tx1"/>
                </a:solidFill>
              </a:rPr>
              <a:t>02회차 · API 서버</a:t>
            </a:r>
            <a:endParaRPr lang="ko-KR" altLang="en-US" sz="11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548640" y="65836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b="1" dirty="0">
                <a:solidFill>
                  <a:schemeClr val="tx1"/>
                </a:solidFill>
              </a:rPr>
              <a:t>프로젝트 구조 한눈에</a:t>
            </a:r>
            <a:endParaRPr lang="ko-KR" altLang="en-US" sz="3200" dirty="0"/>
          </a:p>
        </p:txBody>
      </p:sp>
      <p:sp>
        <p:nvSpPr>
          <p:cNvPr id="7" name="card-1"/>
          <p:cNvSpPr/>
          <p:nvPr/>
        </p:nvSpPr>
        <p:spPr>
          <a:xfrm>
            <a:off x="548640" y="1600200"/>
            <a:ext cx="5410048" cy="1737360"/>
          </a:xfrm>
          <a:prstGeom prst="roundRect">
            <a:avLst>
              <a:gd name="adj" fmla="val 6316"/>
            </a:avLst>
          </a:prstGeom>
          <a:solidFill>
            <a:schemeClr val="bg2"/>
          </a:solidFill>
          <a:ln/>
        </p:spPr>
      </p:sp>
      <p:sp>
        <p:nvSpPr>
          <p:cNvPr id="8" name="num-1"/>
          <p:cNvSpPr/>
          <p:nvPr/>
        </p:nvSpPr>
        <p:spPr>
          <a:xfrm>
            <a:off x="822960" y="1874520"/>
            <a:ext cx="420624" cy="420624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822960" y="18745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400" b="1" dirty="0">
                <a:solidFill>
                  <a:schemeClr val="bg1"/>
                </a:solidFill>
              </a:rPr>
              <a:t>1</a:t>
            </a:r>
            <a:endParaRPr lang="ko-KR" alt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1371600" y="1828800"/>
            <a:ext cx="44042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altLang="en-US" sz="1800" b="1" dirty="0">
                <a:solidFill>
                  <a:schemeClr val="tx1"/>
                </a:solidFill>
              </a:rPr>
              <a:t>apps/server</a:t>
            </a:r>
            <a:endParaRPr lang="ko-KR" alt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822960" y="2468880"/>
            <a:ext cx="48614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altLang="en-US" sz="130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Fastify · SQLite</a:t>
            </a:r>
            <a:endParaRPr lang="ko-KR" alt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822960" y="2880360"/>
            <a:ext cx="486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1500" dirty="0">
                <a:solidFill>
                  <a:schemeClr val="tx1"/>
                </a:solidFill>
              </a:rPr>
              <a:t>API 서버. 강의실 저장과 방송 상태 조회</a:t>
            </a:r>
            <a:endParaRPr lang="ko-KR" altLang="en-US" sz="1500" dirty="0"/>
          </a:p>
        </p:txBody>
      </p:sp>
      <p:sp>
        <p:nvSpPr>
          <p:cNvPr id="13" name="card-2"/>
          <p:cNvSpPr/>
          <p:nvPr/>
        </p:nvSpPr>
        <p:spPr>
          <a:xfrm>
            <a:off x="6233008" y="1600200"/>
            <a:ext cx="5410048" cy="1737360"/>
          </a:xfrm>
          <a:prstGeom prst="roundRect">
            <a:avLst>
              <a:gd name="adj" fmla="val 6316"/>
            </a:avLst>
          </a:prstGeom>
          <a:solidFill>
            <a:schemeClr val="bg2"/>
          </a:solidFill>
          <a:ln/>
        </p:spPr>
      </p:sp>
      <p:sp>
        <p:nvSpPr>
          <p:cNvPr id="14" name="num-2"/>
          <p:cNvSpPr/>
          <p:nvPr/>
        </p:nvSpPr>
        <p:spPr>
          <a:xfrm>
            <a:off x="6507328" y="1874520"/>
            <a:ext cx="420624" cy="420624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6507328" y="18745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400" b="1" dirty="0">
                <a:solidFill>
                  <a:schemeClr val="bg1"/>
                </a:solidFill>
              </a:rPr>
              <a:t>2</a:t>
            </a:r>
            <a:endParaRPr lang="ko-KR" alt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7055968" y="1828800"/>
            <a:ext cx="44042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altLang="en-US" sz="1800" b="1" dirty="0">
                <a:solidFill>
                  <a:schemeClr val="tx1"/>
                </a:solidFill>
              </a:rPr>
              <a:t>apps/web</a:t>
            </a:r>
            <a:endParaRPr lang="ko-KR" altLang="en-US" sz="1800" dirty="0"/>
          </a:p>
        </p:txBody>
      </p:sp>
      <p:sp>
        <p:nvSpPr>
          <p:cNvPr id="17" name="Text 14"/>
          <p:cNvSpPr txBox="1"/>
          <p:nvPr/>
        </p:nvSpPr>
        <p:spPr>
          <a:xfrm>
            <a:off x="6507328" y="2468880"/>
            <a:ext cx="48614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altLang="en-US" sz="130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Vite · React</a:t>
            </a:r>
            <a:endParaRPr lang="ko-KR" alt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6507328" y="2880360"/>
            <a:ext cx="486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1500" dirty="0">
                <a:solidFill>
                  <a:schemeClr val="tx1"/>
                </a:solidFill>
              </a:rPr>
              <a:t>강의실 목록, 강의 화면, 시청 화면</a:t>
            </a:r>
            <a:endParaRPr lang="ko-KR" altLang="en-US" sz="1500" dirty="0"/>
          </a:p>
        </p:txBody>
      </p:sp>
      <p:sp>
        <p:nvSpPr>
          <p:cNvPr id="19" name="card-3"/>
          <p:cNvSpPr/>
          <p:nvPr/>
        </p:nvSpPr>
        <p:spPr>
          <a:xfrm>
            <a:off x="548640" y="3611880"/>
            <a:ext cx="5410048" cy="1737360"/>
          </a:xfrm>
          <a:prstGeom prst="roundRect">
            <a:avLst>
              <a:gd name="adj" fmla="val 6316"/>
            </a:avLst>
          </a:prstGeom>
          <a:solidFill>
            <a:schemeClr val="bg2"/>
          </a:solidFill>
          <a:ln/>
        </p:spPr>
      </p:sp>
      <p:sp>
        <p:nvSpPr>
          <p:cNvPr id="20" name="num-3"/>
          <p:cNvSpPr/>
          <p:nvPr/>
        </p:nvSpPr>
        <p:spPr>
          <a:xfrm>
            <a:off x="822960" y="3886200"/>
            <a:ext cx="420624" cy="420624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822960" y="38862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400" b="1" dirty="0">
                <a:solidFill>
                  <a:schemeClr val="bg1"/>
                </a:solidFill>
              </a:rPr>
              <a:t>3</a:t>
            </a:r>
            <a:endParaRPr lang="ko-KR" altLang="en-US" sz="1400" dirty="0"/>
          </a:p>
        </p:txBody>
      </p:sp>
      <p:sp>
        <p:nvSpPr>
          <p:cNvPr id="22" name="Text 19"/>
          <p:cNvSpPr txBox="1"/>
          <p:nvPr/>
        </p:nvSpPr>
        <p:spPr>
          <a:xfrm>
            <a:off x="1371600" y="3840480"/>
            <a:ext cx="44042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altLang="en-US" sz="1800" b="1" dirty="0">
                <a:solidFill>
                  <a:schemeClr val="tx1"/>
                </a:solidFill>
              </a:rPr>
              <a:t>packages/shared</a:t>
            </a:r>
            <a:endParaRPr lang="ko-KR" altLang="en-US" sz="1800" dirty="0"/>
          </a:p>
        </p:txBody>
      </p:sp>
      <p:sp>
        <p:nvSpPr>
          <p:cNvPr id="23" name="Text 20"/>
          <p:cNvSpPr txBox="1"/>
          <p:nvPr/>
        </p:nvSpPr>
        <p:spPr>
          <a:xfrm>
            <a:off x="822960" y="4480560"/>
            <a:ext cx="48614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altLang="en-US" sz="130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TypeScript 타입</a:t>
            </a:r>
            <a:endParaRPr lang="ko-KR" altLang="en-US" sz="1300" dirty="0"/>
          </a:p>
        </p:txBody>
      </p:sp>
      <p:sp>
        <p:nvSpPr>
          <p:cNvPr id="24" name="Text 21"/>
          <p:cNvSpPr txBox="1"/>
          <p:nvPr/>
        </p:nvSpPr>
        <p:spPr>
          <a:xfrm>
            <a:off x="822960" y="4892040"/>
            <a:ext cx="486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1500" dirty="0">
                <a:solidFill>
                  <a:schemeClr val="tx1"/>
                </a:solidFill>
              </a:rPr>
              <a:t>서버와 화면이 함께 쓰는 데이터 모양</a:t>
            </a:r>
            <a:endParaRPr lang="ko-KR" altLang="en-US" sz="1500" dirty="0"/>
          </a:p>
        </p:txBody>
      </p:sp>
      <p:sp>
        <p:nvSpPr>
          <p:cNvPr id="25" name="card-4"/>
          <p:cNvSpPr/>
          <p:nvPr/>
        </p:nvSpPr>
        <p:spPr>
          <a:xfrm>
            <a:off x="6233008" y="3611880"/>
            <a:ext cx="5410048" cy="1737360"/>
          </a:xfrm>
          <a:prstGeom prst="roundRect">
            <a:avLst>
              <a:gd name="adj" fmla="val 6316"/>
            </a:avLst>
          </a:prstGeom>
          <a:solidFill>
            <a:schemeClr val="bg2"/>
          </a:solidFill>
          <a:ln/>
        </p:spPr>
      </p:sp>
      <p:sp>
        <p:nvSpPr>
          <p:cNvPr id="26" name="num-4"/>
          <p:cNvSpPr/>
          <p:nvPr/>
        </p:nvSpPr>
        <p:spPr>
          <a:xfrm>
            <a:off x="6507328" y="3886200"/>
            <a:ext cx="420624" cy="420624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6507328" y="38862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400" b="1" dirty="0">
                <a:solidFill>
                  <a:schemeClr val="bg1"/>
                </a:solidFill>
              </a:rPr>
              <a:t>4</a:t>
            </a:r>
            <a:endParaRPr lang="ko-KR" altLang="en-US" sz="1400" dirty="0"/>
          </a:p>
        </p:txBody>
      </p:sp>
      <p:sp>
        <p:nvSpPr>
          <p:cNvPr id="28" name="Text 25"/>
          <p:cNvSpPr txBox="1"/>
          <p:nvPr/>
        </p:nvSpPr>
        <p:spPr>
          <a:xfrm>
            <a:off x="7055968" y="3840480"/>
            <a:ext cx="44042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altLang="en-US" sz="1800" b="1" dirty="0">
                <a:solidFill>
                  <a:schemeClr val="tx1"/>
                </a:solidFill>
              </a:rPr>
              <a:t>media/</a:t>
            </a:r>
            <a:endParaRPr lang="ko-KR" altLang="en-US" sz="1800" dirty="0"/>
          </a:p>
        </p:txBody>
      </p:sp>
      <p:sp>
        <p:nvSpPr>
          <p:cNvPr id="29" name="Text 26"/>
          <p:cNvSpPr txBox="1"/>
          <p:nvPr/>
        </p:nvSpPr>
        <p:spPr>
          <a:xfrm>
            <a:off x="6507328" y="4480560"/>
            <a:ext cx="48614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altLang="en-US" sz="130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mediamtx.yml</a:t>
            </a:r>
            <a:endParaRPr lang="ko-KR" altLang="en-US" sz="1300" dirty="0"/>
          </a:p>
        </p:txBody>
      </p:sp>
      <p:sp>
        <p:nvSpPr>
          <p:cNvPr id="30" name="Text 27"/>
          <p:cNvSpPr txBox="1"/>
          <p:nvPr/>
        </p:nvSpPr>
        <p:spPr>
          <a:xfrm>
            <a:off x="6507328" y="4892040"/>
            <a:ext cx="486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1500" dirty="0">
                <a:solidFill>
                  <a:schemeClr val="tx1"/>
                </a:solidFill>
              </a:rPr>
              <a:t>미디어 서버 실행 파일과 설정</a:t>
            </a:r>
            <a:endParaRPr lang="ko-KR" altLang="en-US" sz="1500" dirty="0"/>
          </a:p>
        </p:txBody>
      </p:sp>
      <p:sp>
        <p:nvSpPr>
          <p:cNvPr id="31" name="key-box"/>
          <p:cNvSpPr/>
          <p:nvPr/>
        </p:nvSpPr>
        <p:spPr>
          <a:xfrm>
            <a:off x="548640" y="5532120"/>
            <a:ext cx="11094415" cy="566928"/>
          </a:xfrm>
          <a:prstGeom prst="roundRect">
            <a:avLst>
              <a:gd name="adj" fmla="val 16129"/>
            </a:avLst>
          </a:prstGeom>
          <a:solidFill>
            <a:schemeClr val="tx2"/>
          </a:solidFill>
          <a:ln/>
        </p:spPr>
      </p:sp>
      <p:sp>
        <p:nvSpPr>
          <p:cNvPr id="32" name="key-dot"/>
          <p:cNvSpPr/>
          <p:nvPr/>
        </p:nvSpPr>
        <p:spPr>
          <a:xfrm>
            <a:off x="777240" y="5760720"/>
            <a:ext cx="109728" cy="10972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3" name="key-text"/>
          <p:cNvSpPr txBox="1"/>
          <p:nvPr/>
        </p:nvSpPr>
        <p:spPr>
          <a:xfrm>
            <a:off x="1005840" y="5532120"/>
            <a:ext cx="104543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altLang="en-US" sz="1500" b="1" dirty="0">
                <a:solidFill>
                  <a:schemeClr val="bg1"/>
                </a:solidFill>
              </a:rPr>
              <a:t>pnpm workspace가 네 폴더를 묶어서 pnpm dev 한 번으로 모두 실행한다</a:t>
            </a:r>
            <a:endParaRPr lang="ko-KR" alt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eaLnBrk="0" algn="r"/>
            <a:fld id="{F7021451-1387-4CA6-816F-3879F97B5CBC}" type="slidenum">
              <a:rPr b="0" lang="ko-KR" altLang="en-US"/>
              <a:t>3</a:t>
            </a:fld>
            <a:endParaRPr lang="ko-KR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-pill"/>
          <p:cNvSpPr/>
          <p:nvPr/>
        </p:nvSpPr>
        <p:spPr>
          <a:xfrm>
            <a:off x="548640" y="292608"/>
            <a:ext cx="2107692" cy="310896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</p:sp>
      <p:sp>
        <p:nvSpPr>
          <p:cNvPr id="3" name="tag-dot"/>
          <p:cNvSpPr/>
          <p:nvPr/>
        </p:nvSpPr>
        <p:spPr>
          <a:xfrm>
            <a:off x="676656" y="393192"/>
            <a:ext cx="109728" cy="10972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ag-text"/>
          <p:cNvSpPr txBox="1"/>
          <p:nvPr/>
        </p:nvSpPr>
        <p:spPr>
          <a:xfrm>
            <a:off x="841248" y="292608"/>
            <a:ext cx="17785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altLang="en-US" sz="1100" b="1" dirty="0">
                <a:solidFill>
                  <a:schemeClr val="tx1"/>
                </a:solidFill>
              </a:rPr>
              <a:t>02회차 · API 서버</a:t>
            </a:r>
            <a:endParaRPr lang="ko-KR" altLang="en-US" sz="11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548640" y="65836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b="1" dirty="0">
                <a:solidFill>
                  <a:schemeClr val="tx1"/>
                </a:solidFill>
              </a:rPr>
              <a:t>요청이 처리되는 길</a:t>
            </a:r>
            <a:endParaRPr lang="ko-KR" altLang="en-US" sz="3200" dirty="0"/>
          </a:p>
        </p:txBody>
      </p:sp>
      <p:sp>
        <p:nvSpPr>
          <p:cNvPr id="7" name="step-1"/>
          <p:cNvSpPr/>
          <p:nvPr/>
        </p:nvSpPr>
        <p:spPr>
          <a:xfrm>
            <a:off x="548640" y="1965960"/>
            <a:ext cx="1911645" cy="2651760"/>
          </a:xfrm>
          <a:prstGeom prst="roundRect">
            <a:avLst>
              <a:gd name="adj" fmla="val 5740"/>
            </a:avLst>
          </a:prstGeom>
          <a:solidFill>
            <a:schemeClr val="bg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777240" y="2167128"/>
            <a:ext cx="145444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altLang="en-US" sz="1300" b="1" dirty="0">
                <a:solidFill>
                  <a:schemeClr val="accent1"/>
                </a:solidFill>
              </a:rPr>
              <a:t>01</a:t>
            </a:r>
            <a:endParaRPr lang="ko-KR" alt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2514600"/>
            <a:ext cx="145444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1900" b="1" dirty="0">
                <a:solidFill>
                  <a:schemeClr val="tx1"/>
                </a:solidFill>
              </a:rPr>
              <a:t>브라우저</a:t>
            </a:r>
            <a:endParaRPr lang="ko-KR" altLang="en-US" sz="1900" dirty="0"/>
          </a:p>
        </p:txBody>
      </p:sp>
      <p:sp>
        <p:nvSpPr>
          <p:cNvPr id="10" name="Text 7"/>
          <p:cNvSpPr txBox="1"/>
          <p:nvPr/>
        </p:nvSpPr>
        <p:spPr>
          <a:xfrm>
            <a:off x="777240" y="3337560"/>
            <a:ext cx="145444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1400" dirty="0">
                <a:solidFill>
                  <a:schemeClr val="tx1"/>
                </a:solidFill>
              </a:rPr>
              <a:t>fetch 로 /api/classrooms 요청</a:t>
            </a:r>
            <a:endParaRPr lang="ko-KR" altLang="en-US" sz="1400" dirty="0"/>
          </a:p>
        </p:txBody>
      </p:sp>
      <p:sp>
        <p:nvSpPr>
          <p:cNvPr id="11" name="arrow-1"/>
          <p:cNvSpPr/>
          <p:nvPr/>
        </p:nvSpPr>
        <p:spPr>
          <a:xfrm rot="5400000">
            <a:off x="2560869" y="3172968"/>
            <a:ext cx="182880" cy="237744"/>
          </a:xfrm>
          <a:prstGeom prst="triangle">
            <a:avLst/>
          </a:prstGeom>
          <a:solidFill>
            <a:schemeClr val="accent6"/>
          </a:solidFill>
          <a:ln/>
        </p:spPr>
      </p:sp>
      <p:sp>
        <p:nvSpPr>
          <p:cNvPr id="12" name="step-2"/>
          <p:cNvSpPr/>
          <p:nvPr/>
        </p:nvSpPr>
        <p:spPr>
          <a:xfrm>
            <a:off x="2844333" y="1965960"/>
            <a:ext cx="1911645" cy="2651760"/>
          </a:xfrm>
          <a:prstGeom prst="roundRect">
            <a:avLst>
              <a:gd name="adj" fmla="val 5740"/>
            </a:avLst>
          </a:prstGeom>
          <a:solidFill>
            <a:schemeClr val="bg2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3072933" y="2167128"/>
            <a:ext cx="145444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altLang="en-US" sz="1300" b="1" dirty="0">
                <a:solidFill>
                  <a:schemeClr val="accent1"/>
                </a:solidFill>
              </a:rPr>
              <a:t>02</a:t>
            </a:r>
            <a:endParaRPr lang="ko-KR" alt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3072933" y="2514600"/>
            <a:ext cx="145444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1900" b="1" dirty="0">
                <a:solidFill>
                  <a:schemeClr val="tx1"/>
                </a:solidFill>
              </a:rPr>
              <a:t>Vite 프록시</a:t>
            </a:r>
            <a:endParaRPr lang="ko-KR" altLang="en-US" sz="1900" dirty="0"/>
          </a:p>
        </p:txBody>
      </p:sp>
      <p:sp>
        <p:nvSpPr>
          <p:cNvPr id="15" name="Text 12"/>
          <p:cNvSpPr txBox="1"/>
          <p:nvPr/>
        </p:nvSpPr>
        <p:spPr>
          <a:xfrm>
            <a:off x="3072933" y="3337560"/>
            <a:ext cx="145444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1400" dirty="0">
                <a:solidFill>
                  <a:schemeClr val="tx1"/>
                </a:solidFill>
              </a:rPr>
              <a:t>5173으로 온 /api 요청을 3000으로 전달</a:t>
            </a:r>
            <a:endParaRPr lang="ko-KR" altLang="en-US" sz="1400" dirty="0"/>
          </a:p>
        </p:txBody>
      </p:sp>
      <p:sp>
        <p:nvSpPr>
          <p:cNvPr id="16" name="arrow-2"/>
          <p:cNvSpPr/>
          <p:nvPr/>
        </p:nvSpPr>
        <p:spPr>
          <a:xfrm rot="5400000">
            <a:off x="4856561" y="3172968"/>
            <a:ext cx="182880" cy="237744"/>
          </a:xfrm>
          <a:prstGeom prst="triangle">
            <a:avLst/>
          </a:prstGeom>
          <a:solidFill>
            <a:schemeClr val="accent6"/>
          </a:solidFill>
          <a:ln/>
        </p:spPr>
      </p:sp>
      <p:sp>
        <p:nvSpPr>
          <p:cNvPr id="17" name="step-3"/>
          <p:cNvSpPr/>
          <p:nvPr/>
        </p:nvSpPr>
        <p:spPr>
          <a:xfrm>
            <a:off x="5140025" y="1965960"/>
            <a:ext cx="1911645" cy="2651760"/>
          </a:xfrm>
          <a:prstGeom prst="roundRect">
            <a:avLst>
              <a:gd name="adj" fmla="val 5740"/>
            </a:avLst>
          </a:prstGeom>
          <a:solidFill>
            <a:schemeClr val="bg2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5368625" y="2167128"/>
            <a:ext cx="145444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altLang="en-US" sz="1300" b="1" dirty="0">
                <a:solidFill>
                  <a:schemeClr val="accent1"/>
                </a:solidFill>
              </a:rPr>
              <a:t>03</a:t>
            </a:r>
            <a:endParaRPr lang="ko-KR" alt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5368625" y="2514600"/>
            <a:ext cx="145444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1900" b="1" dirty="0">
                <a:solidFill>
                  <a:schemeClr val="tx1"/>
                </a:solidFill>
              </a:rPr>
              <a:t>Fastify 라우트</a:t>
            </a:r>
            <a:endParaRPr lang="ko-KR" altLang="en-US" sz="1900" dirty="0"/>
          </a:p>
        </p:txBody>
      </p:sp>
      <p:sp>
        <p:nvSpPr>
          <p:cNvPr id="20" name="Text 17"/>
          <p:cNvSpPr txBox="1"/>
          <p:nvPr/>
        </p:nvSpPr>
        <p:spPr>
          <a:xfrm>
            <a:off x="5368625" y="3337560"/>
            <a:ext cx="145444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1400" dirty="0">
                <a:solidFill>
                  <a:schemeClr val="tx1"/>
                </a:solidFill>
              </a:rPr>
              <a:t>주소와 메서드로 처리 함수를 찾고 입력 검사</a:t>
            </a:r>
            <a:endParaRPr lang="ko-KR" altLang="en-US" sz="1400" dirty="0"/>
          </a:p>
        </p:txBody>
      </p:sp>
      <p:sp>
        <p:nvSpPr>
          <p:cNvPr id="21" name="arrow-3"/>
          <p:cNvSpPr/>
          <p:nvPr/>
        </p:nvSpPr>
        <p:spPr>
          <a:xfrm rot="5400000">
            <a:off x="7152254" y="3172968"/>
            <a:ext cx="182880" cy="237744"/>
          </a:xfrm>
          <a:prstGeom prst="triangle">
            <a:avLst/>
          </a:prstGeom>
          <a:solidFill>
            <a:schemeClr val="accent6"/>
          </a:solidFill>
          <a:ln/>
        </p:spPr>
      </p:sp>
      <p:sp>
        <p:nvSpPr>
          <p:cNvPr id="22" name="step-4"/>
          <p:cNvSpPr/>
          <p:nvPr/>
        </p:nvSpPr>
        <p:spPr>
          <a:xfrm>
            <a:off x="7435718" y="1965960"/>
            <a:ext cx="1911645" cy="2651760"/>
          </a:xfrm>
          <a:prstGeom prst="roundRect">
            <a:avLst>
              <a:gd name="adj" fmla="val 5740"/>
            </a:avLst>
          </a:prstGeom>
          <a:solidFill>
            <a:schemeClr val="bg2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7664318" y="2167128"/>
            <a:ext cx="145444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altLang="en-US" sz="1300" b="1" dirty="0">
                <a:solidFill>
                  <a:schemeClr val="accent1"/>
                </a:solidFill>
              </a:rPr>
              <a:t>04</a:t>
            </a:r>
            <a:endParaRPr lang="ko-KR" altLang="en-US" sz="1300" dirty="0"/>
          </a:p>
        </p:txBody>
      </p:sp>
      <p:sp>
        <p:nvSpPr>
          <p:cNvPr id="24" name="Text 21"/>
          <p:cNvSpPr txBox="1"/>
          <p:nvPr/>
        </p:nvSpPr>
        <p:spPr>
          <a:xfrm>
            <a:off x="7664318" y="2514600"/>
            <a:ext cx="145444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1900" b="1" dirty="0">
                <a:solidFill>
                  <a:schemeClr val="tx1"/>
                </a:solidFill>
              </a:rPr>
              <a:t>저장소</a:t>
            </a:r>
            <a:endParaRPr lang="ko-KR" altLang="en-US" sz="1900" dirty="0"/>
          </a:p>
        </p:txBody>
      </p:sp>
      <p:sp>
        <p:nvSpPr>
          <p:cNvPr id="25" name="Text 22"/>
          <p:cNvSpPr txBox="1"/>
          <p:nvPr/>
        </p:nvSpPr>
        <p:spPr>
          <a:xfrm>
            <a:off x="7664318" y="3337560"/>
            <a:ext cx="145444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1400" dirty="0">
                <a:solidFill>
                  <a:schemeClr val="tx1"/>
                </a:solidFill>
              </a:rPr>
              <a:t>classroomRepo 가 SQL을 실행</a:t>
            </a:r>
            <a:endParaRPr lang="ko-KR" altLang="en-US" sz="1400" dirty="0"/>
          </a:p>
        </p:txBody>
      </p:sp>
      <p:sp>
        <p:nvSpPr>
          <p:cNvPr id="26" name="arrow-4"/>
          <p:cNvSpPr/>
          <p:nvPr/>
        </p:nvSpPr>
        <p:spPr>
          <a:xfrm rot="5400000">
            <a:off x="9447947" y="3172968"/>
            <a:ext cx="182880" cy="237744"/>
          </a:xfrm>
          <a:prstGeom prst="triangle">
            <a:avLst/>
          </a:prstGeom>
          <a:solidFill>
            <a:schemeClr val="accent6"/>
          </a:solidFill>
          <a:ln/>
        </p:spPr>
      </p:sp>
      <p:sp>
        <p:nvSpPr>
          <p:cNvPr id="27" name="step-5"/>
          <p:cNvSpPr/>
          <p:nvPr/>
        </p:nvSpPr>
        <p:spPr>
          <a:xfrm>
            <a:off x="9731411" y="1965960"/>
            <a:ext cx="1911645" cy="2651760"/>
          </a:xfrm>
          <a:prstGeom prst="roundRect">
            <a:avLst>
              <a:gd name="adj" fmla="val 5740"/>
            </a:avLst>
          </a:prstGeom>
          <a:solidFill>
            <a:schemeClr val="tx2"/>
          </a:solidFill>
          <a:ln/>
        </p:spPr>
      </p:sp>
      <p:sp>
        <p:nvSpPr>
          <p:cNvPr id="28" name="Text 25"/>
          <p:cNvSpPr txBox="1"/>
          <p:nvPr/>
        </p:nvSpPr>
        <p:spPr>
          <a:xfrm>
            <a:off x="9960011" y="2167128"/>
            <a:ext cx="145444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altLang="en-US" sz="1300" b="1" dirty="0">
                <a:solidFill>
                  <a:schemeClr val="accent1"/>
                </a:solidFill>
              </a:rPr>
              <a:t>05</a:t>
            </a:r>
            <a:endParaRPr lang="ko-KR" altLang="en-US" sz="1300" dirty="0"/>
          </a:p>
        </p:txBody>
      </p:sp>
      <p:sp>
        <p:nvSpPr>
          <p:cNvPr id="29" name="Text 26"/>
          <p:cNvSpPr txBox="1"/>
          <p:nvPr/>
        </p:nvSpPr>
        <p:spPr>
          <a:xfrm>
            <a:off x="9960011" y="2514600"/>
            <a:ext cx="145444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1900" b="1" dirty="0">
                <a:solidFill>
                  <a:schemeClr val="bg1"/>
                </a:solidFill>
              </a:rPr>
              <a:t>SQLite</a:t>
            </a:r>
            <a:endParaRPr lang="ko-KR" altLang="en-US" sz="1900" dirty="0"/>
          </a:p>
        </p:txBody>
      </p:sp>
      <p:sp>
        <p:nvSpPr>
          <p:cNvPr id="30" name="Text 27"/>
          <p:cNvSpPr txBox="1"/>
          <p:nvPr/>
        </p:nvSpPr>
        <p:spPr>
          <a:xfrm>
            <a:off x="9960011" y="3337560"/>
            <a:ext cx="145444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1400" dirty="0">
                <a:solidFill>
                  <a:schemeClr val="bg1"/>
                </a:solidFill>
              </a:rPr>
              <a:t>data/app.db 파일에 저장</a:t>
            </a:r>
            <a:endParaRPr lang="ko-KR" altLang="en-US" sz="1400" dirty="0"/>
          </a:p>
        </p:txBody>
      </p:sp>
      <p:sp>
        <p:nvSpPr>
          <p:cNvPr id="31" name="key-box"/>
          <p:cNvSpPr/>
          <p:nvPr/>
        </p:nvSpPr>
        <p:spPr>
          <a:xfrm>
            <a:off x="548640" y="5029200"/>
            <a:ext cx="11094415" cy="566928"/>
          </a:xfrm>
          <a:prstGeom prst="roundRect">
            <a:avLst>
              <a:gd name="adj" fmla="val 16129"/>
            </a:avLst>
          </a:prstGeom>
          <a:solidFill>
            <a:schemeClr val="tx2"/>
          </a:solidFill>
          <a:ln/>
        </p:spPr>
      </p:sp>
      <p:sp>
        <p:nvSpPr>
          <p:cNvPr id="32" name="key-dot"/>
          <p:cNvSpPr/>
          <p:nvPr/>
        </p:nvSpPr>
        <p:spPr>
          <a:xfrm>
            <a:off x="777240" y="5257800"/>
            <a:ext cx="109728" cy="10972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3" name="key-text"/>
          <p:cNvSpPr txBox="1"/>
          <p:nvPr/>
        </p:nvSpPr>
        <p:spPr>
          <a:xfrm>
            <a:off x="1005840" y="5029200"/>
            <a:ext cx="104543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altLang="en-US" sz="1500" b="1" dirty="0">
                <a:solidFill>
                  <a:schemeClr val="bg1"/>
                </a:solidFill>
              </a:rPr>
              <a:t>응답은 같은 길을 거꾸로, JSON으로 돌아온다</a:t>
            </a:r>
            <a:endParaRPr lang="ko-KR" alt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eaLnBrk="0" algn="r"/>
            <a:fld id="{F7021451-1387-4CA6-816F-3879F97B5CBC}" type="slidenum">
              <a:rPr b="0" lang="ko-KR" altLang="en-US"/>
              <a:t>4</a:t>
            </a:fld>
            <a:endParaRPr lang="ko-KR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-pill"/>
          <p:cNvSpPr/>
          <p:nvPr/>
        </p:nvSpPr>
        <p:spPr>
          <a:xfrm>
            <a:off x="548640" y="292608"/>
            <a:ext cx="2107692" cy="310896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</p:sp>
      <p:sp>
        <p:nvSpPr>
          <p:cNvPr id="3" name="tag-dot"/>
          <p:cNvSpPr/>
          <p:nvPr/>
        </p:nvSpPr>
        <p:spPr>
          <a:xfrm>
            <a:off x="676656" y="393192"/>
            <a:ext cx="109728" cy="10972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ag-text"/>
          <p:cNvSpPr txBox="1"/>
          <p:nvPr/>
        </p:nvSpPr>
        <p:spPr>
          <a:xfrm>
            <a:off x="841248" y="292608"/>
            <a:ext cx="17785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altLang="en-US" sz="1100" b="1" dirty="0">
                <a:solidFill>
                  <a:schemeClr val="tx1"/>
                </a:solidFill>
              </a:rPr>
              <a:t>02회차 · API 서버</a:t>
            </a:r>
            <a:endParaRPr lang="ko-KR" altLang="en-US" sz="11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548640" y="65836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b="1" dirty="0">
                <a:solidFill>
                  <a:schemeClr val="tx1"/>
                </a:solidFill>
              </a:rPr>
              <a:t>HTTP 메서드와 상태 코드</a:t>
            </a:r>
            <a:endParaRPr lang="ko-KR" altLang="en-US" sz="3200" dirty="0"/>
          </a:p>
        </p:txBody>
      </p:sp>
      <p:graphicFrame>
        <p:nvGraphicFramePr>
          <p:cNvPr id="6" name="compare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11094415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2743200"/>
                <a:gridCol w="3840480"/>
                <a:gridCol w="2679192"/>
              </a:tblGrid>
              <a:tr h="566928">
                <a:tc>
                  <a:txBody>
                    <a:bodyPr/>
                    <a:lstStyle/>
                    <a:p>
                      <a:pPr eaLnBrk="0" indent="0" marL="0">
                        <a:buNone/>
                      </a:pPr>
                      <a:r>
                        <a:rPr lang="ko-KR" altLang="en-US" sz="1500" b="1" dirty="0">
                          <a:solidFill>
                            <a:schemeClr val="bg1"/>
                          </a:solidFill>
                        </a:rPr>
                        <a:t>메서드</a:t>
                      </a:r>
                      <a:endParaRPr lang="ko-KR" altLang="en-US" sz="1500" dirty="0"/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eaLnBrk="0" indent="0" marL="0">
                        <a:buNone/>
                      </a:pPr>
                      <a:r>
                        <a:rPr lang="ko-KR" altLang="en-US" sz="1500" b="1" dirty="0">
                          <a:solidFill>
                            <a:schemeClr val="bg1"/>
                          </a:solidFill>
                        </a:rPr>
                        <a:t>뜻</a:t>
                      </a:r>
                      <a:endParaRPr lang="ko-KR" altLang="en-US" sz="1500" dirty="0"/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eaLnBrk="0" indent="0" marL="0">
                        <a:buNone/>
                      </a:pPr>
                      <a:r>
                        <a:rPr lang="ko-KR" altLang="en-US" sz="1500" b="1" dirty="0">
                          <a:solidFill>
                            <a:schemeClr val="bg1"/>
                          </a:solidFill>
                        </a:rPr>
                        <a:t>우리 API</a:t>
                      </a:r>
                      <a:endParaRPr lang="ko-KR" altLang="en-US" sz="1500" dirty="0"/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eaLnBrk="0" indent="0" marL="0">
                        <a:buNone/>
                      </a:pPr>
                      <a:r>
                        <a:rPr lang="ko-KR" altLang="en-US" sz="1500" b="1" dirty="0">
                          <a:solidFill>
                            <a:schemeClr val="bg1"/>
                          </a:solidFill>
                        </a:rPr>
                        <a:t>성공 코드</a:t>
                      </a:r>
                      <a:endParaRPr lang="ko-KR" altLang="en-US" sz="1500" dirty="0"/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eaLnBrk="0" indent="0" marL="0">
                        <a:buNone/>
                      </a:pPr>
                      <a:r>
                        <a:rPr lang="ko-KR" altLang="en-US" sz="1500" b="1" dirty="0">
                          <a:solidFill>
                            <a:schemeClr val="tx1"/>
                          </a:solidFill>
                        </a:rPr>
                        <a:t>GET</a:t>
                      </a:r>
                      <a:endParaRPr lang="ko-KR" altLang="en-US" sz="1500" dirty="0"/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eaLnBrk="0" indent="0" marL="0">
                        <a:buNone/>
                      </a:pPr>
                      <a:r>
                        <a:rPr lang="ko-KR" altLang="en-US" sz="1500" dirty="0">
                          <a:solidFill>
                            <a:schemeClr val="tx1"/>
                          </a:solidFill>
                        </a:rPr>
                        <a:t>가져오기</a:t>
                      </a:r>
                      <a:endParaRPr lang="ko-KR" altLang="en-US" sz="1500" dirty="0"/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eaLnBrk="0" indent="0" marL="0">
                        <a:buNone/>
                      </a:pPr>
                      <a:r>
                        <a:rPr lang="ko-KR" altLang="en-US" sz="1500" dirty="0">
                          <a:solidFill>
                            <a:schemeClr val="tx1"/>
                          </a:solidFill>
                        </a:rPr>
                        <a:t>/api/classrooms</a:t>
                      </a:r>
                      <a:endParaRPr lang="ko-KR" altLang="en-US" sz="1500" dirty="0"/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eaLnBrk="0" indent="0" marL="0">
                        <a:buNone/>
                      </a:pPr>
                      <a:r>
                        <a:rPr lang="ko-KR" altLang="en-US" sz="1500" dirty="0">
                          <a:solidFill>
                            <a:schemeClr val="tx1"/>
                          </a:solidFill>
                        </a:rPr>
                        <a:t>200 OK</a:t>
                      </a:r>
                      <a:endParaRPr lang="ko-KR" altLang="en-US" sz="1500" dirty="0"/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eaLnBrk="0" indent="0" marL="0">
                        <a:buNone/>
                      </a:pPr>
                      <a:r>
                        <a:rPr lang="ko-KR" altLang="en-US" sz="1500" b="1" dirty="0">
                          <a:solidFill>
                            <a:schemeClr val="tx1"/>
                          </a:solidFill>
                        </a:rPr>
                        <a:t>POST</a:t>
                      </a:r>
                      <a:endParaRPr lang="ko-KR" altLang="en-US" sz="1500" dirty="0"/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eaLnBrk="0" indent="0" marL="0">
                        <a:buNone/>
                      </a:pPr>
                      <a:r>
                        <a:rPr lang="ko-KR" altLang="en-US" sz="1500" dirty="0">
                          <a:solidFill>
                            <a:schemeClr val="tx1"/>
                          </a:solidFill>
                        </a:rPr>
                        <a:t>만들기</a:t>
                      </a:r>
                      <a:endParaRPr lang="ko-KR" altLang="en-US" sz="1500" dirty="0"/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eaLnBrk="0" indent="0" marL="0">
                        <a:buNone/>
                      </a:pPr>
                      <a:r>
                        <a:rPr lang="ko-KR" altLang="en-US" sz="1500" dirty="0">
                          <a:solidFill>
                            <a:schemeClr val="tx1"/>
                          </a:solidFill>
                        </a:rPr>
                        <a:t>/api/classrooms</a:t>
                      </a:r>
                      <a:endParaRPr lang="ko-KR" altLang="en-US" sz="1500" dirty="0"/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eaLnBrk="0" indent="0" marL="0">
                        <a:buNone/>
                      </a:pPr>
                      <a:r>
                        <a:rPr lang="ko-KR" altLang="en-US" sz="1500" dirty="0">
                          <a:solidFill>
                            <a:schemeClr val="tx1"/>
                          </a:solidFill>
                        </a:rPr>
                        <a:t>201 Created</a:t>
                      </a:r>
                      <a:endParaRPr lang="ko-KR" altLang="en-US" sz="1500" dirty="0"/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eaLnBrk="0" indent="0" marL="0">
                        <a:buNone/>
                      </a:pPr>
                      <a:r>
                        <a:rPr lang="ko-KR" altLang="en-US" sz="1500" b="1" dirty="0">
                          <a:solidFill>
                            <a:schemeClr val="tx1"/>
                          </a:solidFill>
                        </a:rPr>
                        <a:t>DELETE</a:t>
                      </a:r>
                      <a:endParaRPr lang="ko-KR" altLang="en-US" sz="1500" dirty="0"/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eaLnBrk="0" indent="0" marL="0">
                        <a:buNone/>
                      </a:pPr>
                      <a:r>
                        <a:rPr lang="ko-KR" altLang="en-US" sz="1500" dirty="0">
                          <a:solidFill>
                            <a:schemeClr val="tx1"/>
                          </a:solidFill>
                        </a:rPr>
                        <a:t>지우기</a:t>
                      </a:r>
                      <a:endParaRPr lang="ko-KR" altLang="en-US" sz="1500" dirty="0"/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eaLnBrk="0" indent="0" marL="0">
                        <a:buNone/>
                      </a:pPr>
                      <a:r>
                        <a:rPr lang="ko-KR" altLang="en-US" sz="1500" dirty="0">
                          <a:solidFill>
                            <a:schemeClr val="tx1"/>
                          </a:solidFill>
                        </a:rPr>
                        <a:t>/api/classrooms/:id</a:t>
                      </a:r>
                      <a:endParaRPr lang="ko-KR" altLang="en-US" sz="1500" dirty="0"/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eaLnBrk="0" indent="0" marL="0">
                        <a:buNone/>
                      </a:pPr>
                      <a:r>
                        <a:rPr lang="ko-KR" altLang="en-US" sz="1500" dirty="0">
                          <a:solidFill>
                            <a:schemeClr val="tx1"/>
                          </a:solidFill>
                        </a:rPr>
                        <a:t>204 No Content</a:t>
                      </a:r>
                      <a:endParaRPr lang="ko-KR" altLang="en-US" sz="1500" dirty="0"/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eaLnBrk="0" indent="0" marL="0">
                        <a:buNone/>
                      </a:pPr>
                      <a:r>
                        <a:rPr lang="ko-KR" altLang="en-US" sz="1500" b="1" dirty="0">
                          <a:solidFill>
                            <a:schemeClr val="tx1"/>
                          </a:solidFill>
                        </a:rPr>
                        <a:t>(실패)</a:t>
                      </a:r>
                      <a:endParaRPr lang="ko-KR" altLang="en-US" sz="1500" dirty="0"/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eaLnBrk="0" indent="0" marL="0">
                        <a:buNone/>
                      </a:pPr>
                      <a:r>
                        <a:rPr lang="ko-KR" altLang="en-US" sz="1500" dirty="0">
                          <a:solidFill>
                            <a:schemeClr val="tx1"/>
                          </a:solidFill>
                        </a:rPr>
                        <a:t>잘못된 요청 · 없음</a:t>
                      </a:r>
                      <a:endParaRPr lang="ko-KR" altLang="en-US" sz="1500" dirty="0"/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eaLnBrk="0" indent="0" marL="0">
                        <a:buNone/>
                      </a:pPr>
                      <a:r>
                        <a:rPr lang="ko-KR" altLang="en-US" sz="1500" dirty="0">
                          <a:solidFill>
                            <a:schemeClr val="tx1"/>
                          </a:solidFill>
                        </a:rPr>
                        <a:t>빈 제목 · 없는 ID</a:t>
                      </a:r>
                      <a:endParaRPr lang="ko-KR" altLang="en-US" sz="1500" dirty="0"/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eaLnBrk="0" indent="0" marL="0">
                        <a:buNone/>
                      </a:pPr>
                      <a:r>
                        <a:rPr lang="ko-KR" altLang="en-US" sz="1500" dirty="0">
                          <a:solidFill>
                            <a:schemeClr val="tx1"/>
                          </a:solidFill>
                        </a:rPr>
                        <a:t>400 · 404</a:t>
                      </a:r>
                      <a:endParaRPr lang="ko-KR" altLang="en-US" sz="1500" dirty="0"/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8" name="key-box"/>
          <p:cNvSpPr/>
          <p:nvPr/>
        </p:nvSpPr>
        <p:spPr>
          <a:xfrm>
            <a:off x="548640" y="5532120"/>
            <a:ext cx="11094415" cy="566928"/>
          </a:xfrm>
          <a:prstGeom prst="roundRect">
            <a:avLst>
              <a:gd name="adj" fmla="val 16129"/>
            </a:avLst>
          </a:prstGeom>
          <a:solidFill>
            <a:schemeClr val="tx2"/>
          </a:solidFill>
          <a:ln/>
        </p:spPr>
      </p:sp>
      <p:sp>
        <p:nvSpPr>
          <p:cNvPr id="9" name="key-dot"/>
          <p:cNvSpPr/>
          <p:nvPr/>
        </p:nvSpPr>
        <p:spPr>
          <a:xfrm>
            <a:off x="777240" y="5760720"/>
            <a:ext cx="109728" cy="10972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key-text"/>
          <p:cNvSpPr txBox="1"/>
          <p:nvPr/>
        </p:nvSpPr>
        <p:spPr>
          <a:xfrm>
            <a:off x="1005840" y="5532120"/>
            <a:ext cx="104543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altLang="en-US" sz="1500" b="1" dirty="0">
                <a:solidFill>
                  <a:schemeClr val="bg1"/>
                </a:solidFill>
              </a:rPr>
              <a:t>2xx = 성공 · 4xx = 요청이 잘못됨 · 5xx = 서버가 잘못됨</a:t>
            </a:r>
            <a:endParaRPr lang="ko-KR" alt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eaLnBrk="0" algn="r"/>
            <a:fld id="{F7021451-1387-4CA6-816F-3879F97B5CBC}" type="slidenum">
              <a:rPr b="0" lang="ko-KR" altLang="en-US"/>
              <a:t>5</a:t>
            </a:fld>
            <a:endParaRPr lang="ko-KR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-pill"/>
          <p:cNvSpPr/>
          <p:nvPr/>
        </p:nvSpPr>
        <p:spPr>
          <a:xfrm>
            <a:off x="548640" y="292608"/>
            <a:ext cx="2107692" cy="310896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</p:sp>
      <p:sp>
        <p:nvSpPr>
          <p:cNvPr id="3" name="tag-dot"/>
          <p:cNvSpPr/>
          <p:nvPr/>
        </p:nvSpPr>
        <p:spPr>
          <a:xfrm>
            <a:off x="676656" y="393192"/>
            <a:ext cx="109728" cy="10972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ag-text"/>
          <p:cNvSpPr txBox="1"/>
          <p:nvPr/>
        </p:nvSpPr>
        <p:spPr>
          <a:xfrm>
            <a:off x="841248" y="292608"/>
            <a:ext cx="17785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altLang="en-US" sz="1100" b="1" dirty="0">
                <a:solidFill>
                  <a:schemeClr val="tx1"/>
                </a:solidFill>
              </a:rPr>
              <a:t>02회차 · API 서버</a:t>
            </a:r>
            <a:endParaRPr lang="ko-KR" altLang="en-US" sz="11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548640" y="65836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b="1" dirty="0">
                <a:solidFill>
                  <a:schemeClr val="tx1"/>
                </a:solidFill>
              </a:rPr>
              <a:t>Fastify로 라우트 만들기</a:t>
            </a:r>
            <a:endParaRPr lang="ko-KR" altLang="en-US" sz="3200" dirty="0"/>
          </a:p>
        </p:txBody>
      </p:sp>
      <p:sp>
        <p:nvSpPr>
          <p:cNvPr id="7" name="code-explain"/>
          <p:cNvSpPr txBox="1"/>
          <p:nvPr/>
        </p:nvSpPr>
        <p:spPr>
          <a:xfrm>
            <a:off x="548640" y="1645920"/>
            <a:ext cx="416052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marL="228600" indent="-228600">
              <a:spcAft>
                <a:spcPts val="1200"/>
              </a:spcAft>
              <a:buSzPct val="100000"/>
              <a:buChar char="•"/>
            </a:pPr>
            <a:r>
              <a:rPr lang="ko-KR" altLang="en-US" sz="1600" dirty="0">
                <a:solidFill>
                  <a:schemeClr val="tx1"/>
                </a:solidFill>
              </a:rPr>
              <a:t>주소 + 메서드마다 처리 함수를 등록한다</a:t>
            </a:r>
            <a:endParaRPr lang="ko-KR" altLang="en-US" sz="1600" dirty="0"/>
          </a:p>
          <a:p>
            <a:pPr eaLnBrk="0" marL="228600" indent="-228600">
              <a:spcAft>
                <a:spcPts val="1200"/>
              </a:spcAft>
              <a:buSzPct val="100000"/>
              <a:buChar char="•"/>
            </a:pPr>
            <a:r>
              <a:rPr lang="ko-KR" altLang="en-US" sz="1600" dirty="0">
                <a:solidFill>
                  <a:schemeClr val="tx1"/>
                </a:solidFill>
              </a:rPr>
              <a:t>schema로 입력을 검사하면 잘못된 요청은 함수에 오기 전에 400으로 막힌다</a:t>
            </a:r>
            <a:endParaRPr lang="ko-KR" altLang="en-US" sz="1600" dirty="0"/>
          </a:p>
          <a:p>
            <a:pPr eaLnBrk="0" marL="228600" indent="-228600">
              <a:spcAft>
                <a:spcPts val="1200"/>
              </a:spcAft>
              <a:buSzPct val="100000"/>
              <a:buChar char="•"/>
            </a:pPr>
            <a:r>
              <a:rPr lang="ko-KR" altLang="en-US" sz="1600" dirty="0">
                <a:solidFill>
                  <a:schemeClr val="tx1"/>
                </a:solidFill>
              </a:rPr>
              <a:t>만들기 성공은 201 상태 코드로 알린다</a:t>
            </a:r>
            <a:endParaRPr lang="ko-KR" altLang="en-US" sz="1600" dirty="0"/>
          </a:p>
        </p:txBody>
      </p:sp>
      <p:sp>
        <p:nvSpPr>
          <p:cNvPr id="8" name="code-panel"/>
          <p:cNvSpPr/>
          <p:nvPr/>
        </p:nvSpPr>
        <p:spPr>
          <a:xfrm>
            <a:off x="5029200" y="1600200"/>
            <a:ext cx="6613855" cy="4572000"/>
          </a:xfrm>
          <a:prstGeom prst="roundRect">
            <a:avLst>
              <a:gd name="adj" fmla="val 2400"/>
            </a:avLst>
          </a:prstGeom>
          <a:solidFill>
            <a:schemeClr val="tx2"/>
          </a:solidFill>
          <a:ln/>
        </p:spPr>
      </p:sp>
      <p:sp>
        <p:nvSpPr>
          <p:cNvPr id="9" name="Shape 6"/>
          <p:cNvSpPr/>
          <p:nvPr/>
        </p:nvSpPr>
        <p:spPr>
          <a:xfrm>
            <a:off x="5303520" y="1874520"/>
            <a:ext cx="109728" cy="10972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code-file"/>
          <p:cNvSpPr txBox="1"/>
          <p:nvPr/>
        </p:nvSpPr>
        <p:spPr>
          <a:xfrm>
            <a:off x="5504688" y="1783080"/>
            <a:ext cx="58823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altLang="en-US" sz="1200" dirty="0">
                <a:solidFill>
                  <a:schemeClr val="bg2"/>
                </a:solidFill>
              </a:rPr>
              <a:t>apps/server/src/routes.ts</a:t>
            </a:r>
            <a:endParaRPr lang="ko-KR" altLang="en-US" sz="1200" dirty="0"/>
          </a:p>
        </p:txBody>
      </p:sp>
      <p:sp>
        <p:nvSpPr>
          <p:cNvPr id="11" name="code-text"/>
          <p:cNvSpPr txBox="1"/>
          <p:nvPr/>
        </p:nvSpPr>
        <p:spPr>
          <a:xfrm>
            <a:off x="5303520" y="2194560"/>
            <a:ext cx="6065215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13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app.post('/api/classrooms', {</a:t>
            </a:r>
            <a:endParaRPr lang="ko-KR" altLang="en-US" sz="1300" dirty="0"/>
          </a:p>
          <a:p>
            <a:pPr eaLnBrk="0" indent="0" marL="0">
              <a:buNone/>
            </a:pPr>
            <a:r>
              <a:rPr lang="ko-KR" altLang="en-US" sz="13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schema: {</a:t>
            </a:r>
            <a:endParaRPr lang="ko-KR" altLang="en-US" sz="1300" dirty="0"/>
          </a:p>
          <a:p>
            <a:pPr eaLnBrk="0" indent="0" marL="0">
              <a:buNone/>
            </a:pPr>
            <a:r>
              <a:rPr lang="ko-KR" altLang="en-US" sz="13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body: {</a:t>
            </a:r>
            <a:endParaRPr lang="ko-KR" altLang="en-US" sz="1300" dirty="0"/>
          </a:p>
          <a:p>
            <a:pPr eaLnBrk="0" indent="0" marL="0">
              <a:buNone/>
            </a:pPr>
            <a:r>
              <a:rPr lang="ko-KR" altLang="en-US" sz="13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type: 'object',</a:t>
            </a:r>
            <a:endParaRPr lang="ko-KR" altLang="en-US" sz="1300" dirty="0"/>
          </a:p>
          <a:p>
            <a:pPr eaLnBrk="0" indent="0" marL="0">
              <a:buNone/>
            </a:pPr>
            <a:r>
              <a:rPr lang="ko-KR" altLang="en-US" sz="13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required: ['title'],</a:t>
            </a:r>
            <a:endParaRPr lang="ko-KR" altLang="en-US" sz="1300" dirty="0"/>
          </a:p>
          <a:p>
            <a:pPr eaLnBrk="0" indent="0" marL="0">
              <a:buNone/>
            </a:pPr>
            <a:r>
              <a:rPr lang="ko-KR" altLang="en-US" sz="13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properties: {</a:t>
            </a:r>
            <a:endParaRPr lang="ko-KR" altLang="en-US" sz="1300" dirty="0"/>
          </a:p>
          <a:p>
            <a:pPr eaLnBrk="0" indent="0" marL="0">
              <a:buNone/>
            </a:pPr>
            <a:r>
              <a:rPr lang="ko-KR" altLang="en-US" sz="13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title: { type: 'string', minLength: 1, maxLength: 100 },</a:t>
            </a:r>
            <a:endParaRPr lang="ko-KR" altLang="en-US" sz="1300" dirty="0"/>
          </a:p>
          <a:p>
            <a:pPr eaLnBrk="0" indent="0" marL="0">
              <a:buNone/>
            </a:pPr>
            <a:r>
              <a:rPr lang="ko-KR" altLang="en-US" sz="13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},</a:t>
            </a:r>
            <a:endParaRPr lang="ko-KR" altLang="en-US" sz="1300" dirty="0"/>
          </a:p>
          <a:p>
            <a:pPr eaLnBrk="0" indent="0" marL="0">
              <a:buNone/>
            </a:pPr>
            <a:r>
              <a:rPr lang="ko-KR" altLang="en-US" sz="13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},</a:t>
            </a:r>
            <a:endParaRPr lang="ko-KR" altLang="en-US" sz="1300" dirty="0"/>
          </a:p>
          <a:p>
            <a:pPr eaLnBrk="0" indent="0" marL="0">
              <a:buNone/>
            </a:pPr>
            <a:r>
              <a:rPr lang="ko-KR" altLang="en-US" sz="13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},</a:t>
            </a:r>
            <a:endParaRPr lang="ko-KR" altLang="en-US" sz="1300" dirty="0"/>
          </a:p>
          <a:p>
            <a:pPr eaLnBrk="0" indent="0" marL="0">
              <a:buNone/>
            </a:pPr>
            <a:r>
              <a:rPr lang="ko-KR" altLang="en-US" sz="13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}, async (req, reply) =&gt; {</a:t>
            </a:r>
            <a:endParaRPr lang="ko-KR" altLang="en-US" sz="1300" dirty="0"/>
          </a:p>
          <a:p>
            <a:pPr eaLnBrk="0" indent="0" marL="0">
              <a:buNone/>
            </a:pPr>
            <a:r>
              <a:rPr lang="ko-KR" altLang="en-US" sz="13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classroom = classroomRepo.create({</a:t>
            </a:r>
            <a:endParaRPr lang="ko-KR" altLang="en-US" sz="1300" dirty="0"/>
          </a:p>
          <a:p>
            <a:pPr eaLnBrk="0" indent="0" marL="0">
              <a:buNone/>
            </a:pPr>
            <a:r>
              <a:rPr lang="ko-KR" altLang="en-US" sz="13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title: req.body.title.trim(),</a:t>
            </a:r>
            <a:endParaRPr lang="ko-KR" altLang="en-US" sz="1300" dirty="0"/>
          </a:p>
          <a:p>
            <a:pPr eaLnBrk="0" indent="0" marL="0">
              <a:buNone/>
            </a:pPr>
            <a:r>
              <a:rPr lang="ko-KR" altLang="en-US" sz="13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description: req.body.description ?? '',</a:t>
            </a:r>
            <a:endParaRPr lang="ko-KR" altLang="en-US" sz="1300" dirty="0"/>
          </a:p>
          <a:p>
            <a:pPr eaLnBrk="0" indent="0" marL="0">
              <a:buNone/>
            </a:pPr>
            <a:r>
              <a:rPr lang="ko-KR" altLang="en-US" sz="13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});</a:t>
            </a:r>
            <a:endParaRPr lang="ko-KR" altLang="en-US" sz="1300" dirty="0"/>
          </a:p>
          <a:p>
            <a:pPr eaLnBrk="0" indent="0" marL="0">
              <a:buNone/>
            </a:pPr>
            <a:r>
              <a:rPr lang="ko-KR" altLang="en-US" sz="13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reply.code(201).send(classroom);</a:t>
            </a:r>
            <a:endParaRPr lang="ko-KR" altLang="en-US" sz="1300" dirty="0"/>
          </a:p>
          <a:p>
            <a:pPr eaLnBrk="0" indent="0" marL="0">
              <a:buNone/>
            </a:pPr>
            <a:r>
              <a:rPr lang="ko-KR" altLang="en-US" sz="13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ko-KR" alt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eaLnBrk="0" algn="r"/>
            <a:fld id="{F7021451-1387-4CA6-816F-3879F97B5CBC}" type="slidenum">
              <a:rPr b="0" lang="ko-KR" altLang="en-US"/>
              <a:t>6</a:t>
            </a:fld>
            <a:endParaRPr lang="ko-KR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-pill"/>
          <p:cNvSpPr/>
          <p:nvPr/>
        </p:nvSpPr>
        <p:spPr>
          <a:xfrm>
            <a:off x="548640" y="292608"/>
            <a:ext cx="2107692" cy="310896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</p:sp>
      <p:sp>
        <p:nvSpPr>
          <p:cNvPr id="3" name="tag-dot"/>
          <p:cNvSpPr/>
          <p:nvPr/>
        </p:nvSpPr>
        <p:spPr>
          <a:xfrm>
            <a:off x="676656" y="393192"/>
            <a:ext cx="109728" cy="10972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ag-text"/>
          <p:cNvSpPr txBox="1"/>
          <p:nvPr/>
        </p:nvSpPr>
        <p:spPr>
          <a:xfrm>
            <a:off x="841248" y="292608"/>
            <a:ext cx="17785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altLang="en-US" sz="1100" b="1" dirty="0">
                <a:solidFill>
                  <a:schemeClr val="tx1"/>
                </a:solidFill>
              </a:rPr>
              <a:t>02회차 · API 서버</a:t>
            </a:r>
            <a:endParaRPr lang="ko-KR" altLang="en-US" sz="11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548640" y="65836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b="1" dirty="0">
                <a:solidFill>
                  <a:schemeClr val="tx1"/>
                </a:solidFill>
              </a:rPr>
              <a:t>SQLite에 저장하기</a:t>
            </a:r>
            <a:endParaRPr lang="ko-KR" altLang="en-US" sz="3200" dirty="0"/>
          </a:p>
        </p:txBody>
      </p:sp>
      <p:sp>
        <p:nvSpPr>
          <p:cNvPr id="7" name="code-explain"/>
          <p:cNvSpPr txBox="1"/>
          <p:nvPr/>
        </p:nvSpPr>
        <p:spPr>
          <a:xfrm>
            <a:off x="548640" y="1645920"/>
            <a:ext cx="416052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marL="228600" indent="-228600">
              <a:spcAft>
                <a:spcPts val="1200"/>
              </a:spcAft>
              <a:buSzPct val="100000"/>
              <a:buChar char="•"/>
            </a:pPr>
            <a:r>
              <a:rPr lang="ko-KR" altLang="en-US" sz="1600" dirty="0">
                <a:solidFill>
                  <a:schemeClr val="tx1"/>
                </a:solidFill>
              </a:rPr>
              <a:t>Node 24에는 SQLite가 기본으로 들어 있다 (설치 불필요)</a:t>
            </a:r>
            <a:endParaRPr lang="ko-KR" altLang="en-US" sz="1600" dirty="0"/>
          </a:p>
          <a:p>
            <a:pPr eaLnBrk="0" marL="228600" indent="-228600">
              <a:spcAft>
                <a:spcPts val="1200"/>
              </a:spcAft>
              <a:buSzPct val="100000"/>
              <a:buChar char="•"/>
            </a:pPr>
            <a:r>
              <a:rPr lang="ko-KR" altLang="en-US" sz="1600" dirty="0">
                <a:solidFill>
                  <a:schemeClr val="tx1"/>
                </a:solidFill>
              </a:rPr>
              <a:t>? 자리에 값을 넣으면 SQL 인젝션을 막을 수 있다</a:t>
            </a:r>
            <a:endParaRPr lang="ko-KR" altLang="en-US" sz="1600" dirty="0"/>
          </a:p>
          <a:p>
            <a:pPr eaLnBrk="0" marL="228600" indent="-228600">
              <a:spcAft>
                <a:spcPts val="1200"/>
              </a:spcAft>
              <a:buSzPct val="100000"/>
              <a:buChar char="•"/>
            </a:pPr>
            <a:r>
              <a:rPr lang="ko-KR" altLang="en-US" sz="1600" dirty="0">
                <a:solidFill>
                  <a:schemeClr val="tx1"/>
                </a:solidFill>
              </a:rPr>
              <a:t>RETURNING * 으로 저장된 행을 바로 돌려받는다</a:t>
            </a:r>
            <a:endParaRPr lang="ko-KR" altLang="en-US" sz="1600" dirty="0"/>
          </a:p>
        </p:txBody>
      </p:sp>
      <p:sp>
        <p:nvSpPr>
          <p:cNvPr id="8" name="code-panel"/>
          <p:cNvSpPr/>
          <p:nvPr/>
        </p:nvSpPr>
        <p:spPr>
          <a:xfrm>
            <a:off x="5029200" y="1600200"/>
            <a:ext cx="6613855" cy="4572000"/>
          </a:xfrm>
          <a:prstGeom prst="roundRect">
            <a:avLst>
              <a:gd name="adj" fmla="val 2400"/>
            </a:avLst>
          </a:prstGeom>
          <a:solidFill>
            <a:schemeClr val="tx2"/>
          </a:solidFill>
          <a:ln/>
        </p:spPr>
      </p:sp>
      <p:sp>
        <p:nvSpPr>
          <p:cNvPr id="9" name="Shape 6"/>
          <p:cNvSpPr/>
          <p:nvPr/>
        </p:nvSpPr>
        <p:spPr>
          <a:xfrm>
            <a:off x="5303520" y="1874520"/>
            <a:ext cx="109728" cy="10972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code-file"/>
          <p:cNvSpPr txBox="1"/>
          <p:nvPr/>
        </p:nvSpPr>
        <p:spPr>
          <a:xfrm>
            <a:off x="5504688" y="1783080"/>
            <a:ext cx="58823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altLang="en-US" sz="1200" dirty="0">
                <a:solidFill>
                  <a:schemeClr val="bg2"/>
                </a:solidFill>
              </a:rPr>
              <a:t>apps/server/src/db.ts · classrooms.ts</a:t>
            </a:r>
            <a:endParaRPr lang="ko-KR" altLang="en-US" sz="1200" dirty="0"/>
          </a:p>
        </p:txBody>
      </p:sp>
      <p:sp>
        <p:nvSpPr>
          <p:cNvPr id="11" name="code-text"/>
          <p:cNvSpPr txBox="1"/>
          <p:nvPr/>
        </p:nvSpPr>
        <p:spPr>
          <a:xfrm>
            <a:off x="5303520" y="2194560"/>
            <a:ext cx="6065215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13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{ DatabaseSync } from 'node:sqlite';</a:t>
            </a:r>
            <a:endParaRPr lang="ko-KR" altLang="en-US" sz="1300" dirty="0"/>
          </a:p>
          <a:p>
            <a:pPr eaLnBrk="0" indent="0" marL="0">
              <a:buNone/>
            </a:pPr>
            <a:r>
              <a:rPr lang="ko-KR" altLang="en-US" sz="13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ko-KR" altLang="en-US" sz="1300" dirty="0"/>
          </a:p>
          <a:p>
            <a:pPr eaLnBrk="0" indent="0" marL="0">
              <a:buNone/>
            </a:pPr>
            <a:r>
              <a:rPr lang="ko-KR" altLang="en-US" sz="13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db = new DatabaseSync('data/app.db');</a:t>
            </a:r>
            <a:endParaRPr lang="ko-KR" altLang="en-US" sz="1300" dirty="0"/>
          </a:p>
          <a:p>
            <a:pPr eaLnBrk="0" indent="0" marL="0">
              <a:buNone/>
            </a:pPr>
            <a:r>
              <a:rPr lang="ko-KR" altLang="en-US" sz="13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ko-KR" altLang="en-US" sz="1300" dirty="0"/>
          </a:p>
          <a:p>
            <a:pPr eaLnBrk="0" indent="0" marL="0">
              <a:buNone/>
            </a:pPr>
            <a:r>
              <a:rPr lang="ko-KR" altLang="en-US" sz="13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db.exec(`</a:t>
            </a:r>
            <a:endParaRPr lang="ko-KR" altLang="en-US" sz="1300" dirty="0"/>
          </a:p>
          <a:p>
            <a:pPr eaLnBrk="0" indent="0" marL="0">
              <a:buNone/>
            </a:pPr>
            <a:r>
              <a:rPr lang="ko-KR" altLang="en-US" sz="13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CREATE TABLE IF NOT EXISTS classrooms (</a:t>
            </a:r>
            <a:endParaRPr lang="ko-KR" altLang="en-US" sz="1300" dirty="0"/>
          </a:p>
          <a:p>
            <a:pPr eaLnBrk="0" indent="0" marL="0">
              <a:buNone/>
            </a:pPr>
            <a:r>
              <a:rPr lang="ko-KR" altLang="en-US" sz="13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id         TEXT PRIMARY KEY,</a:t>
            </a:r>
            <a:endParaRPr lang="ko-KR" altLang="en-US" sz="1300" dirty="0"/>
          </a:p>
          <a:p>
            <a:pPr eaLnBrk="0" indent="0" marL="0">
              <a:buNone/>
            </a:pPr>
            <a:r>
              <a:rPr lang="ko-KR" altLang="en-US" sz="13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title      TEXT NOT NULL,</a:t>
            </a:r>
            <a:endParaRPr lang="ko-KR" altLang="en-US" sz="1300" dirty="0"/>
          </a:p>
          <a:p>
            <a:pPr eaLnBrk="0" indent="0" marL="0">
              <a:buNone/>
            </a:pPr>
            <a:r>
              <a:rPr lang="ko-KR" altLang="en-US" sz="13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created_at TEXT NOT NULL</a:t>
            </a:r>
            <a:endParaRPr lang="ko-KR" altLang="en-US" sz="1300" dirty="0"/>
          </a:p>
          <a:p>
            <a:pPr eaLnBrk="0" indent="0" marL="0">
              <a:buNone/>
            </a:pPr>
            <a:r>
              <a:rPr lang="ko-KR" altLang="en-US" sz="13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)`);</a:t>
            </a:r>
            <a:endParaRPr lang="ko-KR" altLang="en-US" sz="1300" dirty="0"/>
          </a:p>
          <a:p>
            <a:pPr eaLnBrk="0" indent="0" marL="0">
              <a:buNone/>
            </a:pPr>
            <a:r>
              <a:rPr lang="ko-KR" altLang="en-US" sz="13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ko-KR" altLang="en-US" sz="1300" dirty="0"/>
          </a:p>
          <a:p>
            <a:pPr eaLnBrk="0" indent="0" marL="0">
              <a:buNone/>
            </a:pPr>
            <a:r>
              <a:rPr lang="ko-KR" altLang="en-US" sz="130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? 자리에 값이 안전하게 들어간다</a:t>
            </a:r>
            <a:endParaRPr lang="ko-KR" altLang="en-US" sz="1300" dirty="0"/>
          </a:p>
          <a:p>
            <a:pPr eaLnBrk="0" indent="0" marL="0">
              <a:buNone/>
            </a:pPr>
            <a:r>
              <a:rPr lang="ko-KR" altLang="en-US" sz="13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row = db.prepare(</a:t>
            </a:r>
            <a:endParaRPr lang="ko-KR" altLang="en-US" sz="1300" dirty="0"/>
          </a:p>
          <a:p>
            <a:pPr eaLnBrk="0" indent="0" marL="0">
              <a:buNone/>
            </a:pPr>
            <a:r>
              <a:rPr lang="ko-KR" altLang="en-US" sz="13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`INSERT INTO classrooms (id, title, created_at)</a:t>
            </a:r>
            <a:endParaRPr lang="ko-KR" altLang="en-US" sz="1300" dirty="0"/>
          </a:p>
          <a:p>
            <a:pPr eaLnBrk="0" indent="0" marL="0">
              <a:buNone/>
            </a:pPr>
            <a:r>
              <a:rPr lang="ko-KR" altLang="en-US" sz="13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VALUES (?, ?, ?) RETURNING *`,</a:t>
            </a:r>
            <a:endParaRPr lang="ko-KR" altLang="en-US" sz="1300" dirty="0"/>
          </a:p>
          <a:p>
            <a:pPr eaLnBrk="0" indent="0" marL="0">
              <a:buNone/>
            </a:pPr>
            <a:r>
              <a:rPr lang="ko-KR" altLang="en-US" sz="13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).get(id, title, new Date().toISOString());</a:t>
            </a:r>
            <a:endParaRPr lang="ko-KR" alt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eaLnBrk="0" algn="r"/>
            <a:fld id="{F7021451-1387-4CA6-816F-3879F97B5CBC}" type="slidenum">
              <a:rPr b="0" lang="ko-KR" altLang="en-US"/>
              <a:t>7</a:t>
            </a:fld>
            <a:endParaRPr lang="ko-KR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-pill"/>
          <p:cNvSpPr/>
          <p:nvPr/>
        </p:nvSpPr>
        <p:spPr>
          <a:xfrm>
            <a:off x="548640" y="292608"/>
            <a:ext cx="2107692" cy="310896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</p:sp>
      <p:sp>
        <p:nvSpPr>
          <p:cNvPr id="3" name="tag-dot"/>
          <p:cNvSpPr/>
          <p:nvPr/>
        </p:nvSpPr>
        <p:spPr>
          <a:xfrm>
            <a:off x="676656" y="393192"/>
            <a:ext cx="109728" cy="10972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ag-text"/>
          <p:cNvSpPr txBox="1"/>
          <p:nvPr/>
        </p:nvSpPr>
        <p:spPr>
          <a:xfrm>
            <a:off x="841248" y="292608"/>
            <a:ext cx="17785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altLang="en-US" sz="1100" b="1" dirty="0">
                <a:solidFill>
                  <a:schemeClr val="tx1"/>
                </a:solidFill>
              </a:rPr>
              <a:t>02회차 · API 서버</a:t>
            </a:r>
            <a:endParaRPr lang="ko-KR" altLang="en-US" sz="11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548640" y="65836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b="1" dirty="0">
                <a:solidFill>
                  <a:schemeClr val="tx1"/>
                </a:solidFill>
              </a:rPr>
              <a:t>타입을 서버와 화면이 함께 쓰기</a:t>
            </a:r>
            <a:endParaRPr lang="ko-KR" altLang="en-US" sz="3200" dirty="0"/>
          </a:p>
        </p:txBody>
      </p:sp>
      <p:sp>
        <p:nvSpPr>
          <p:cNvPr id="7" name="code-explain"/>
          <p:cNvSpPr txBox="1"/>
          <p:nvPr/>
        </p:nvSpPr>
        <p:spPr>
          <a:xfrm>
            <a:off x="548640" y="1645920"/>
            <a:ext cx="416052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marL="228600" indent="-228600">
              <a:spcAft>
                <a:spcPts val="1200"/>
              </a:spcAft>
              <a:buSzPct val="100000"/>
              <a:buChar char="•"/>
            </a:pPr>
            <a:r>
              <a:rPr lang="ko-KR" altLang="en-US" sz="1600" dirty="0">
                <a:solidFill>
                  <a:schemeClr val="tx1"/>
                </a:solidFill>
              </a:rPr>
              <a:t>packages/shared 에 데이터 모양을 한 번만 정의한다</a:t>
            </a:r>
            <a:endParaRPr lang="ko-KR" altLang="en-US" sz="1600" dirty="0"/>
          </a:p>
          <a:p>
            <a:pPr eaLnBrk="0" marL="228600" indent="-228600">
              <a:spcAft>
                <a:spcPts val="1200"/>
              </a:spcAft>
              <a:buSzPct val="100000"/>
              <a:buChar char="•"/>
            </a:pPr>
            <a:r>
              <a:rPr lang="ko-KR" altLang="en-US" sz="1600" dirty="0">
                <a:solidFill>
                  <a:schemeClr val="tx1"/>
                </a:solidFill>
              </a:rPr>
              <a:t>서버가 필드 이름을 바꾸면 화면 코드에서 바로 빨간 줄이 생긴다</a:t>
            </a:r>
            <a:endParaRPr lang="ko-KR" altLang="en-US" sz="1600" dirty="0"/>
          </a:p>
          <a:p>
            <a:pPr eaLnBrk="0" marL="228600" indent="-228600">
              <a:spcAft>
                <a:spcPts val="1200"/>
              </a:spcAft>
              <a:buSzPct val="100000"/>
              <a:buChar char="•"/>
            </a:pPr>
            <a:r>
              <a:rPr lang="ko-KR" altLang="en-US" sz="1600" dirty="0">
                <a:solidFill>
                  <a:schemeClr val="tx1"/>
                </a:solidFill>
              </a:rPr>
              <a:t>런타임이 아니라 편집할 때 실수를 잡는다</a:t>
            </a:r>
            <a:endParaRPr lang="ko-KR" altLang="en-US" sz="1600" dirty="0"/>
          </a:p>
        </p:txBody>
      </p:sp>
      <p:sp>
        <p:nvSpPr>
          <p:cNvPr id="8" name="code-panel"/>
          <p:cNvSpPr/>
          <p:nvPr/>
        </p:nvSpPr>
        <p:spPr>
          <a:xfrm>
            <a:off x="5029200" y="1600200"/>
            <a:ext cx="6613855" cy="4572000"/>
          </a:xfrm>
          <a:prstGeom prst="roundRect">
            <a:avLst>
              <a:gd name="adj" fmla="val 2400"/>
            </a:avLst>
          </a:prstGeom>
          <a:solidFill>
            <a:schemeClr val="tx2"/>
          </a:solidFill>
          <a:ln/>
        </p:spPr>
      </p:sp>
      <p:sp>
        <p:nvSpPr>
          <p:cNvPr id="9" name="Shape 6"/>
          <p:cNvSpPr/>
          <p:nvPr/>
        </p:nvSpPr>
        <p:spPr>
          <a:xfrm>
            <a:off x="5303520" y="1874520"/>
            <a:ext cx="109728" cy="10972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code-file"/>
          <p:cNvSpPr txBox="1"/>
          <p:nvPr/>
        </p:nvSpPr>
        <p:spPr>
          <a:xfrm>
            <a:off x="5504688" y="1783080"/>
            <a:ext cx="58823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altLang="en-US" sz="1200" dirty="0">
                <a:solidFill>
                  <a:schemeClr val="bg2"/>
                </a:solidFill>
              </a:rPr>
              <a:t>packages/shared/src/index.ts</a:t>
            </a:r>
            <a:endParaRPr lang="ko-KR" altLang="en-US" sz="1200" dirty="0"/>
          </a:p>
        </p:txBody>
      </p:sp>
      <p:sp>
        <p:nvSpPr>
          <p:cNvPr id="11" name="code-text"/>
          <p:cNvSpPr txBox="1"/>
          <p:nvPr/>
        </p:nvSpPr>
        <p:spPr>
          <a:xfrm>
            <a:off x="5303520" y="2194560"/>
            <a:ext cx="6065215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130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packages/shared/src/index.ts</a:t>
            </a:r>
            <a:endParaRPr lang="ko-KR" altLang="en-US" sz="1300" dirty="0"/>
          </a:p>
          <a:p>
            <a:pPr eaLnBrk="0" indent="0" marL="0">
              <a:buNone/>
            </a:pPr>
            <a:r>
              <a:rPr lang="ko-KR" altLang="en-US" sz="13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 interface Classroom {</a:t>
            </a:r>
            <a:endParaRPr lang="ko-KR" altLang="en-US" sz="1300" dirty="0"/>
          </a:p>
          <a:p>
            <a:pPr eaLnBrk="0" indent="0" marL="0">
              <a:buNone/>
            </a:pPr>
            <a:r>
              <a:rPr lang="ko-KR" altLang="en-US" sz="13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id: string;</a:t>
            </a:r>
            <a:endParaRPr lang="ko-KR" altLang="en-US" sz="1300" dirty="0"/>
          </a:p>
          <a:p>
            <a:pPr eaLnBrk="0" indent="0" marL="0">
              <a:buNone/>
            </a:pPr>
            <a:r>
              <a:rPr lang="ko-KR" altLang="en-US" sz="13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title: string;</a:t>
            </a:r>
            <a:endParaRPr lang="ko-KR" altLang="en-US" sz="1300" dirty="0"/>
          </a:p>
          <a:p>
            <a:pPr eaLnBrk="0" indent="0" marL="0">
              <a:buNone/>
            </a:pPr>
            <a:r>
              <a:rPr lang="ko-KR" altLang="en-US" sz="13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description: string;</a:t>
            </a:r>
            <a:endParaRPr lang="ko-KR" altLang="en-US" sz="1300" dirty="0"/>
          </a:p>
          <a:p>
            <a:pPr eaLnBrk="0" indent="0" marL="0">
              <a:buNone/>
            </a:pPr>
            <a:r>
              <a:rPr lang="ko-KR" altLang="en-US" sz="13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mediaPath: string; // classroom/&lt;id&gt;</a:t>
            </a:r>
            <a:endParaRPr lang="ko-KR" altLang="en-US" sz="1300" dirty="0"/>
          </a:p>
          <a:p>
            <a:pPr eaLnBrk="0" indent="0" marL="0">
              <a:buNone/>
            </a:pPr>
            <a:r>
              <a:rPr lang="ko-KR" altLang="en-US" sz="13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ko-KR" altLang="en-US" sz="1300" dirty="0"/>
          </a:p>
          <a:p>
            <a:pPr eaLnBrk="0" indent="0" marL="0">
              <a:buNone/>
            </a:pPr>
            <a:r>
              <a:rPr lang="ko-KR" altLang="en-US" sz="13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ko-KR" altLang="en-US" sz="1300" dirty="0"/>
          </a:p>
          <a:p>
            <a:pPr eaLnBrk="0" indent="0" marL="0">
              <a:buNone/>
            </a:pPr>
            <a:r>
              <a:rPr lang="ko-KR" altLang="en-US" sz="13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 interface ClassroomWithLive extends Classroom {</a:t>
            </a:r>
            <a:endParaRPr lang="ko-KR" altLang="en-US" sz="1300" dirty="0"/>
          </a:p>
          <a:p>
            <a:pPr eaLnBrk="0" indent="0" marL="0">
              <a:buNone/>
            </a:pPr>
            <a:r>
              <a:rPr lang="ko-KR" altLang="en-US" sz="13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live: { status: 'idle' | 'live'; viewers: number };</a:t>
            </a:r>
            <a:endParaRPr lang="ko-KR" altLang="en-US" sz="1300" dirty="0"/>
          </a:p>
          <a:p>
            <a:pPr eaLnBrk="0" indent="0" marL="0">
              <a:buNone/>
            </a:pPr>
            <a:r>
              <a:rPr lang="ko-KR" altLang="en-US" sz="13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ko-KR" altLang="en-US" sz="1300" dirty="0"/>
          </a:p>
          <a:p>
            <a:pPr eaLnBrk="0" indent="0" marL="0">
              <a:buNone/>
            </a:pPr>
            <a:r>
              <a:rPr lang="ko-KR" altLang="en-US" sz="13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ko-KR" altLang="en-US" sz="1300" dirty="0"/>
          </a:p>
          <a:p>
            <a:pPr eaLnBrk="0" indent="0" marL="0">
              <a:buNone/>
            </a:pPr>
            <a:r>
              <a:rPr lang="ko-KR" altLang="en-US" sz="1300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apps/server 와 apps/web 양쪽에서</a:t>
            </a:r>
            <a:endParaRPr lang="ko-KR" altLang="en-US" sz="1300" dirty="0"/>
          </a:p>
          <a:p>
            <a:pPr eaLnBrk="0" indent="0" marL="0">
              <a:buNone/>
            </a:pPr>
            <a:r>
              <a:rPr lang="ko-KR" altLang="en-US" sz="13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type { Classroom } from '@streaming/shared';</a:t>
            </a:r>
            <a:endParaRPr lang="ko-KR" alt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eaLnBrk="0" algn="r"/>
            <a:fld id="{F7021451-1387-4CA6-816F-3879F97B5CBC}" type="slidenum">
              <a:rPr b="0" lang="ko-KR" altLang="en-US"/>
              <a:t>8</a:t>
            </a:fld>
            <a:endParaRPr lang="ko-KR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-pill"/>
          <p:cNvSpPr/>
          <p:nvPr/>
        </p:nvSpPr>
        <p:spPr>
          <a:xfrm>
            <a:off x="548640" y="292608"/>
            <a:ext cx="2107692" cy="310896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</p:sp>
      <p:sp>
        <p:nvSpPr>
          <p:cNvPr id="3" name="tag-dot"/>
          <p:cNvSpPr/>
          <p:nvPr/>
        </p:nvSpPr>
        <p:spPr>
          <a:xfrm>
            <a:off x="676656" y="393192"/>
            <a:ext cx="109728" cy="10972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ag-text"/>
          <p:cNvSpPr txBox="1"/>
          <p:nvPr/>
        </p:nvSpPr>
        <p:spPr>
          <a:xfrm>
            <a:off x="841248" y="292608"/>
            <a:ext cx="17785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altLang="en-US" sz="1100" b="1" dirty="0">
                <a:solidFill>
                  <a:schemeClr val="tx1"/>
                </a:solidFill>
              </a:rPr>
              <a:t>02회차 · API 서버</a:t>
            </a:r>
            <a:endParaRPr lang="ko-KR" altLang="en-US" sz="11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548640" y="65836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b="1" dirty="0">
                <a:solidFill>
                  <a:schemeClr val="tx1"/>
                </a:solidFill>
              </a:rPr>
              <a:t>실습: 강의실 API 만들기</a:t>
            </a:r>
            <a:endParaRPr lang="ko-KR" altLang="en-US" sz="3200" dirty="0"/>
          </a:p>
        </p:txBody>
      </p:sp>
      <p:sp>
        <p:nvSpPr>
          <p:cNvPr id="7" name="num-1"/>
          <p:cNvSpPr/>
          <p:nvPr/>
        </p:nvSpPr>
        <p:spPr>
          <a:xfrm>
            <a:off x="548640" y="1709928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548640" y="17099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400" b="1" dirty="0">
                <a:solidFill>
                  <a:schemeClr val="bg1"/>
                </a:solidFill>
              </a:rPr>
              <a:t>1</a:t>
            </a:r>
            <a:endParaRPr lang="ko-KR" alt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1143000" y="1600200"/>
            <a:ext cx="6355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altLang="en-US" sz="1600" dirty="0">
                <a:solidFill>
                  <a:schemeClr val="tx1"/>
                </a:solidFill>
              </a:rPr>
              <a:t>db.ts 에 classrooms 테이블을 만든다</a:t>
            </a:r>
            <a:endParaRPr lang="ko-KR" altLang="en-US" sz="1600" dirty="0"/>
          </a:p>
        </p:txBody>
      </p:sp>
      <p:sp>
        <p:nvSpPr>
          <p:cNvPr id="10" name="num-2"/>
          <p:cNvSpPr/>
          <p:nvPr/>
        </p:nvSpPr>
        <p:spPr>
          <a:xfrm>
            <a:off x="548640" y="2313432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548640" y="23134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400" b="1" dirty="0">
                <a:solidFill>
                  <a:schemeClr val="bg1"/>
                </a:solidFill>
              </a:rPr>
              <a:t>2</a:t>
            </a:r>
            <a:endParaRPr lang="ko-KR" alt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1143000" y="2203704"/>
            <a:ext cx="6355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altLang="en-US" sz="1600" dirty="0">
                <a:solidFill>
                  <a:schemeClr val="tx1"/>
                </a:solidFill>
              </a:rPr>
              <a:t>classrooms.ts 에 list · create · remove 를 작성한다</a:t>
            </a:r>
            <a:endParaRPr lang="ko-KR" altLang="en-US" sz="1600" dirty="0"/>
          </a:p>
        </p:txBody>
      </p:sp>
      <p:sp>
        <p:nvSpPr>
          <p:cNvPr id="13" name="num-3"/>
          <p:cNvSpPr/>
          <p:nvPr/>
        </p:nvSpPr>
        <p:spPr>
          <a:xfrm>
            <a:off x="548640" y="2916936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548640" y="2916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400" b="1" dirty="0">
                <a:solidFill>
                  <a:schemeClr val="bg1"/>
                </a:solidFill>
              </a:rPr>
              <a:t>3</a:t>
            </a:r>
            <a:endParaRPr lang="ko-KR" alt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1143000" y="2807208"/>
            <a:ext cx="6355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altLang="en-US" sz="1600" dirty="0">
                <a:solidFill>
                  <a:schemeClr val="tx1"/>
                </a:solidFill>
              </a:rPr>
              <a:t>routes.ts 에 GET · POST · DELETE 라우트를 등록한다</a:t>
            </a:r>
            <a:endParaRPr lang="ko-KR" altLang="en-US" sz="1600" dirty="0"/>
          </a:p>
        </p:txBody>
      </p:sp>
      <p:sp>
        <p:nvSpPr>
          <p:cNvPr id="16" name="num-4"/>
          <p:cNvSpPr/>
          <p:nvPr/>
        </p:nvSpPr>
        <p:spPr>
          <a:xfrm>
            <a:off x="548640" y="352044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548640" y="3520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400" b="1" dirty="0">
                <a:solidFill>
                  <a:schemeClr val="bg1"/>
                </a:solidFill>
              </a:rPr>
              <a:t>4</a:t>
            </a:r>
            <a:endParaRPr lang="ko-KR" alt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1143000" y="3410712"/>
            <a:ext cx="6355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altLang="en-US" sz="1600" dirty="0">
                <a:solidFill>
                  <a:schemeClr val="tx1"/>
                </a:solidFill>
              </a:rPr>
              <a:t>브라우저 콘솔에서 fetch 로 강의실을 만든다</a:t>
            </a:r>
            <a:endParaRPr lang="ko-KR" altLang="en-US" sz="1600" dirty="0"/>
          </a:p>
        </p:txBody>
      </p:sp>
      <p:sp>
        <p:nvSpPr>
          <p:cNvPr id="19" name="num-5"/>
          <p:cNvSpPr/>
          <p:nvPr/>
        </p:nvSpPr>
        <p:spPr>
          <a:xfrm>
            <a:off x="548640" y="4123944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548640" y="41239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400" b="1" dirty="0">
                <a:solidFill>
                  <a:schemeClr val="bg1"/>
                </a:solidFill>
              </a:rPr>
              <a:t>5</a:t>
            </a:r>
            <a:endParaRPr lang="ko-KR" alt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1143000" y="4014216"/>
            <a:ext cx="6355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altLang="en-US" sz="1600" dirty="0">
                <a:solidFill>
                  <a:schemeClr val="tx1"/>
                </a:solidFill>
              </a:rPr>
              <a:t>빈 제목으로 보내서 400이 오는지 확인한다</a:t>
            </a:r>
            <a:endParaRPr lang="ko-KR" altLang="en-US" sz="1600" dirty="0"/>
          </a:p>
        </p:txBody>
      </p:sp>
      <p:sp>
        <p:nvSpPr>
          <p:cNvPr id="22" name="num-6"/>
          <p:cNvSpPr/>
          <p:nvPr/>
        </p:nvSpPr>
        <p:spPr>
          <a:xfrm>
            <a:off x="548640" y="4727448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548640" y="47274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400" b="1" dirty="0">
                <a:solidFill>
                  <a:schemeClr val="bg1"/>
                </a:solidFill>
              </a:rPr>
              <a:t>6</a:t>
            </a:r>
            <a:endParaRPr lang="ko-KR" altLang="en-US" sz="1400" dirty="0"/>
          </a:p>
        </p:txBody>
      </p:sp>
      <p:sp>
        <p:nvSpPr>
          <p:cNvPr id="24" name="Text 21"/>
          <p:cNvSpPr txBox="1"/>
          <p:nvPr/>
        </p:nvSpPr>
        <p:spPr>
          <a:xfrm>
            <a:off x="1143000" y="4617720"/>
            <a:ext cx="6355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altLang="en-US" sz="1600" dirty="0">
                <a:solidFill>
                  <a:schemeClr val="tx1"/>
                </a:solidFill>
              </a:rPr>
              <a:t>Network 탭에서 상태 코드를 확인한다</a:t>
            </a:r>
            <a:endParaRPr lang="ko-KR" altLang="en-US" sz="1600" dirty="0"/>
          </a:p>
        </p:txBody>
      </p:sp>
      <p:sp>
        <p:nvSpPr>
          <p:cNvPr id="25" name="lab-done"/>
          <p:cNvSpPr/>
          <p:nvPr/>
        </p:nvSpPr>
        <p:spPr>
          <a:xfrm>
            <a:off x="7863840" y="1600200"/>
            <a:ext cx="3779215" cy="4572000"/>
          </a:xfrm>
          <a:prstGeom prst="roundRect">
            <a:avLst>
              <a:gd name="adj" fmla="val 2903"/>
            </a:avLst>
          </a:prstGeom>
          <a:solidFill>
            <a:schemeClr val="bg2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8138160" y="1828800"/>
            <a:ext cx="323057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altLang="en-US" sz="1800" b="1" dirty="0">
                <a:solidFill>
                  <a:schemeClr val="tx1"/>
                </a:solidFill>
              </a:rPr>
              <a:t>완성 기준</a:t>
            </a:r>
            <a:endParaRPr lang="ko-KR" altLang="en-US" sz="1800" dirty="0"/>
          </a:p>
        </p:txBody>
      </p:sp>
      <p:sp>
        <p:nvSpPr>
          <p:cNvPr id="27" name="Text 24"/>
          <p:cNvSpPr txBox="1"/>
          <p:nvPr/>
        </p:nvSpPr>
        <p:spPr>
          <a:xfrm>
            <a:off x="8138160" y="1828800"/>
            <a:ext cx="323057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r" indent="0" marL="0">
              <a:buNone/>
            </a:pPr>
            <a:r>
              <a:rPr lang="ko-KR" altLang="en-US" sz="1300" b="1" dirty="0">
                <a:solidFill>
                  <a:schemeClr val="accent1"/>
                </a:solidFill>
              </a:rPr>
              <a:t>실습 45분</a:t>
            </a:r>
            <a:endParaRPr lang="ko-KR" altLang="en-US" sz="1300" dirty="0"/>
          </a:p>
        </p:txBody>
      </p:sp>
      <p:sp>
        <p:nvSpPr>
          <p:cNvPr id="28" name="Text 25"/>
          <p:cNvSpPr txBox="1"/>
          <p:nvPr/>
        </p:nvSpPr>
        <p:spPr>
          <a:xfrm>
            <a:off x="8138160" y="2423160"/>
            <a:ext cx="3230575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marL="254000" indent="-254000">
              <a:spcAft>
                <a:spcPts val="1000"/>
              </a:spcAft>
              <a:buSzPct val="100000"/>
              <a:buChar char="✓"/>
            </a:pPr>
            <a:r>
              <a:rPr lang="ko-KR" altLang="en-US" sz="1500" dirty="0">
                <a:solidFill>
                  <a:schemeClr val="tx1"/>
                </a:solidFill>
              </a:rPr>
              <a:t>GET 으로 목록이 JSON 배열로 온다</a:t>
            </a:r>
            <a:endParaRPr lang="ko-KR" altLang="en-US" sz="1500" dirty="0"/>
          </a:p>
          <a:p>
            <a:pPr eaLnBrk="0" marL="254000" indent="-254000">
              <a:spcAft>
                <a:spcPts val="1000"/>
              </a:spcAft>
              <a:buSzPct val="100000"/>
              <a:buChar char="✓"/>
            </a:pPr>
            <a:r>
              <a:rPr lang="ko-KR" altLang="en-US" sz="1500" dirty="0">
                <a:solidFill>
                  <a:schemeClr val="tx1"/>
                </a:solidFill>
              </a:rPr>
              <a:t>POST 가 201과 새 강의실을 돌려준다</a:t>
            </a:r>
            <a:endParaRPr lang="ko-KR" altLang="en-US" sz="1500" dirty="0"/>
          </a:p>
          <a:p>
            <a:pPr eaLnBrk="0" marL="254000" indent="-254000">
              <a:spcAft>
                <a:spcPts val="1000"/>
              </a:spcAft>
              <a:buSzPct val="100000"/>
              <a:buChar char="✓"/>
            </a:pPr>
            <a:r>
              <a:rPr lang="ko-KR" altLang="en-US" sz="1500" dirty="0">
                <a:solidFill>
                  <a:schemeClr val="tx1"/>
                </a:solidFill>
              </a:rPr>
              <a:t>빈 제목은 400으로 거부된다</a:t>
            </a:r>
            <a:endParaRPr lang="ko-KR" altLang="en-US" sz="1500" dirty="0"/>
          </a:p>
          <a:p>
            <a:pPr eaLnBrk="0" marL="254000" indent="-254000">
              <a:spcAft>
                <a:spcPts val="1000"/>
              </a:spcAft>
              <a:buSzPct val="100000"/>
              <a:buChar char="✓"/>
            </a:pPr>
            <a:r>
              <a:rPr lang="ko-KR" altLang="en-US" sz="1500" dirty="0">
                <a:solidFill>
                  <a:schemeClr val="tx1"/>
                </a:solidFill>
              </a:rPr>
              <a:t>DELETE 후 목록에서 사라진다</a:t>
            </a:r>
            <a:endParaRPr lang="ko-KR" alt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eaLnBrk="0" algn="r"/>
            <a:fld id="{F7021451-1387-4CA6-816F-3879F97B5CBC}" type="slidenum">
              <a:rPr b="0" lang="ko-KR" altLang="en-US"/>
              <a:t>9</a:t>
            </a:fld>
            <a:endParaRPr lang="ko-KR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-pill"/>
          <p:cNvSpPr/>
          <p:nvPr/>
        </p:nvSpPr>
        <p:spPr>
          <a:xfrm>
            <a:off x="548640" y="292608"/>
            <a:ext cx="2107692" cy="310896"/>
          </a:xfrm>
          <a:prstGeom prst="roundRect">
            <a:avLst>
              <a:gd name="adj" fmla="val 50000"/>
            </a:avLst>
          </a:prstGeom>
          <a:solidFill>
            <a:schemeClr val="bg1">
              <a:alpha val="12000"/>
            </a:schemeClr>
          </a:solidFill>
          <a:ln/>
        </p:spPr>
      </p:sp>
      <p:sp>
        <p:nvSpPr>
          <p:cNvPr id="3" name="tag-dot"/>
          <p:cNvSpPr/>
          <p:nvPr/>
        </p:nvSpPr>
        <p:spPr>
          <a:xfrm>
            <a:off x="676656" y="393192"/>
            <a:ext cx="109728" cy="10972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ag-text"/>
          <p:cNvSpPr txBox="1"/>
          <p:nvPr/>
        </p:nvSpPr>
        <p:spPr>
          <a:xfrm>
            <a:off x="841248" y="292608"/>
            <a:ext cx="17785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altLang="en-US" sz="1100" b="1" dirty="0">
                <a:solidFill>
                  <a:schemeClr val="bg1"/>
                </a:solidFill>
              </a:rPr>
              <a:t>02회차 · API 서버</a:t>
            </a:r>
            <a:endParaRPr lang="ko-KR" altLang="en-US" sz="11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548640" y="65836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b="1" dirty="0">
                <a:solidFill>
                  <a:schemeClr val="bg1"/>
                </a:solidFill>
              </a:rPr>
              <a:t>오늘의 정리</a:t>
            </a:r>
            <a:endParaRPr lang="ko-KR" altLang="en-US" sz="32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60020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altLang="en-US" sz="1400" b="1" dirty="0">
                <a:solidFill>
                  <a:schemeClr val="accent1"/>
                </a:solidFill>
              </a:rPr>
              <a:t>꼭 기억할 것</a:t>
            </a:r>
            <a:endParaRPr lang="ko-KR" altLang="en-US" sz="1400" dirty="0"/>
          </a:p>
        </p:txBody>
      </p:sp>
      <p:sp>
        <p:nvSpPr>
          <p:cNvPr id="8" name="num-1"/>
          <p:cNvSpPr/>
          <p:nvPr/>
        </p:nvSpPr>
        <p:spPr>
          <a:xfrm>
            <a:off x="548640" y="214884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548640" y="2148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400" b="1" dirty="0">
                <a:solidFill>
                  <a:schemeClr val="bg1"/>
                </a:solidFill>
              </a:rPr>
              <a:t>1</a:t>
            </a:r>
            <a:endParaRPr lang="ko-KR" alt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1234440" y="2057400"/>
            <a:ext cx="4983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1700" dirty="0">
                <a:solidFill>
                  <a:schemeClr val="bg1"/>
                </a:solidFill>
              </a:rPr>
              <a:t>모노레포: 서버·화면·공유 타입을 한 저장소에서 함께 관리</a:t>
            </a:r>
            <a:endParaRPr lang="ko-KR" altLang="en-US" sz="1700" dirty="0"/>
          </a:p>
        </p:txBody>
      </p:sp>
      <p:sp>
        <p:nvSpPr>
          <p:cNvPr id="11" name="num-2"/>
          <p:cNvSpPr/>
          <p:nvPr/>
        </p:nvSpPr>
        <p:spPr>
          <a:xfrm>
            <a:off x="548640" y="342900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548640" y="3429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400" b="1" dirty="0">
                <a:solidFill>
                  <a:schemeClr val="bg1"/>
                </a:solidFill>
              </a:rPr>
              <a:t>2</a:t>
            </a:r>
            <a:endParaRPr lang="ko-KR" alt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1234440" y="3337560"/>
            <a:ext cx="4983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1700" dirty="0">
                <a:solidFill>
                  <a:schemeClr val="bg1"/>
                </a:solidFill>
              </a:rPr>
              <a:t>REST API: 메서드(GET·POST·DELETE)와 상태 코드로 약속한다</a:t>
            </a:r>
            <a:endParaRPr lang="ko-KR" altLang="en-US" sz="1700" dirty="0"/>
          </a:p>
        </p:txBody>
      </p:sp>
      <p:sp>
        <p:nvSpPr>
          <p:cNvPr id="14" name="num-3"/>
          <p:cNvSpPr/>
          <p:nvPr/>
        </p:nvSpPr>
        <p:spPr>
          <a:xfrm>
            <a:off x="548640" y="470916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548640" y="4709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400" b="1" dirty="0">
                <a:solidFill>
                  <a:schemeClr val="bg1"/>
                </a:solidFill>
              </a:rPr>
              <a:t>3</a:t>
            </a:r>
            <a:endParaRPr lang="ko-KR" alt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1234440" y="4617720"/>
            <a:ext cx="4983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1700" dirty="0">
                <a:solidFill>
                  <a:schemeClr val="bg1"/>
                </a:solidFill>
              </a:rPr>
              <a:t>입력 검사는 반드시 서버에서, SQL에는 ? 자리 표시를 쓴다</a:t>
            </a:r>
            <a:endParaRPr lang="ko-KR" altLang="en-US" sz="1700" dirty="0"/>
          </a:p>
        </p:txBody>
      </p:sp>
      <p:sp>
        <p:nvSpPr>
          <p:cNvPr id="17" name="recap-확인 퀴즈"/>
          <p:cNvSpPr/>
          <p:nvPr/>
        </p:nvSpPr>
        <p:spPr>
          <a:xfrm>
            <a:off x="6583680" y="1600200"/>
            <a:ext cx="5059375" cy="2606040"/>
          </a:xfrm>
          <a:prstGeom prst="roundRect">
            <a:avLst>
              <a:gd name="adj" fmla="val 4211"/>
            </a:avLst>
          </a:prstGeom>
          <a:solidFill>
            <a:schemeClr val="bg1">
              <a:alpha val="10000"/>
            </a:schemeClr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6858000" y="1783080"/>
            <a:ext cx="45107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altLang="en-US" sz="1400" b="1" dirty="0">
                <a:solidFill>
                  <a:schemeClr val="accent1"/>
                </a:solidFill>
              </a:rPr>
              <a:t>확인 퀴즈</a:t>
            </a:r>
            <a:endParaRPr lang="ko-KR" alt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6858000" y="2240280"/>
            <a:ext cx="451073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marL="254000" indent="-2540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ko-KR" altLang="en-US" sz="1500" dirty="0">
                <a:solidFill>
                  <a:schemeClr val="bg1"/>
                </a:solidFill>
              </a:rPr>
              <a:t>강의실을 만들 때 성공 상태 코드는?</a:t>
            </a:r>
            <a:endParaRPr lang="ko-KR" altLang="en-US" sz="1500" dirty="0"/>
          </a:p>
          <a:p>
            <a:pPr eaLnBrk="0" marL="254000" indent="-2540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ko-KR" altLang="en-US" sz="1500" dirty="0">
                <a:solidFill>
                  <a:schemeClr val="bg1"/>
                </a:solidFill>
              </a:rPr>
              <a:t>화면에서 이미 검사했는데 서버에서 또 검사하는 이유는?</a:t>
            </a:r>
            <a:endParaRPr lang="ko-KR" altLang="en-US" sz="1500" dirty="0"/>
          </a:p>
          <a:p>
            <a:pPr eaLnBrk="0" marL="254000" indent="-2540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ko-KR" altLang="en-US" sz="1500" dirty="0">
                <a:solidFill>
                  <a:schemeClr val="bg1"/>
                </a:solidFill>
              </a:rPr>
              <a:t>공유 타입이 있으면 무엇이 좋아질까?</a:t>
            </a:r>
            <a:endParaRPr lang="ko-KR" altLang="en-US" sz="1500" dirty="0"/>
          </a:p>
        </p:txBody>
      </p:sp>
      <p:sp>
        <p:nvSpPr>
          <p:cNvPr id="20" name="recap-과제"/>
          <p:cNvSpPr/>
          <p:nvPr/>
        </p:nvSpPr>
        <p:spPr>
          <a:xfrm>
            <a:off x="6583680" y="4434840"/>
            <a:ext cx="5059375" cy="1737360"/>
          </a:xfrm>
          <a:prstGeom prst="roundRect">
            <a:avLst>
              <a:gd name="adj" fmla="val 6316"/>
            </a:avLst>
          </a:prstGeom>
          <a:solidFill>
            <a:schemeClr val="bg1">
              <a:alpha val="10000"/>
            </a:schemeClr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6858000" y="4617720"/>
            <a:ext cx="45107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buNone/>
            </a:pPr>
            <a:r>
              <a:rPr lang="ko-KR" altLang="en-US" sz="1400" b="1" dirty="0">
                <a:solidFill>
                  <a:schemeClr val="accent1"/>
                </a:solidFill>
              </a:rPr>
              <a:t>과제</a:t>
            </a:r>
            <a:endParaRPr lang="ko-KR" altLang="en-US" sz="1400" dirty="0"/>
          </a:p>
        </p:txBody>
      </p:sp>
      <p:sp>
        <p:nvSpPr>
          <p:cNvPr id="22" name="Text 19"/>
          <p:cNvSpPr txBox="1"/>
          <p:nvPr/>
        </p:nvSpPr>
        <p:spPr>
          <a:xfrm>
            <a:off x="6858000" y="5074920"/>
            <a:ext cx="451073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marL="203200" indent="-203200">
              <a:spcAft>
                <a:spcPts val="800"/>
              </a:spcAft>
              <a:buSzPct val="100000"/>
              <a:buChar char="•"/>
            </a:pPr>
            <a:r>
              <a:rPr lang="ko-KR" altLang="en-US" sz="1500" dirty="0">
                <a:solidFill>
                  <a:schemeClr val="bg1"/>
                </a:solidFill>
              </a:rPr>
              <a:t>강의실에 "강사 이름" 필드를 추가하기 (DB → API → 공유 타입 순서로)</a:t>
            </a:r>
            <a:endParaRPr lang="ko-KR" alt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eaLnBrk="0" algn="r"/>
            <a:fld id="{F7021451-1387-4CA6-816F-3879F97B5CBC}" type="slidenum">
              <a:rPr b="0" lang="ko-KR" altLang="en-US"/>
              <a:t>10</a:t>
            </a:fld>
            <a:endParaRPr lang="ko-KR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n Air">
  <a:themeElements>
    <a:clrScheme name="On Air">
      <a:dk1>
        <a:srgbClr val="1B2130"/>
      </a:dk1>
      <a:lt1>
        <a:srgbClr val="FFFFFF"/>
      </a:lt1>
      <a:dk2>
        <a:srgbClr val="141A26"/>
      </a:dk2>
      <a:lt2>
        <a:srgbClr val="F2F4F7"/>
      </a:lt2>
      <a:accent1>
        <a:srgbClr val="E5372C"/>
      </a:accent1>
      <a:accent2>
        <a:srgbClr val="2F6FED"/>
      </a:accent2>
      <a:accent3>
        <a:srgbClr val="12B76A"/>
      </a:accent3>
      <a:accent4>
        <a:srgbClr val="F79009"/>
      </a:accent4>
      <a:accent5>
        <a:srgbClr val="7A5AF8"/>
      </a:accent5>
      <a:accent6>
        <a:srgbClr val="667085"/>
      </a:accent6>
      <a:hlink>
        <a:srgbClr val="2F6FED"/>
      </a:hlink>
      <a:folHlink>
        <a:srgbClr val="7A5AF8"/>
      </a:folHlink>
    </a:clrScheme>
    <a:fontScheme name="On Air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2회차 모노레포와 API 서버</dc:title>
  <dc:subject>실시간 강의 방송 만들기</dc:subject>
  <dc:creator>실시간 강의 방송 만들기</dc:creator>
  <cp:lastModifiedBy>실시간 강의 방송 만들기</cp:lastModifiedBy>
  <cp:revision>1</cp:revision>
  <dcterms:created xsi:type="dcterms:W3CDTF">2026-10-10T06:35:49Z</dcterms:created>
  <dcterms:modified xsi:type="dcterms:W3CDTF">2026-10-10T06:35:49Z</dcterms:modified>
</cp:coreProperties>
</file>