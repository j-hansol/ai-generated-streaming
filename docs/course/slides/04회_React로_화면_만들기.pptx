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0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0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0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0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0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0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0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0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0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70b96cd7-7e26-6f1b-0214-7d38a5c78d89}">
          <p14:sldIdLst>
            <p14:sldId id="256"/>
            <p14:sldId id="257"/>
          </p14:sldIdLst>
        </p14:section>
        <p14:section name="개념" id="{f81a3f72-b2bd-cd33-3d66-24f39ab560ce}">
          <p14:sldIdLst>
            <p14:sldId id="258"/>
            <p14:sldId id="259"/>
            <p14:sldId id="260"/>
            <p14:sldId id="261"/>
            <p14:sldId id="262"/>
            <p14:sldId id="263"/>
          </p14:sldIdLst>
        </p14:section>
        <p14:section name="실습" id="{5b0d332e-dbe1-91d2-ad41-31a8745b4bc3}">
          <p14:sldIdLst>
            <p14:sldId id="264"/>
          </p14:sldIdLst>
        </p14:section>
        <p14:section name="정리" id="{3c044f8a-05cf-7ac5-f0b2-a60eaa54abba}">
          <p14:sldIdLst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0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0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0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0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0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0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0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0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0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프론트엔드 첫 시간입니다. JSX가 낯선 수강생이 많으니 HTML과 비교하며 천천히 진행하세요.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2시간 수업은 매번 같은 순서로 진행합니다. 복습 10분, 개념 40분, 시연 15분, 실습 45분, 정리 10분. 실습 시간이 가장 길다는 점을 강조하세요.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세 가지만 이해하면 오늘 실습을 할 수 있습니다. LiveBadge 컴포넌트를 예로 들어 props를 받아 다른 모양을 그리는 것을 보여주세요.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document.querySelector로 직접 화면을 고치던 방식과 비교해 주세요. React에서는 상태만 바꾸면 나머지는 React가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프록시 덕분에 화면 코드에서 주소를 /api 로만 쓰면 됩니다. 다른 포트로 직접 요청하면 CORS 문제가 생긴다는 점을 간단히 언급하세요.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수업용으로 줄인 코드입니다. 실제 hooks.ts는 load 함수를 ref로 들고 있어서 매번 새 함수가 와도 타이머를 다시 만들지 않습니다. 관심 있는 수강생에게 비교해 보라고 하세요.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시연: 다른 창에서 송출을 시작하면 5초 안에 배지가 LIVE로 바뀌는 것을 보여주세요.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실제로 이 앱을 만들면서 사용자에게 받은 피드백입니다. 기능이 동작하는 것과 사용자가 알아차리는 것은 다르다는 점을 강조하세요.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시간이 부족하면 삭제 확인 상자는 과제로 넘겨도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과제 힌트: live.liveSince 값과 현재 시각의 차이를 계산합니다.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011680"/>
            <a:ext cx="106984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ko-KR" altLang="en-US" sz="4400" b="1" dirty="0">
                <a:solidFill>
                  <a:schemeClr val="bg1"/>
                </a:solidFill>
              </a:defRPr>
            </a:lvl1pPr>
          </a:lstStyle>
          <a:p>
            <a:pPr eaLnBrk="0" algn="l" indent="0" marL="0">
              <a:buNone/>
            </a:pPr>
            <a:endParaRPr lang="ko-KR" alt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11880"/>
            <a:ext cx="1069848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ko-KR" altLang="en-US" sz="2200" dirty="0">
                <a:solidFill>
                  <a:schemeClr val="bg2"/>
                </a:solidFill>
              </a:defRPr>
            </a:lvl1pPr>
          </a:lstStyle>
          <a:p>
            <a:pPr eaLnBrk="0" indent="0" marL="0">
              <a:buNone/>
            </a:pPr>
            <a:endParaRPr lang="ko-KR" altLang="en-US" sz="2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658368"/>
            <a:ext cx="11094415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ko-KR" altLang="en-US" sz="3200" b="1" dirty="0">
                <a:solidFill>
                  <a:schemeClr val="tx1"/>
                </a:solidFill>
              </a:defRPr>
            </a:lvl1pPr>
          </a:lstStyle>
          <a:p>
            <a:pPr eaLnBrk="0" algn="l" indent="0" marL="0">
              <a:buNone/>
            </a:pPr>
            <a:endParaRPr lang="ko-KR" alt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000" dirty="0">
                <a:solidFill>
                  <a:schemeClr val="accent6"/>
                </a:solidFill>
              </a:rPr>
              <a:t>실시간 강의 방송 만들기</a:t>
            </a:r>
            <a:endParaRPr lang="ko-KR" alt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eaLnBrk="0" algn="r"/>
            <a:fld id="{F7021451-1387-4CA6-816F-3879F97B5CBC}" type="slidenum">
              <a:rPr b="0" lang="ko-KR" altLang="en-US"/>
              <a:t>1003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658368"/>
            <a:ext cx="11094415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ko-KR" altLang="en-US" sz="3200" b="1" dirty="0">
                <a:solidFill>
                  <a:schemeClr val="bg1"/>
                </a:solidFill>
              </a:defRPr>
            </a:lvl1pPr>
          </a:lstStyle>
          <a:p>
            <a:pPr eaLnBrk="0" algn="l" indent="0" marL="0">
              <a:buNone/>
            </a:pPr>
            <a:endParaRPr lang="ko-KR" alt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000" dirty="0">
                <a:solidFill>
                  <a:schemeClr val="accent6"/>
                </a:solidFill>
              </a:rPr>
              <a:t>실시간 강의 방송 만들기</a:t>
            </a:r>
            <a:endParaRPr lang="ko-KR" alt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eaLnBrk="0" algn="r"/>
            <a:fld id="{F7021451-1387-4CA6-816F-3879F97B5CBC}" type="slidenum">
              <a:rPr b="0" lang="ko-KR" altLang="en-US"/>
              <a:t>1004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0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0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0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0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0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0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0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0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0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0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0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0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0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0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0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0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0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0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0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-pill"/>
          <p:cNvSpPr/>
          <p:nvPr/>
        </p:nvSpPr>
        <p:spPr>
          <a:xfrm>
            <a:off x="548640" y="292608"/>
            <a:ext cx="2107692" cy="310896"/>
          </a:xfrm>
          <a:prstGeom prst="roundRect">
            <a:avLst>
              <a:gd name="adj" fmla="val 50000"/>
            </a:avLst>
          </a:prstGeom>
          <a:solidFill>
            <a:schemeClr val="bg1">
              <a:alpha val="12000"/>
            </a:schemeClr>
          </a:solidFill>
          <a:ln/>
        </p:spPr>
      </p:sp>
      <p:sp>
        <p:nvSpPr>
          <p:cNvPr id="3" name="tag-dot"/>
          <p:cNvSpPr/>
          <p:nvPr/>
        </p:nvSpPr>
        <p:spPr>
          <a:xfrm>
            <a:off x="676656" y="393192"/>
            <a:ext cx="109728" cy="10972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ag-text"/>
          <p:cNvSpPr txBox="1"/>
          <p:nvPr/>
        </p:nvSpPr>
        <p:spPr>
          <a:xfrm>
            <a:off x="841248" y="292608"/>
            <a:ext cx="17785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100" b="1" dirty="0">
                <a:solidFill>
                  <a:schemeClr val="bg1"/>
                </a:solidFill>
              </a:rPr>
              <a:t>ON AIR · 04회차</a:t>
            </a:r>
            <a:endParaRPr lang="ko-KR" altLang="en-US" sz="11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731520" y="2011680"/>
            <a:ext cx="1069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chemeClr val="bg1"/>
                </a:solidFill>
              </a:rPr>
              <a:t>React로 화면 만들기</a:t>
            </a:r>
            <a:endParaRPr lang="ko-KR" altLang="en-US" sz="4400" dirty="0"/>
          </a:p>
        </p:txBody>
      </p:sp>
      <p:sp>
        <p:nvSpPr>
          <p:cNvPr id="6" name="Text 0"/>
          <p:cNvSpPr/>
          <p:nvPr>
            <p:ph idx="101" type="body" hasCustomPrompt="1"/>
          </p:nvPr>
        </p:nvSpPr>
        <p:spPr>
          <a:xfrm>
            <a:off x="731520" y="361188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2200" dirty="0">
                <a:solidFill>
                  <a:schemeClr val="bg2"/>
                </a:solidFill>
              </a:rPr>
              <a:t>컴포넌트와 상태로 강의실 목록 화면을 만듭니다</a:t>
            </a:r>
            <a:endParaRPr lang="ko-KR" alt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45720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300" b="1" dirty="0">
                <a:solidFill>
                  <a:schemeClr val="accent1"/>
                </a:solidFill>
              </a:rPr>
              <a:t>오늘 할 수 있게 될 것</a:t>
            </a:r>
            <a:endParaRPr lang="ko-KR" altLang="en-US" sz="1300" dirty="0"/>
          </a:p>
        </p:txBody>
      </p:sp>
      <p:sp>
        <p:nvSpPr>
          <p:cNvPr id="8" name="goal-1"/>
          <p:cNvSpPr/>
          <p:nvPr/>
        </p:nvSpPr>
        <p:spPr>
          <a:xfrm>
            <a:off x="731520" y="4983480"/>
            <a:ext cx="3383280" cy="868680"/>
          </a:xfrm>
          <a:prstGeom prst="roundRect">
            <a:avLst>
              <a:gd name="adj" fmla="val 10526"/>
            </a:avLst>
          </a:prstGeom>
          <a:solidFill>
            <a:schemeClr val="bg1">
              <a:alpha val="10000"/>
            </a:schemeClr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60120" y="498348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500" dirty="0">
                <a:solidFill>
                  <a:schemeClr val="bg1"/>
                </a:solidFill>
              </a:rPr>
              <a:t>컴포넌트 · 상태 · 효과를 설명한다</a:t>
            </a:r>
            <a:endParaRPr lang="ko-KR" altLang="en-US" sz="1500" dirty="0"/>
          </a:p>
        </p:txBody>
      </p:sp>
      <p:sp>
        <p:nvSpPr>
          <p:cNvPr id="10" name="goal-2"/>
          <p:cNvSpPr/>
          <p:nvPr/>
        </p:nvSpPr>
        <p:spPr>
          <a:xfrm>
            <a:off x="4389120" y="4983480"/>
            <a:ext cx="3383280" cy="868680"/>
          </a:xfrm>
          <a:prstGeom prst="roundRect">
            <a:avLst>
              <a:gd name="adj" fmla="val 10526"/>
            </a:avLst>
          </a:prstGeom>
          <a:solidFill>
            <a:schemeClr val="bg1">
              <a:alpha val="10000"/>
            </a:schemeClr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617720" y="498348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500" dirty="0">
                <a:solidFill>
                  <a:schemeClr val="bg1"/>
                </a:solidFill>
              </a:rPr>
              <a:t>서버 데이터를 주기적으로 갱신한다</a:t>
            </a:r>
            <a:endParaRPr lang="ko-KR" altLang="en-US" sz="1500" dirty="0"/>
          </a:p>
        </p:txBody>
      </p:sp>
      <p:sp>
        <p:nvSpPr>
          <p:cNvPr id="12" name="goal-3"/>
          <p:cNvSpPr/>
          <p:nvPr/>
        </p:nvSpPr>
        <p:spPr>
          <a:xfrm>
            <a:off x="8046720" y="4983480"/>
            <a:ext cx="3383280" cy="868680"/>
          </a:xfrm>
          <a:prstGeom prst="roundRect">
            <a:avLst>
              <a:gd name="adj" fmla="val 10526"/>
            </a:avLst>
          </a:prstGeom>
          <a:solidFill>
            <a:schemeClr val="bg1">
              <a:alpha val="10000"/>
            </a:schemeClr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275320" y="498348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500" dirty="0">
                <a:solidFill>
                  <a:schemeClr val="bg1"/>
                </a:solidFill>
              </a:rPr>
              <a:t>실수를 막는 삭제 확인 UI를 만든다</a:t>
            </a:r>
            <a:endParaRPr lang="ko-KR" alt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-pill"/>
          <p:cNvSpPr/>
          <p:nvPr/>
        </p:nvSpPr>
        <p:spPr>
          <a:xfrm>
            <a:off x="548640" y="292608"/>
            <a:ext cx="2354580" cy="310896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3" name="tag-dot"/>
          <p:cNvSpPr/>
          <p:nvPr/>
        </p:nvSpPr>
        <p:spPr>
          <a:xfrm>
            <a:off x="676656" y="393192"/>
            <a:ext cx="109728" cy="10972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ag-text"/>
          <p:cNvSpPr txBox="1"/>
          <p:nvPr/>
        </p:nvSpPr>
        <p:spPr>
          <a:xfrm>
            <a:off x="841248" y="292608"/>
            <a:ext cx="20253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100" b="1" dirty="0">
                <a:solidFill>
                  <a:schemeClr val="tx1"/>
                </a:solidFill>
              </a:rPr>
              <a:t>04회차 · React 화면</a:t>
            </a:r>
            <a:endParaRPr lang="ko-KR" altLang="en-US" sz="11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548640" y="65836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b="1" dirty="0">
                <a:solidFill>
                  <a:schemeClr val="tx1"/>
                </a:solidFill>
              </a:rPr>
              <a:t>오늘의 진행</a:t>
            </a:r>
            <a:endParaRPr lang="ko-KR" altLang="en-US" sz="3200" dirty="0"/>
          </a:p>
        </p:txBody>
      </p:sp>
      <p:sp>
        <p:nvSpPr>
          <p:cNvPr id="7" name="num-1"/>
          <p:cNvSpPr/>
          <p:nvPr/>
        </p:nvSpPr>
        <p:spPr>
          <a:xfrm>
            <a:off x="548640" y="1691640"/>
            <a:ext cx="402336" cy="40233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548640" y="16916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400" b="1" dirty="0">
                <a:solidFill>
                  <a:schemeClr val="bg1"/>
                </a:solidFill>
              </a:rPr>
              <a:t>1</a:t>
            </a:r>
            <a:endParaRPr lang="ko-KR" alt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1234440" y="1691640"/>
            <a:ext cx="1040861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800" dirty="0">
                <a:solidFill>
                  <a:schemeClr val="tx1"/>
                </a:solidFill>
              </a:rPr>
              <a:t>React의 세 가지 핵심</a:t>
            </a:r>
            <a:endParaRPr lang="ko-KR" altLang="en-US" sz="1800" dirty="0"/>
          </a:p>
        </p:txBody>
      </p:sp>
      <p:sp>
        <p:nvSpPr>
          <p:cNvPr id="10" name="num-2"/>
          <p:cNvSpPr/>
          <p:nvPr/>
        </p:nvSpPr>
        <p:spPr>
          <a:xfrm>
            <a:off x="548640" y="2240280"/>
            <a:ext cx="402336" cy="40233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548640" y="22402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400" b="1" dirty="0">
                <a:solidFill>
                  <a:schemeClr val="bg1"/>
                </a:solidFill>
              </a:rPr>
              <a:t>2</a:t>
            </a:r>
            <a:endParaRPr lang="ko-KR" alt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1234440" y="2240280"/>
            <a:ext cx="1040861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800" dirty="0">
                <a:solidFill>
                  <a:schemeClr val="tx1"/>
                </a:solidFill>
              </a:rPr>
              <a:t>화면이 바뀌는 순서</a:t>
            </a:r>
            <a:endParaRPr lang="ko-KR" altLang="en-US" sz="1800" dirty="0"/>
          </a:p>
        </p:txBody>
      </p:sp>
      <p:sp>
        <p:nvSpPr>
          <p:cNvPr id="13" name="num-3"/>
          <p:cNvSpPr/>
          <p:nvPr/>
        </p:nvSpPr>
        <p:spPr>
          <a:xfrm>
            <a:off x="548640" y="2788920"/>
            <a:ext cx="402336" cy="40233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548640" y="27889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400" b="1" dirty="0">
                <a:solidFill>
                  <a:schemeClr val="bg1"/>
                </a:solidFill>
              </a:rPr>
              <a:t>3</a:t>
            </a:r>
            <a:endParaRPr lang="ko-KR" alt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1234440" y="2788920"/>
            <a:ext cx="1040861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800" dirty="0">
                <a:solidFill>
                  <a:schemeClr val="tx1"/>
                </a:solidFill>
              </a:rPr>
              <a:t>Vite 개발 서버와 프록시</a:t>
            </a:r>
            <a:endParaRPr lang="ko-KR" altLang="en-US" sz="1800" dirty="0"/>
          </a:p>
        </p:txBody>
      </p:sp>
      <p:sp>
        <p:nvSpPr>
          <p:cNvPr id="16" name="num-4"/>
          <p:cNvSpPr/>
          <p:nvPr/>
        </p:nvSpPr>
        <p:spPr>
          <a:xfrm>
            <a:off x="548640" y="3337560"/>
            <a:ext cx="402336" cy="40233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548640" y="33375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400" b="1" dirty="0">
                <a:solidFill>
                  <a:schemeClr val="bg1"/>
                </a:solidFill>
              </a:rPr>
              <a:t>4</a:t>
            </a:r>
            <a:endParaRPr lang="ko-KR" alt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1234440" y="3337560"/>
            <a:ext cx="1040861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800" dirty="0">
                <a:solidFill>
                  <a:schemeClr val="tx1"/>
                </a:solidFill>
              </a:rPr>
              <a:t>주기적으로 갱신하는 커스텀 훅</a:t>
            </a:r>
            <a:endParaRPr lang="ko-KR" altLang="en-US" sz="1800" dirty="0"/>
          </a:p>
        </p:txBody>
      </p:sp>
      <p:sp>
        <p:nvSpPr>
          <p:cNvPr id="19" name="num-5"/>
          <p:cNvSpPr/>
          <p:nvPr/>
        </p:nvSpPr>
        <p:spPr>
          <a:xfrm>
            <a:off x="548640" y="3886200"/>
            <a:ext cx="402336" cy="40233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548640" y="38862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400" b="1" dirty="0">
                <a:solidFill>
                  <a:schemeClr val="bg1"/>
                </a:solidFill>
              </a:rPr>
              <a:t>5</a:t>
            </a:r>
            <a:endParaRPr lang="ko-KR" alt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1234440" y="3886200"/>
            <a:ext cx="1040861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800" dirty="0">
                <a:solidFill>
                  <a:schemeClr val="tx1"/>
                </a:solidFill>
              </a:rPr>
              <a:t>실습: 강의실 목록 화면</a:t>
            </a:r>
            <a:endParaRPr lang="ko-KR" altLang="en-US" sz="1800" dirty="0"/>
          </a:p>
        </p:txBody>
      </p:sp>
      <p:sp>
        <p:nvSpPr>
          <p:cNvPr id="22" name="Text 19"/>
          <p:cNvSpPr txBox="1"/>
          <p:nvPr/>
        </p:nvSpPr>
        <p:spPr>
          <a:xfrm>
            <a:off x="548640" y="45262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300" b="1" dirty="0">
                <a:solidFill>
                  <a:schemeClr val="accent6"/>
                </a:solidFill>
              </a:rPr>
              <a:t>2시간 진행 순서</a:t>
            </a:r>
            <a:endParaRPr lang="ko-KR" altLang="en-US" sz="1300" dirty="0"/>
          </a:p>
        </p:txBody>
      </p:sp>
      <p:sp>
        <p:nvSpPr>
          <p:cNvPr id="23" name="agenda-1"/>
          <p:cNvSpPr/>
          <p:nvPr/>
        </p:nvSpPr>
        <p:spPr>
          <a:xfrm>
            <a:off x="576072" y="4983480"/>
            <a:ext cx="869671" cy="502920"/>
          </a:xfrm>
          <a:prstGeom prst="rect">
            <a:avLst/>
          </a:prstGeom>
          <a:solidFill>
            <a:schemeClr val="accent6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548640" y="4983480"/>
            <a:ext cx="9245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400" b="1" dirty="0">
                <a:solidFill>
                  <a:schemeClr val="bg1"/>
                </a:solidFill>
              </a:rPr>
              <a:t>10분</a:t>
            </a:r>
            <a:endParaRPr lang="ko-KR" altLang="en-US" sz="1400" dirty="0"/>
          </a:p>
        </p:txBody>
      </p:sp>
      <p:sp>
        <p:nvSpPr>
          <p:cNvPr id="25" name="Text 22"/>
          <p:cNvSpPr txBox="1"/>
          <p:nvPr/>
        </p:nvSpPr>
        <p:spPr>
          <a:xfrm>
            <a:off x="548640" y="5577840"/>
            <a:ext cx="924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ctr" indent="0" marL="0">
              <a:buNone/>
            </a:pPr>
            <a:r>
              <a:rPr lang="ko-KR" altLang="en-US" sz="1300" dirty="0">
                <a:solidFill>
                  <a:schemeClr val="tx1"/>
                </a:solidFill>
              </a:rPr>
              <a:t>복습 · 퀴즈</a:t>
            </a:r>
            <a:endParaRPr lang="ko-KR" altLang="en-US" sz="1300" dirty="0"/>
          </a:p>
        </p:txBody>
      </p:sp>
      <p:sp>
        <p:nvSpPr>
          <p:cNvPr id="26" name="agenda-2"/>
          <p:cNvSpPr/>
          <p:nvPr/>
        </p:nvSpPr>
        <p:spPr>
          <a:xfrm>
            <a:off x="1500607" y="4983480"/>
            <a:ext cx="3643274" cy="502920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1473175" y="4983480"/>
            <a:ext cx="369813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400" b="1" dirty="0">
                <a:solidFill>
                  <a:schemeClr val="bg1"/>
                </a:solidFill>
              </a:rPr>
              <a:t>40분</a:t>
            </a:r>
            <a:endParaRPr lang="ko-KR" altLang="en-US" sz="1400" dirty="0"/>
          </a:p>
        </p:txBody>
      </p:sp>
      <p:sp>
        <p:nvSpPr>
          <p:cNvPr id="28" name="Text 25"/>
          <p:cNvSpPr txBox="1"/>
          <p:nvPr/>
        </p:nvSpPr>
        <p:spPr>
          <a:xfrm>
            <a:off x="1473175" y="5577840"/>
            <a:ext cx="36981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ctr" indent="0" marL="0">
              <a:buNone/>
            </a:pPr>
            <a:r>
              <a:rPr lang="ko-KR" altLang="en-US" sz="1300" dirty="0">
                <a:solidFill>
                  <a:schemeClr val="tx1"/>
                </a:solidFill>
              </a:rPr>
              <a:t>개념 강의</a:t>
            </a:r>
            <a:endParaRPr lang="ko-KR" altLang="en-US" sz="1300" dirty="0"/>
          </a:p>
        </p:txBody>
      </p:sp>
      <p:sp>
        <p:nvSpPr>
          <p:cNvPr id="29" name="agenda-3"/>
          <p:cNvSpPr/>
          <p:nvPr/>
        </p:nvSpPr>
        <p:spPr>
          <a:xfrm>
            <a:off x="5198745" y="4983480"/>
            <a:ext cx="1331938" cy="502920"/>
          </a:xfrm>
          <a:prstGeom prst="rect">
            <a:avLst/>
          </a:prstGeom>
          <a:solidFill>
            <a:schemeClr val="accent4"/>
          </a:solidFill>
          <a:ln/>
        </p:spPr>
      </p:sp>
      <p:sp>
        <p:nvSpPr>
          <p:cNvPr id="30" name="Text 27"/>
          <p:cNvSpPr txBox="1"/>
          <p:nvPr/>
        </p:nvSpPr>
        <p:spPr>
          <a:xfrm>
            <a:off x="5171313" y="4983480"/>
            <a:ext cx="138680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400" b="1" dirty="0">
                <a:solidFill>
                  <a:schemeClr val="bg1"/>
                </a:solidFill>
              </a:rPr>
              <a:t>15분</a:t>
            </a:r>
            <a:endParaRPr lang="ko-KR" altLang="en-US" sz="1400" dirty="0"/>
          </a:p>
        </p:txBody>
      </p:sp>
      <p:sp>
        <p:nvSpPr>
          <p:cNvPr id="31" name="Text 28"/>
          <p:cNvSpPr txBox="1"/>
          <p:nvPr/>
        </p:nvSpPr>
        <p:spPr>
          <a:xfrm>
            <a:off x="5171313" y="5577840"/>
            <a:ext cx="138680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ctr" indent="0" marL="0">
              <a:buNone/>
            </a:pPr>
            <a:r>
              <a:rPr lang="ko-KR" altLang="en-US" sz="1300" dirty="0">
                <a:solidFill>
                  <a:schemeClr val="tx1"/>
                </a:solidFill>
              </a:rPr>
              <a:t>시연</a:t>
            </a:r>
            <a:endParaRPr lang="ko-KR" altLang="en-US" sz="1300" dirty="0"/>
          </a:p>
        </p:txBody>
      </p:sp>
      <p:sp>
        <p:nvSpPr>
          <p:cNvPr id="32" name="agenda-4"/>
          <p:cNvSpPr/>
          <p:nvPr/>
        </p:nvSpPr>
        <p:spPr>
          <a:xfrm>
            <a:off x="6585547" y="4983480"/>
            <a:ext cx="4105542" cy="50292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3" name="Text 30"/>
          <p:cNvSpPr txBox="1"/>
          <p:nvPr/>
        </p:nvSpPr>
        <p:spPr>
          <a:xfrm>
            <a:off x="6558115" y="4983480"/>
            <a:ext cx="416040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400" b="1" dirty="0">
                <a:solidFill>
                  <a:schemeClr val="bg1"/>
                </a:solidFill>
              </a:rPr>
              <a:t>45분</a:t>
            </a:r>
            <a:endParaRPr lang="ko-KR" altLang="en-US" sz="1400" dirty="0"/>
          </a:p>
        </p:txBody>
      </p:sp>
      <p:sp>
        <p:nvSpPr>
          <p:cNvPr id="34" name="Text 31"/>
          <p:cNvSpPr txBox="1"/>
          <p:nvPr/>
        </p:nvSpPr>
        <p:spPr>
          <a:xfrm>
            <a:off x="6558115" y="5577840"/>
            <a:ext cx="416040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ctr" indent="0" marL="0">
              <a:buNone/>
            </a:pPr>
            <a:r>
              <a:rPr lang="ko-KR" altLang="en-US" sz="1300" dirty="0">
                <a:solidFill>
                  <a:schemeClr val="tx1"/>
                </a:solidFill>
              </a:rPr>
              <a:t>실습</a:t>
            </a:r>
            <a:endParaRPr lang="ko-KR" altLang="en-US" sz="1300" dirty="0"/>
          </a:p>
        </p:txBody>
      </p:sp>
      <p:sp>
        <p:nvSpPr>
          <p:cNvPr id="35" name="agenda-5"/>
          <p:cNvSpPr/>
          <p:nvPr/>
        </p:nvSpPr>
        <p:spPr>
          <a:xfrm>
            <a:off x="10745953" y="4983480"/>
            <a:ext cx="869671" cy="502920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36" name="Text 33"/>
          <p:cNvSpPr txBox="1"/>
          <p:nvPr/>
        </p:nvSpPr>
        <p:spPr>
          <a:xfrm>
            <a:off x="10718521" y="4983480"/>
            <a:ext cx="9245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400" b="1" dirty="0">
                <a:solidFill>
                  <a:schemeClr val="bg1"/>
                </a:solidFill>
              </a:rPr>
              <a:t>10분</a:t>
            </a:r>
            <a:endParaRPr lang="ko-KR" altLang="en-US" sz="1400" dirty="0"/>
          </a:p>
        </p:txBody>
      </p:sp>
      <p:sp>
        <p:nvSpPr>
          <p:cNvPr id="37" name="Text 34"/>
          <p:cNvSpPr txBox="1"/>
          <p:nvPr/>
        </p:nvSpPr>
        <p:spPr>
          <a:xfrm>
            <a:off x="10718521" y="5577840"/>
            <a:ext cx="924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ctr" indent="0" marL="0">
              <a:buNone/>
            </a:pPr>
            <a:r>
              <a:rPr lang="ko-KR" altLang="en-US" sz="1300" dirty="0">
                <a:solidFill>
                  <a:schemeClr val="tx1"/>
                </a:solidFill>
              </a:rPr>
              <a:t>정리 · 과제</a:t>
            </a:r>
            <a:endParaRPr lang="ko-KR" alt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eaLnBrk="0" algn="r"/>
            <a:fld id="{F7021451-1387-4CA6-816F-3879F97B5CBC}" type="slidenum">
              <a:rPr b="0" lang="ko-KR" altLang="en-US"/>
              <a:t>2</a:t>
            </a:fld>
            <a:endParaRPr lang="ko-KR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-pill"/>
          <p:cNvSpPr/>
          <p:nvPr/>
        </p:nvSpPr>
        <p:spPr>
          <a:xfrm>
            <a:off x="548640" y="292608"/>
            <a:ext cx="2354580" cy="310896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3" name="tag-dot"/>
          <p:cNvSpPr/>
          <p:nvPr/>
        </p:nvSpPr>
        <p:spPr>
          <a:xfrm>
            <a:off x="676656" y="393192"/>
            <a:ext cx="109728" cy="10972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ag-text"/>
          <p:cNvSpPr txBox="1"/>
          <p:nvPr/>
        </p:nvSpPr>
        <p:spPr>
          <a:xfrm>
            <a:off x="841248" y="292608"/>
            <a:ext cx="20253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100" b="1" dirty="0">
                <a:solidFill>
                  <a:schemeClr val="tx1"/>
                </a:solidFill>
              </a:rPr>
              <a:t>04회차 · React 화면</a:t>
            </a:r>
            <a:endParaRPr lang="ko-KR" altLang="en-US" sz="11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548640" y="65836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b="1" dirty="0">
                <a:solidFill>
                  <a:schemeClr val="tx1"/>
                </a:solidFill>
              </a:rPr>
              <a:t>React의 세 가지 핵심</a:t>
            </a:r>
            <a:endParaRPr lang="ko-KR" altLang="en-US" sz="3200" dirty="0"/>
          </a:p>
        </p:txBody>
      </p:sp>
      <p:sp>
        <p:nvSpPr>
          <p:cNvPr id="7" name="card-1"/>
          <p:cNvSpPr/>
          <p:nvPr/>
        </p:nvSpPr>
        <p:spPr>
          <a:xfrm>
            <a:off x="548640" y="1600200"/>
            <a:ext cx="3515258" cy="3749040"/>
          </a:xfrm>
          <a:prstGeom prst="roundRect">
            <a:avLst>
              <a:gd name="adj" fmla="val 3121"/>
            </a:avLst>
          </a:prstGeom>
          <a:solidFill>
            <a:schemeClr val="bg2"/>
          </a:solidFill>
          <a:ln/>
        </p:spPr>
      </p:sp>
      <p:sp>
        <p:nvSpPr>
          <p:cNvPr id="8" name="num-1"/>
          <p:cNvSpPr/>
          <p:nvPr/>
        </p:nvSpPr>
        <p:spPr>
          <a:xfrm>
            <a:off x="822960" y="1874520"/>
            <a:ext cx="420624" cy="420624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822960" y="18745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400" b="1" dirty="0">
                <a:solidFill>
                  <a:schemeClr val="bg1"/>
                </a:solidFill>
              </a:rPr>
              <a:t>1</a:t>
            </a:r>
            <a:endParaRPr lang="ko-KR" alt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1371600" y="1828800"/>
            <a:ext cx="250941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800" b="1" dirty="0">
                <a:solidFill>
                  <a:schemeClr val="tx1"/>
                </a:solidFill>
              </a:rPr>
              <a:t>컴포넌트</a:t>
            </a:r>
            <a:endParaRPr lang="ko-KR" alt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822960" y="2468880"/>
            <a:ext cx="296661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30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LiveBadge() {}</a:t>
            </a:r>
            <a:endParaRPr lang="ko-KR" alt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822960" y="2880360"/>
            <a:ext cx="2966618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1500" dirty="0">
                <a:solidFill>
                  <a:schemeClr val="tx1"/>
                </a:solidFill>
              </a:rPr>
              <a:t>화면 조각을 함수로 만든다. 레고 블록처럼 조립한다.</a:t>
            </a:r>
            <a:endParaRPr lang="ko-KR" altLang="en-US" sz="1500" dirty="0"/>
          </a:p>
        </p:txBody>
      </p:sp>
      <p:sp>
        <p:nvSpPr>
          <p:cNvPr id="13" name="card-2"/>
          <p:cNvSpPr/>
          <p:nvPr/>
        </p:nvSpPr>
        <p:spPr>
          <a:xfrm>
            <a:off x="4338218" y="1600200"/>
            <a:ext cx="3515258" cy="3749040"/>
          </a:xfrm>
          <a:prstGeom prst="roundRect">
            <a:avLst>
              <a:gd name="adj" fmla="val 3121"/>
            </a:avLst>
          </a:prstGeom>
          <a:solidFill>
            <a:schemeClr val="bg2"/>
          </a:solidFill>
          <a:ln/>
        </p:spPr>
      </p:sp>
      <p:sp>
        <p:nvSpPr>
          <p:cNvPr id="14" name="num-2"/>
          <p:cNvSpPr/>
          <p:nvPr/>
        </p:nvSpPr>
        <p:spPr>
          <a:xfrm>
            <a:off x="4612538" y="1874520"/>
            <a:ext cx="420624" cy="420624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4612538" y="18745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400" b="1" dirty="0">
                <a:solidFill>
                  <a:schemeClr val="bg1"/>
                </a:solidFill>
              </a:rPr>
              <a:t>2</a:t>
            </a:r>
            <a:endParaRPr lang="ko-KR" alt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5161178" y="1828800"/>
            <a:ext cx="250941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800" b="1" dirty="0">
                <a:solidFill>
                  <a:schemeClr val="tx1"/>
                </a:solidFill>
              </a:rPr>
              <a:t>상태</a:t>
            </a:r>
            <a:endParaRPr lang="ko-KR" altLang="en-US" sz="1800" dirty="0"/>
          </a:p>
        </p:txBody>
      </p:sp>
      <p:sp>
        <p:nvSpPr>
          <p:cNvPr id="17" name="Text 14"/>
          <p:cNvSpPr txBox="1"/>
          <p:nvPr/>
        </p:nvSpPr>
        <p:spPr>
          <a:xfrm>
            <a:off x="4612538" y="2468880"/>
            <a:ext cx="296661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30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useState()</a:t>
            </a:r>
            <a:endParaRPr lang="ko-KR" alt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4612538" y="2880360"/>
            <a:ext cx="2966618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1500" dirty="0">
                <a:solidFill>
                  <a:schemeClr val="tx1"/>
                </a:solidFill>
              </a:rPr>
              <a:t>바뀌는 값. 상태가 바뀌면 React가 화면을 다시 그린다.</a:t>
            </a:r>
            <a:endParaRPr lang="ko-KR" altLang="en-US" sz="1500" dirty="0"/>
          </a:p>
        </p:txBody>
      </p:sp>
      <p:sp>
        <p:nvSpPr>
          <p:cNvPr id="19" name="card-3"/>
          <p:cNvSpPr/>
          <p:nvPr/>
        </p:nvSpPr>
        <p:spPr>
          <a:xfrm>
            <a:off x="8127797" y="1600200"/>
            <a:ext cx="3515258" cy="3749040"/>
          </a:xfrm>
          <a:prstGeom prst="roundRect">
            <a:avLst>
              <a:gd name="adj" fmla="val 3121"/>
            </a:avLst>
          </a:prstGeom>
          <a:solidFill>
            <a:schemeClr val="bg2"/>
          </a:solidFill>
          <a:ln/>
        </p:spPr>
      </p:sp>
      <p:sp>
        <p:nvSpPr>
          <p:cNvPr id="20" name="num-3"/>
          <p:cNvSpPr/>
          <p:nvPr/>
        </p:nvSpPr>
        <p:spPr>
          <a:xfrm>
            <a:off x="8402117" y="1874520"/>
            <a:ext cx="420624" cy="420624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8402117" y="18745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400" b="1" dirty="0">
                <a:solidFill>
                  <a:schemeClr val="bg1"/>
                </a:solidFill>
              </a:rPr>
              <a:t>3</a:t>
            </a:r>
            <a:endParaRPr lang="ko-KR" alt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8950757" y="1828800"/>
            <a:ext cx="250941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800" b="1" dirty="0">
                <a:solidFill>
                  <a:schemeClr val="tx1"/>
                </a:solidFill>
              </a:rPr>
              <a:t>효과</a:t>
            </a:r>
            <a:endParaRPr lang="ko-KR" altLang="en-US" sz="1800" dirty="0"/>
          </a:p>
        </p:txBody>
      </p:sp>
      <p:sp>
        <p:nvSpPr>
          <p:cNvPr id="23" name="Text 20"/>
          <p:cNvSpPr txBox="1"/>
          <p:nvPr/>
        </p:nvSpPr>
        <p:spPr>
          <a:xfrm>
            <a:off x="8402117" y="2468880"/>
            <a:ext cx="296661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30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useEffect()</a:t>
            </a:r>
            <a:endParaRPr lang="ko-KR" alt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8402117" y="2880360"/>
            <a:ext cx="2966618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1500" dirty="0">
                <a:solidFill>
                  <a:schemeClr val="tx1"/>
                </a:solidFill>
              </a:rPr>
              <a:t>화면 밖의 일(서버 요청, 타이머)을 한다. 정리 함수로 뒷정리한다.</a:t>
            </a:r>
            <a:endParaRPr lang="ko-KR" altLang="en-US" sz="1500" dirty="0"/>
          </a:p>
        </p:txBody>
      </p:sp>
      <p:sp>
        <p:nvSpPr>
          <p:cNvPr id="25" name="key-box"/>
          <p:cNvSpPr/>
          <p:nvPr/>
        </p:nvSpPr>
        <p:spPr>
          <a:xfrm>
            <a:off x="548640" y="5532120"/>
            <a:ext cx="11094415" cy="566928"/>
          </a:xfrm>
          <a:prstGeom prst="roundRect">
            <a:avLst>
              <a:gd name="adj" fmla="val 16129"/>
            </a:avLst>
          </a:prstGeom>
          <a:solidFill>
            <a:schemeClr val="tx2"/>
          </a:solidFill>
          <a:ln/>
        </p:spPr>
      </p:sp>
      <p:sp>
        <p:nvSpPr>
          <p:cNvPr id="26" name="key-dot"/>
          <p:cNvSpPr/>
          <p:nvPr/>
        </p:nvSpPr>
        <p:spPr>
          <a:xfrm>
            <a:off x="777240" y="5760720"/>
            <a:ext cx="109728" cy="10972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7" name="key-text"/>
          <p:cNvSpPr txBox="1"/>
          <p:nvPr/>
        </p:nvSpPr>
        <p:spPr>
          <a:xfrm>
            <a:off x="1005840" y="5532120"/>
            <a:ext cx="104543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500" b="1" dirty="0">
                <a:solidFill>
                  <a:schemeClr val="bg1"/>
                </a:solidFill>
              </a:rPr>
              <a:t>화면 = 상태를 그린 그림. 화면을 직접 고치지 않고 상태를 바꾼다</a:t>
            </a:r>
            <a:endParaRPr lang="ko-KR" alt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eaLnBrk="0" algn="r"/>
            <a:fld id="{F7021451-1387-4CA6-816F-3879F97B5CBC}" type="slidenum">
              <a:rPr b="0" lang="ko-KR" altLang="en-US"/>
              <a:t>3</a:t>
            </a:fld>
            <a:endParaRPr lang="ko-KR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-pill"/>
          <p:cNvSpPr/>
          <p:nvPr/>
        </p:nvSpPr>
        <p:spPr>
          <a:xfrm>
            <a:off x="548640" y="292608"/>
            <a:ext cx="2354580" cy="310896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3" name="tag-dot"/>
          <p:cNvSpPr/>
          <p:nvPr/>
        </p:nvSpPr>
        <p:spPr>
          <a:xfrm>
            <a:off x="676656" y="393192"/>
            <a:ext cx="109728" cy="10972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ag-text"/>
          <p:cNvSpPr txBox="1"/>
          <p:nvPr/>
        </p:nvSpPr>
        <p:spPr>
          <a:xfrm>
            <a:off x="841248" y="292608"/>
            <a:ext cx="20253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100" b="1" dirty="0">
                <a:solidFill>
                  <a:schemeClr val="tx1"/>
                </a:solidFill>
              </a:rPr>
              <a:t>04회차 · React 화면</a:t>
            </a:r>
            <a:endParaRPr lang="ko-KR" altLang="en-US" sz="11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548640" y="65836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b="1" dirty="0">
                <a:solidFill>
                  <a:schemeClr val="tx1"/>
                </a:solidFill>
              </a:rPr>
              <a:t>화면이 바뀌는 순서</a:t>
            </a:r>
            <a:endParaRPr lang="ko-KR" altLang="en-US" sz="3200" dirty="0"/>
          </a:p>
        </p:txBody>
      </p:sp>
      <p:sp>
        <p:nvSpPr>
          <p:cNvPr id="7" name="step-1"/>
          <p:cNvSpPr/>
          <p:nvPr/>
        </p:nvSpPr>
        <p:spPr>
          <a:xfrm>
            <a:off x="548640" y="1965960"/>
            <a:ext cx="2485568" cy="2651760"/>
          </a:xfrm>
          <a:prstGeom prst="roundRect">
            <a:avLst>
              <a:gd name="adj" fmla="val 4415"/>
            </a:avLst>
          </a:prstGeom>
          <a:solidFill>
            <a:schemeClr val="bg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777240" y="2167128"/>
            <a:ext cx="20283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300" b="1" dirty="0">
                <a:solidFill>
                  <a:schemeClr val="accent1"/>
                </a:solidFill>
              </a:rPr>
              <a:t>01</a:t>
            </a:r>
            <a:endParaRPr lang="ko-KR" alt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2514600"/>
            <a:ext cx="20283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1900" b="1" dirty="0">
                <a:solidFill>
                  <a:schemeClr val="tx1"/>
                </a:solidFill>
              </a:rPr>
              <a:t>사용자 행동</a:t>
            </a:r>
            <a:endParaRPr lang="ko-KR" altLang="en-US" sz="190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3337560"/>
            <a:ext cx="202836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1400" dirty="0">
                <a:solidFill>
                  <a:schemeClr val="tx1"/>
                </a:solidFill>
              </a:rPr>
              <a:t>"만들기" 버튼 클릭</a:t>
            </a:r>
            <a:endParaRPr lang="ko-KR" altLang="en-US" sz="1400" dirty="0"/>
          </a:p>
        </p:txBody>
      </p:sp>
      <p:sp>
        <p:nvSpPr>
          <p:cNvPr id="11" name="arrow-1"/>
          <p:cNvSpPr/>
          <p:nvPr/>
        </p:nvSpPr>
        <p:spPr>
          <a:xfrm rot="5400000">
            <a:off x="3134792" y="3172968"/>
            <a:ext cx="182880" cy="237744"/>
          </a:xfrm>
          <a:prstGeom prst="triangle">
            <a:avLst/>
          </a:prstGeom>
          <a:solidFill>
            <a:schemeClr val="accent6"/>
          </a:solidFill>
          <a:ln/>
        </p:spPr>
      </p:sp>
      <p:sp>
        <p:nvSpPr>
          <p:cNvPr id="12" name="step-2"/>
          <p:cNvSpPr/>
          <p:nvPr/>
        </p:nvSpPr>
        <p:spPr>
          <a:xfrm>
            <a:off x="3418256" y="1965960"/>
            <a:ext cx="2485568" cy="2651760"/>
          </a:xfrm>
          <a:prstGeom prst="roundRect">
            <a:avLst>
              <a:gd name="adj" fmla="val 4415"/>
            </a:avLst>
          </a:prstGeom>
          <a:solidFill>
            <a:schemeClr val="bg2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3646856" y="2167128"/>
            <a:ext cx="20283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300" b="1" dirty="0">
                <a:solidFill>
                  <a:schemeClr val="accent1"/>
                </a:solidFill>
              </a:rPr>
              <a:t>02</a:t>
            </a:r>
            <a:endParaRPr lang="ko-KR" alt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3646856" y="2514600"/>
            <a:ext cx="20283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1900" b="1" dirty="0">
                <a:solidFill>
                  <a:schemeClr val="tx1"/>
                </a:solidFill>
              </a:rPr>
              <a:t>상태 변경</a:t>
            </a:r>
            <a:endParaRPr lang="ko-KR" altLang="en-US" sz="1900" dirty="0"/>
          </a:p>
        </p:txBody>
      </p:sp>
      <p:sp>
        <p:nvSpPr>
          <p:cNvPr id="15" name="Text 12"/>
          <p:cNvSpPr txBox="1"/>
          <p:nvPr/>
        </p:nvSpPr>
        <p:spPr>
          <a:xfrm>
            <a:off x="3646856" y="3337560"/>
            <a:ext cx="202836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1400" dirty="0">
                <a:solidFill>
                  <a:schemeClr val="tx1"/>
                </a:solidFill>
              </a:rPr>
              <a:t>setCreating(true) 처럼 set 함수 호출</a:t>
            </a:r>
            <a:endParaRPr lang="ko-KR" altLang="en-US" sz="1400" dirty="0"/>
          </a:p>
        </p:txBody>
      </p:sp>
      <p:sp>
        <p:nvSpPr>
          <p:cNvPr id="16" name="arrow-2"/>
          <p:cNvSpPr/>
          <p:nvPr/>
        </p:nvSpPr>
        <p:spPr>
          <a:xfrm rot="5400000">
            <a:off x="6004408" y="3172968"/>
            <a:ext cx="182880" cy="237744"/>
          </a:xfrm>
          <a:prstGeom prst="triangle">
            <a:avLst/>
          </a:prstGeom>
          <a:solidFill>
            <a:schemeClr val="accent6"/>
          </a:solidFill>
          <a:ln/>
        </p:spPr>
      </p:sp>
      <p:sp>
        <p:nvSpPr>
          <p:cNvPr id="17" name="step-3"/>
          <p:cNvSpPr/>
          <p:nvPr/>
        </p:nvSpPr>
        <p:spPr>
          <a:xfrm>
            <a:off x="6287872" y="1965960"/>
            <a:ext cx="2485568" cy="2651760"/>
          </a:xfrm>
          <a:prstGeom prst="roundRect">
            <a:avLst>
              <a:gd name="adj" fmla="val 4415"/>
            </a:avLst>
          </a:prstGeom>
          <a:solidFill>
            <a:schemeClr val="bg2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6516472" y="2167128"/>
            <a:ext cx="20283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300" b="1" dirty="0">
                <a:solidFill>
                  <a:schemeClr val="accent1"/>
                </a:solidFill>
              </a:rPr>
              <a:t>03</a:t>
            </a:r>
            <a:endParaRPr lang="ko-KR" alt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6516472" y="2514600"/>
            <a:ext cx="20283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1900" b="1" dirty="0">
                <a:solidFill>
                  <a:schemeClr val="tx1"/>
                </a:solidFill>
              </a:rPr>
              <a:t>다시 그리기</a:t>
            </a:r>
            <a:endParaRPr lang="ko-KR" altLang="en-US" sz="1900" dirty="0"/>
          </a:p>
        </p:txBody>
      </p:sp>
      <p:sp>
        <p:nvSpPr>
          <p:cNvPr id="20" name="Text 17"/>
          <p:cNvSpPr txBox="1"/>
          <p:nvPr/>
        </p:nvSpPr>
        <p:spPr>
          <a:xfrm>
            <a:off x="6516472" y="3337560"/>
            <a:ext cx="202836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1400" dirty="0">
                <a:solidFill>
                  <a:schemeClr val="tx1"/>
                </a:solidFill>
              </a:rPr>
              <a:t>컴포넌트 함수가 새 상태로 다시 실행</a:t>
            </a:r>
            <a:endParaRPr lang="ko-KR" altLang="en-US" sz="1400" dirty="0"/>
          </a:p>
        </p:txBody>
      </p:sp>
      <p:sp>
        <p:nvSpPr>
          <p:cNvPr id="21" name="arrow-3"/>
          <p:cNvSpPr/>
          <p:nvPr/>
        </p:nvSpPr>
        <p:spPr>
          <a:xfrm rot="5400000">
            <a:off x="8874023" y="3172968"/>
            <a:ext cx="182880" cy="237744"/>
          </a:xfrm>
          <a:prstGeom prst="triangle">
            <a:avLst/>
          </a:prstGeom>
          <a:solidFill>
            <a:schemeClr val="accent6"/>
          </a:solidFill>
          <a:ln/>
        </p:spPr>
      </p:sp>
      <p:sp>
        <p:nvSpPr>
          <p:cNvPr id="22" name="step-4"/>
          <p:cNvSpPr/>
          <p:nvPr/>
        </p:nvSpPr>
        <p:spPr>
          <a:xfrm>
            <a:off x="9157487" y="1965960"/>
            <a:ext cx="2485568" cy="2651760"/>
          </a:xfrm>
          <a:prstGeom prst="roundRect">
            <a:avLst>
              <a:gd name="adj" fmla="val 4415"/>
            </a:avLst>
          </a:prstGeom>
          <a:solidFill>
            <a:schemeClr val="tx2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9386087" y="2167128"/>
            <a:ext cx="20283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300" b="1" dirty="0">
                <a:solidFill>
                  <a:schemeClr val="accent1"/>
                </a:solidFill>
              </a:rPr>
              <a:t>04</a:t>
            </a:r>
            <a:endParaRPr lang="ko-KR" alt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9386087" y="2514600"/>
            <a:ext cx="20283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1900" b="1" dirty="0">
                <a:solidFill>
                  <a:schemeClr val="bg1"/>
                </a:solidFill>
              </a:rPr>
              <a:t>화면 반영</a:t>
            </a:r>
            <a:endParaRPr lang="ko-KR" altLang="en-US" sz="1900" dirty="0"/>
          </a:p>
        </p:txBody>
      </p:sp>
      <p:sp>
        <p:nvSpPr>
          <p:cNvPr id="25" name="Text 22"/>
          <p:cNvSpPr txBox="1"/>
          <p:nvPr/>
        </p:nvSpPr>
        <p:spPr>
          <a:xfrm>
            <a:off x="9386087" y="3337560"/>
            <a:ext cx="202836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1400" dirty="0">
                <a:solidFill>
                  <a:schemeClr val="bg1"/>
                </a:solidFill>
              </a:rPr>
              <a:t>바뀐 부분만 실제 화면에 적용</a:t>
            </a:r>
            <a:endParaRPr lang="ko-KR" alt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eaLnBrk="0" algn="r"/>
            <a:fld id="{F7021451-1387-4CA6-816F-3879F97B5CBC}" type="slidenum">
              <a:rPr b="0" lang="ko-KR" altLang="en-US"/>
              <a:t>4</a:t>
            </a:fld>
            <a:endParaRPr lang="ko-KR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-pill"/>
          <p:cNvSpPr/>
          <p:nvPr/>
        </p:nvSpPr>
        <p:spPr>
          <a:xfrm>
            <a:off x="548640" y="292608"/>
            <a:ext cx="2354580" cy="310896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3" name="tag-dot"/>
          <p:cNvSpPr/>
          <p:nvPr/>
        </p:nvSpPr>
        <p:spPr>
          <a:xfrm>
            <a:off x="676656" y="393192"/>
            <a:ext cx="109728" cy="10972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ag-text"/>
          <p:cNvSpPr txBox="1"/>
          <p:nvPr/>
        </p:nvSpPr>
        <p:spPr>
          <a:xfrm>
            <a:off x="841248" y="292608"/>
            <a:ext cx="20253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100" b="1" dirty="0">
                <a:solidFill>
                  <a:schemeClr val="tx1"/>
                </a:solidFill>
              </a:rPr>
              <a:t>04회차 · React 화면</a:t>
            </a:r>
            <a:endParaRPr lang="ko-KR" altLang="en-US" sz="11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548640" y="65836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b="1" dirty="0">
                <a:solidFill>
                  <a:schemeClr val="tx1"/>
                </a:solidFill>
              </a:rPr>
              <a:t>Vite 개발 서버와 프록시</a:t>
            </a:r>
            <a:endParaRPr lang="ko-KR" altLang="en-US" sz="3200" dirty="0"/>
          </a:p>
        </p:txBody>
      </p:sp>
      <p:sp>
        <p:nvSpPr>
          <p:cNvPr id="7" name="step-1"/>
          <p:cNvSpPr/>
          <p:nvPr/>
        </p:nvSpPr>
        <p:spPr>
          <a:xfrm>
            <a:off x="548640" y="1965960"/>
            <a:ext cx="3442106" cy="2651760"/>
          </a:xfrm>
          <a:prstGeom prst="roundRect">
            <a:avLst>
              <a:gd name="adj" fmla="val 4138"/>
            </a:avLst>
          </a:prstGeom>
          <a:solidFill>
            <a:schemeClr val="bg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777240" y="2167128"/>
            <a:ext cx="298490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300" b="1" dirty="0">
                <a:solidFill>
                  <a:schemeClr val="accent1"/>
                </a:solidFill>
              </a:rPr>
              <a:t>01</a:t>
            </a:r>
            <a:endParaRPr lang="ko-KR" alt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2514600"/>
            <a:ext cx="298490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1900" b="1" dirty="0">
                <a:solidFill>
                  <a:schemeClr val="tx1"/>
                </a:solidFill>
              </a:rPr>
              <a:t>브라우저</a:t>
            </a:r>
            <a:endParaRPr lang="ko-KR" altLang="en-US" sz="190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3337560"/>
            <a:ext cx="298490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1400" dirty="0">
                <a:solidFill>
                  <a:schemeClr val="tx1"/>
                </a:solidFill>
              </a:rPr>
              <a:t>localhost:5173/api/classrooms 요청</a:t>
            </a:r>
            <a:endParaRPr lang="ko-KR" altLang="en-US" sz="1400" dirty="0"/>
          </a:p>
        </p:txBody>
      </p:sp>
      <p:sp>
        <p:nvSpPr>
          <p:cNvPr id="11" name="arrow-1"/>
          <p:cNvSpPr/>
          <p:nvPr/>
        </p:nvSpPr>
        <p:spPr>
          <a:xfrm rot="5400000">
            <a:off x="4091330" y="3172968"/>
            <a:ext cx="182880" cy="237744"/>
          </a:xfrm>
          <a:prstGeom prst="triangle">
            <a:avLst/>
          </a:prstGeom>
          <a:solidFill>
            <a:schemeClr val="accent6"/>
          </a:solidFill>
          <a:ln/>
        </p:spPr>
      </p:sp>
      <p:sp>
        <p:nvSpPr>
          <p:cNvPr id="12" name="step-2"/>
          <p:cNvSpPr/>
          <p:nvPr/>
        </p:nvSpPr>
        <p:spPr>
          <a:xfrm>
            <a:off x="4374794" y="1965960"/>
            <a:ext cx="3442106" cy="2651760"/>
          </a:xfrm>
          <a:prstGeom prst="roundRect">
            <a:avLst>
              <a:gd name="adj" fmla="val 4138"/>
            </a:avLst>
          </a:prstGeom>
          <a:solidFill>
            <a:schemeClr val="bg2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4603394" y="2167128"/>
            <a:ext cx="298490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300" b="1" dirty="0">
                <a:solidFill>
                  <a:schemeClr val="accent1"/>
                </a:solidFill>
              </a:rPr>
              <a:t>02</a:t>
            </a:r>
            <a:endParaRPr lang="ko-KR" alt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4603394" y="2514600"/>
            <a:ext cx="298490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1900" b="1" dirty="0">
                <a:solidFill>
                  <a:schemeClr val="tx1"/>
                </a:solidFill>
              </a:rPr>
              <a:t>Vite (5173)</a:t>
            </a:r>
            <a:endParaRPr lang="ko-KR" altLang="en-US" sz="1900" dirty="0"/>
          </a:p>
        </p:txBody>
      </p:sp>
      <p:sp>
        <p:nvSpPr>
          <p:cNvPr id="15" name="Text 12"/>
          <p:cNvSpPr txBox="1"/>
          <p:nvPr/>
        </p:nvSpPr>
        <p:spPr>
          <a:xfrm>
            <a:off x="4603394" y="3337560"/>
            <a:ext cx="298490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1400" dirty="0">
                <a:solidFill>
                  <a:schemeClr val="tx1"/>
                </a:solidFill>
              </a:rPr>
              <a:t>/api 로 시작하면 대신 전달</a:t>
            </a:r>
            <a:endParaRPr lang="ko-KR" altLang="en-US" sz="1400" dirty="0"/>
          </a:p>
        </p:txBody>
      </p:sp>
      <p:sp>
        <p:nvSpPr>
          <p:cNvPr id="16" name="arrow-2"/>
          <p:cNvSpPr/>
          <p:nvPr/>
        </p:nvSpPr>
        <p:spPr>
          <a:xfrm rot="5400000">
            <a:off x="7917485" y="3172968"/>
            <a:ext cx="182880" cy="237744"/>
          </a:xfrm>
          <a:prstGeom prst="triangle">
            <a:avLst/>
          </a:prstGeom>
          <a:solidFill>
            <a:schemeClr val="accent6"/>
          </a:solidFill>
          <a:ln/>
        </p:spPr>
      </p:sp>
      <p:sp>
        <p:nvSpPr>
          <p:cNvPr id="17" name="step-3"/>
          <p:cNvSpPr/>
          <p:nvPr/>
        </p:nvSpPr>
        <p:spPr>
          <a:xfrm>
            <a:off x="8200949" y="1965960"/>
            <a:ext cx="3442106" cy="2651760"/>
          </a:xfrm>
          <a:prstGeom prst="roundRect">
            <a:avLst>
              <a:gd name="adj" fmla="val 4138"/>
            </a:avLst>
          </a:prstGeom>
          <a:solidFill>
            <a:schemeClr val="tx2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8429549" y="2167128"/>
            <a:ext cx="298490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300" b="1" dirty="0">
                <a:solidFill>
                  <a:schemeClr val="accent1"/>
                </a:solidFill>
              </a:rPr>
              <a:t>03</a:t>
            </a:r>
            <a:endParaRPr lang="ko-KR" alt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8429549" y="2514600"/>
            <a:ext cx="298490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1900" b="1" dirty="0">
                <a:solidFill>
                  <a:schemeClr val="bg1"/>
                </a:solidFill>
              </a:rPr>
              <a:t>Node (3000)</a:t>
            </a:r>
            <a:endParaRPr lang="ko-KR" altLang="en-US" sz="1900" dirty="0"/>
          </a:p>
        </p:txBody>
      </p:sp>
      <p:sp>
        <p:nvSpPr>
          <p:cNvPr id="20" name="Text 17"/>
          <p:cNvSpPr txBox="1"/>
          <p:nvPr/>
        </p:nvSpPr>
        <p:spPr>
          <a:xfrm>
            <a:off x="8429549" y="3337560"/>
            <a:ext cx="298490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1400" dirty="0">
                <a:solidFill>
                  <a:schemeClr val="bg1"/>
                </a:solidFill>
              </a:rPr>
              <a:t>실제 API 처리</a:t>
            </a:r>
            <a:endParaRPr lang="ko-KR" altLang="en-US" sz="1400" dirty="0"/>
          </a:p>
        </p:txBody>
      </p:sp>
      <p:sp>
        <p:nvSpPr>
          <p:cNvPr id="21" name="key-box"/>
          <p:cNvSpPr/>
          <p:nvPr/>
        </p:nvSpPr>
        <p:spPr>
          <a:xfrm>
            <a:off x="548640" y="5029200"/>
            <a:ext cx="11094415" cy="566928"/>
          </a:xfrm>
          <a:prstGeom prst="roundRect">
            <a:avLst>
              <a:gd name="adj" fmla="val 16129"/>
            </a:avLst>
          </a:prstGeom>
          <a:solidFill>
            <a:schemeClr val="tx2"/>
          </a:solidFill>
          <a:ln/>
        </p:spPr>
      </p:sp>
      <p:sp>
        <p:nvSpPr>
          <p:cNvPr id="22" name="key-dot"/>
          <p:cNvSpPr/>
          <p:nvPr/>
        </p:nvSpPr>
        <p:spPr>
          <a:xfrm>
            <a:off x="777240" y="5257800"/>
            <a:ext cx="109728" cy="10972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3" name="key-text"/>
          <p:cNvSpPr txBox="1"/>
          <p:nvPr/>
        </p:nvSpPr>
        <p:spPr>
          <a:xfrm>
            <a:off x="1005840" y="5029200"/>
            <a:ext cx="104543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500" b="1" dirty="0">
                <a:solidFill>
                  <a:schemeClr val="bg1"/>
                </a:solidFill>
              </a:rPr>
              <a:t>vite.config.ts 의 proxy: { '/api': 'http://127.0.0.1:3000' } 한 줄로 해결</a:t>
            </a:r>
            <a:endParaRPr lang="ko-KR" alt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eaLnBrk="0" algn="r"/>
            <a:fld id="{F7021451-1387-4CA6-816F-3879F97B5CBC}" type="slidenum">
              <a:rPr b="0" lang="ko-KR" altLang="en-US"/>
              <a:t>5</a:t>
            </a:fld>
            <a:endParaRPr lang="ko-KR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-pill"/>
          <p:cNvSpPr/>
          <p:nvPr/>
        </p:nvSpPr>
        <p:spPr>
          <a:xfrm>
            <a:off x="548640" y="292608"/>
            <a:ext cx="2354580" cy="310896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3" name="tag-dot"/>
          <p:cNvSpPr/>
          <p:nvPr/>
        </p:nvSpPr>
        <p:spPr>
          <a:xfrm>
            <a:off x="676656" y="393192"/>
            <a:ext cx="109728" cy="10972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ag-text"/>
          <p:cNvSpPr txBox="1"/>
          <p:nvPr/>
        </p:nvSpPr>
        <p:spPr>
          <a:xfrm>
            <a:off x="841248" y="292608"/>
            <a:ext cx="20253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100" b="1" dirty="0">
                <a:solidFill>
                  <a:schemeClr val="tx1"/>
                </a:solidFill>
              </a:rPr>
              <a:t>04회차 · React 화면</a:t>
            </a:r>
            <a:endParaRPr lang="ko-KR" altLang="en-US" sz="11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548640" y="65836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b="1" dirty="0">
                <a:solidFill>
                  <a:schemeClr val="tx1"/>
                </a:solidFill>
              </a:rPr>
              <a:t>주기적으로 갱신하는 커스텀 훅</a:t>
            </a:r>
            <a:endParaRPr lang="ko-KR" altLang="en-US" sz="3200" dirty="0"/>
          </a:p>
        </p:txBody>
      </p:sp>
      <p:sp>
        <p:nvSpPr>
          <p:cNvPr id="7" name="code-explain"/>
          <p:cNvSpPr txBox="1"/>
          <p:nvPr/>
        </p:nvSpPr>
        <p:spPr>
          <a:xfrm>
            <a:off x="548640" y="1645920"/>
            <a:ext cx="416052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marL="228600" indent="-228600">
              <a:spcAft>
                <a:spcPts val="1200"/>
              </a:spcAft>
              <a:buSzPct val="100000"/>
              <a:buChar char="•"/>
            </a:pPr>
            <a:r>
              <a:rPr lang="ko-KR" altLang="en-US" sz="1600" dirty="0">
                <a:solidFill>
                  <a:schemeClr val="tx1"/>
                </a:solidFill>
              </a:rPr>
              <a:t>같은 패턴(불러오기 → 저장 → 반복)을 함수로 묶은 것이 커스텀 훅</a:t>
            </a:r>
            <a:endParaRPr lang="ko-KR" altLang="en-US" sz="1600" dirty="0"/>
          </a:p>
          <a:p>
            <a:pPr eaLnBrk="0" marL="228600" indent="-228600">
              <a:spcAft>
                <a:spcPts val="1200"/>
              </a:spcAft>
              <a:buSzPct val="100000"/>
              <a:buChar char="•"/>
            </a:pPr>
            <a:r>
              <a:rPr lang="ko-KR" altLang="en-US" sz="1600" dirty="0">
                <a:solidFill>
                  <a:schemeClr val="tx1"/>
                </a:solidFill>
              </a:rPr>
              <a:t>처음 한 번, 그 뒤로 몇 초마다 다시 불러온다</a:t>
            </a:r>
            <a:endParaRPr lang="ko-KR" altLang="en-US" sz="1600" dirty="0"/>
          </a:p>
          <a:p>
            <a:pPr eaLnBrk="0" marL="228600" indent="-228600">
              <a:spcAft>
                <a:spcPts val="1200"/>
              </a:spcAft>
              <a:buSzPct val="100000"/>
              <a:buChar char="•"/>
            </a:pPr>
            <a:r>
              <a:rPr lang="ko-KR" altLang="en-US" sz="1600" dirty="0">
                <a:solidFill>
                  <a:schemeClr val="tx1"/>
                </a:solidFill>
              </a:rPr>
              <a:t>화면을 떠나면 타이머를 꼭 정리한다</a:t>
            </a:r>
            <a:endParaRPr lang="ko-KR" altLang="en-US" sz="1600" dirty="0"/>
          </a:p>
        </p:txBody>
      </p:sp>
      <p:sp>
        <p:nvSpPr>
          <p:cNvPr id="8" name="code-panel"/>
          <p:cNvSpPr/>
          <p:nvPr/>
        </p:nvSpPr>
        <p:spPr>
          <a:xfrm>
            <a:off x="5029200" y="1600200"/>
            <a:ext cx="6613855" cy="4572000"/>
          </a:xfrm>
          <a:prstGeom prst="roundRect">
            <a:avLst>
              <a:gd name="adj" fmla="val 2400"/>
            </a:avLst>
          </a:prstGeom>
          <a:solidFill>
            <a:schemeClr val="tx2"/>
          </a:solidFill>
          <a:ln/>
        </p:spPr>
      </p:sp>
      <p:sp>
        <p:nvSpPr>
          <p:cNvPr id="9" name="Shape 6"/>
          <p:cNvSpPr/>
          <p:nvPr/>
        </p:nvSpPr>
        <p:spPr>
          <a:xfrm>
            <a:off x="5303520" y="1874520"/>
            <a:ext cx="109728" cy="10972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code-file"/>
          <p:cNvSpPr txBox="1"/>
          <p:nvPr/>
        </p:nvSpPr>
        <p:spPr>
          <a:xfrm>
            <a:off x="5504688" y="1783080"/>
            <a:ext cx="58823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200" dirty="0">
                <a:solidFill>
                  <a:schemeClr val="bg2"/>
                </a:solidFill>
              </a:rPr>
              <a:t>apps/web/src/hooks.ts (요약)</a:t>
            </a:r>
            <a:endParaRPr lang="ko-KR" altLang="en-US" sz="1200" dirty="0"/>
          </a:p>
        </p:txBody>
      </p:sp>
      <p:sp>
        <p:nvSpPr>
          <p:cNvPr id="11" name="code-text"/>
          <p:cNvSpPr txBox="1"/>
          <p:nvPr/>
        </p:nvSpPr>
        <p:spPr>
          <a:xfrm>
            <a:off x="5303520" y="2194560"/>
            <a:ext cx="6065215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13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function usePolling(load, intervalMs) {</a:t>
            </a:r>
            <a:endParaRPr lang="ko-KR" altLang="en-US" sz="1300" dirty="0"/>
          </a:p>
          <a:p>
            <a:pPr eaLnBrk="0" indent="0" marL="0">
              <a:buNone/>
            </a:pPr>
            <a:r>
              <a:rPr lang="ko-KR" altLang="en-US" sz="13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[data, setData] = useState(null);</a:t>
            </a:r>
            <a:endParaRPr lang="ko-KR" altLang="en-US" sz="1300" dirty="0"/>
          </a:p>
          <a:p>
            <a:pPr eaLnBrk="0" indent="0" marL="0">
              <a:buNone/>
            </a:pPr>
            <a:r>
              <a:rPr lang="ko-KR" altLang="en-US" sz="13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[error, setError] = useState(null);</a:t>
            </a:r>
            <a:endParaRPr lang="ko-KR" altLang="en-US" sz="1300" dirty="0"/>
          </a:p>
          <a:p>
            <a:pPr eaLnBrk="0" indent="0" marL="0">
              <a:buNone/>
            </a:pPr>
            <a:r>
              <a:rPr lang="ko-KR" altLang="en-US" sz="13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ko-KR" altLang="en-US" sz="1300" dirty="0"/>
          </a:p>
          <a:p>
            <a:pPr eaLnBrk="0" indent="0" marL="0">
              <a:buNone/>
            </a:pPr>
            <a:r>
              <a:rPr lang="ko-KR" altLang="en-US" sz="13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useEffect(() =&gt; {</a:t>
            </a:r>
            <a:endParaRPr lang="ko-KR" altLang="en-US" sz="1300" dirty="0"/>
          </a:p>
          <a:p>
            <a:pPr eaLnBrk="0" indent="0" marL="0">
              <a:buNone/>
            </a:pPr>
            <a:r>
              <a:rPr lang="ko-KR" altLang="en-US" sz="13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const run = () =&gt;</a:t>
            </a:r>
            <a:endParaRPr lang="ko-KR" altLang="en-US" sz="1300" dirty="0"/>
          </a:p>
          <a:p>
            <a:pPr eaLnBrk="0" indent="0" marL="0">
              <a:buNone/>
            </a:pPr>
            <a:r>
              <a:rPr lang="ko-KR" altLang="en-US" sz="13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load().then(setData, (e) =&gt; setError(e.message));</a:t>
            </a:r>
            <a:endParaRPr lang="ko-KR" altLang="en-US" sz="1300" dirty="0"/>
          </a:p>
          <a:p>
            <a:pPr eaLnBrk="0" indent="0" marL="0">
              <a:buNone/>
            </a:pPr>
            <a:r>
              <a:rPr lang="ko-KR" altLang="en-US" sz="13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run();                                 // 처음 한 번</a:t>
            </a:r>
            <a:endParaRPr lang="ko-KR" altLang="en-US" sz="1300" dirty="0"/>
          </a:p>
          <a:p>
            <a:pPr eaLnBrk="0" indent="0" marL="0">
              <a:buNone/>
            </a:pPr>
            <a:r>
              <a:rPr lang="ko-KR" altLang="en-US" sz="13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const timer = setInterval(run, intervalMs); // 이후 반복</a:t>
            </a:r>
            <a:endParaRPr lang="ko-KR" altLang="en-US" sz="1300" dirty="0"/>
          </a:p>
          <a:p>
            <a:pPr eaLnBrk="0" indent="0" marL="0">
              <a:buNone/>
            </a:pPr>
            <a:r>
              <a:rPr lang="ko-KR" altLang="en-US" sz="13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() =&gt; clearInterval(timer);     // 떠날 때 정리</a:t>
            </a:r>
            <a:endParaRPr lang="ko-KR" altLang="en-US" sz="1300" dirty="0"/>
          </a:p>
          <a:p>
            <a:pPr eaLnBrk="0" indent="0" marL="0">
              <a:buNone/>
            </a:pPr>
            <a:r>
              <a:rPr lang="ko-KR" altLang="en-US" sz="13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}, [intervalMs]);</a:t>
            </a:r>
            <a:endParaRPr lang="ko-KR" altLang="en-US" sz="1300" dirty="0"/>
          </a:p>
          <a:p>
            <a:pPr eaLnBrk="0" indent="0" marL="0">
              <a:buNone/>
            </a:pPr>
            <a:r>
              <a:rPr lang="ko-KR" altLang="en-US" sz="13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ko-KR" altLang="en-US" sz="1300" dirty="0"/>
          </a:p>
          <a:p>
            <a:pPr eaLnBrk="0" indent="0" marL="0">
              <a:buNone/>
            </a:pPr>
            <a:r>
              <a:rPr lang="ko-KR" altLang="en-US" sz="13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{ data, error };</a:t>
            </a:r>
            <a:endParaRPr lang="ko-KR" altLang="en-US" sz="1300" dirty="0"/>
          </a:p>
          <a:p>
            <a:pPr eaLnBrk="0" indent="0" marL="0">
              <a:buNone/>
            </a:pPr>
            <a:r>
              <a:rPr lang="ko-KR" altLang="en-US" sz="13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ko-KR" alt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eaLnBrk="0" algn="r"/>
            <a:fld id="{F7021451-1387-4CA6-816F-3879F97B5CBC}" type="slidenum">
              <a:rPr b="0" lang="ko-KR" altLang="en-US"/>
              <a:t>6</a:t>
            </a:fld>
            <a:endParaRPr lang="ko-KR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-pill"/>
          <p:cNvSpPr/>
          <p:nvPr/>
        </p:nvSpPr>
        <p:spPr>
          <a:xfrm>
            <a:off x="548640" y="292608"/>
            <a:ext cx="2354580" cy="310896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3" name="tag-dot"/>
          <p:cNvSpPr/>
          <p:nvPr/>
        </p:nvSpPr>
        <p:spPr>
          <a:xfrm>
            <a:off x="676656" y="393192"/>
            <a:ext cx="109728" cy="10972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ag-text"/>
          <p:cNvSpPr txBox="1"/>
          <p:nvPr/>
        </p:nvSpPr>
        <p:spPr>
          <a:xfrm>
            <a:off x="841248" y="292608"/>
            <a:ext cx="20253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100" b="1" dirty="0">
                <a:solidFill>
                  <a:schemeClr val="tx1"/>
                </a:solidFill>
              </a:rPr>
              <a:t>04회차 · React 화면</a:t>
            </a:r>
            <a:endParaRPr lang="ko-KR" altLang="en-US" sz="11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548640" y="65836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b="1" dirty="0">
                <a:solidFill>
                  <a:schemeClr val="tx1"/>
                </a:solidFill>
              </a:rPr>
              <a:t>목록 그리기</a:t>
            </a:r>
            <a:endParaRPr lang="ko-KR" altLang="en-US" sz="3200" dirty="0"/>
          </a:p>
        </p:txBody>
      </p:sp>
      <p:sp>
        <p:nvSpPr>
          <p:cNvPr id="7" name="code-explain"/>
          <p:cNvSpPr txBox="1"/>
          <p:nvPr/>
        </p:nvSpPr>
        <p:spPr>
          <a:xfrm>
            <a:off x="548640" y="1645920"/>
            <a:ext cx="416052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marL="228600" indent="-228600">
              <a:spcAft>
                <a:spcPts val="1200"/>
              </a:spcAft>
              <a:buSzPct val="100000"/>
              <a:buChar char="•"/>
            </a:pPr>
            <a:r>
              <a:rPr lang="ko-KR" altLang="en-US" sz="1600" dirty="0">
                <a:solidFill>
                  <a:schemeClr val="tx1"/>
                </a:solidFill>
              </a:rPr>
              <a:t>배열은 map 으로 화면 조각 배열로 바꾼다</a:t>
            </a:r>
            <a:endParaRPr lang="ko-KR" altLang="en-US" sz="1600" dirty="0"/>
          </a:p>
          <a:p>
            <a:pPr eaLnBrk="0" marL="228600" indent="-228600">
              <a:spcAft>
                <a:spcPts val="1200"/>
              </a:spcAft>
              <a:buSzPct val="100000"/>
              <a:buChar char="•"/>
            </a:pPr>
            <a:r>
              <a:rPr lang="ko-KR" altLang="en-US" sz="1600" dirty="0">
                <a:solidFill>
                  <a:schemeClr val="tx1"/>
                </a:solidFill>
              </a:rPr>
              <a:t>key 는 React가 줄을 구분하는 이름표 (id 사용)</a:t>
            </a:r>
            <a:endParaRPr lang="ko-KR" altLang="en-US" sz="1600" dirty="0"/>
          </a:p>
          <a:p>
            <a:pPr eaLnBrk="0" marL="228600" indent="-228600">
              <a:spcAft>
                <a:spcPts val="1200"/>
              </a:spcAft>
              <a:buSzPct val="100000"/>
              <a:buChar char="•"/>
            </a:pPr>
            <a:r>
              <a:rPr lang="ko-KR" altLang="en-US" sz="1600" dirty="0">
                <a:solidFill>
                  <a:schemeClr val="tx1"/>
                </a:solidFill>
              </a:rPr>
              <a:t>?. 는 아직 데이터가 없을 때(null) 에러를 막는다</a:t>
            </a:r>
            <a:endParaRPr lang="ko-KR" altLang="en-US" sz="1600" dirty="0"/>
          </a:p>
        </p:txBody>
      </p:sp>
      <p:sp>
        <p:nvSpPr>
          <p:cNvPr id="8" name="code-panel"/>
          <p:cNvSpPr/>
          <p:nvPr/>
        </p:nvSpPr>
        <p:spPr>
          <a:xfrm>
            <a:off x="5029200" y="1600200"/>
            <a:ext cx="6613855" cy="4572000"/>
          </a:xfrm>
          <a:prstGeom prst="roundRect">
            <a:avLst>
              <a:gd name="adj" fmla="val 2400"/>
            </a:avLst>
          </a:prstGeom>
          <a:solidFill>
            <a:schemeClr val="tx2"/>
          </a:solidFill>
          <a:ln/>
        </p:spPr>
      </p:sp>
      <p:sp>
        <p:nvSpPr>
          <p:cNvPr id="9" name="Shape 6"/>
          <p:cNvSpPr/>
          <p:nvPr/>
        </p:nvSpPr>
        <p:spPr>
          <a:xfrm>
            <a:off x="5303520" y="1874520"/>
            <a:ext cx="109728" cy="10972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code-file"/>
          <p:cNvSpPr txBox="1"/>
          <p:nvPr/>
        </p:nvSpPr>
        <p:spPr>
          <a:xfrm>
            <a:off x="5504688" y="1783080"/>
            <a:ext cx="58823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200" dirty="0">
                <a:solidFill>
                  <a:schemeClr val="bg2"/>
                </a:solidFill>
              </a:rPr>
              <a:t>apps/web/src/pages/ClassroomListPage.tsx (요약)</a:t>
            </a:r>
            <a:endParaRPr lang="ko-KR" altLang="en-US" sz="1200" dirty="0"/>
          </a:p>
        </p:txBody>
      </p:sp>
      <p:sp>
        <p:nvSpPr>
          <p:cNvPr id="11" name="code-text"/>
          <p:cNvSpPr txBox="1"/>
          <p:nvPr/>
        </p:nvSpPr>
        <p:spPr>
          <a:xfrm>
            <a:off x="5303520" y="2194560"/>
            <a:ext cx="6065215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13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classrooms = usePolling(api.listClassrooms, 5000);</a:t>
            </a:r>
            <a:endParaRPr lang="ko-KR" altLang="en-US" sz="1300" dirty="0"/>
          </a:p>
          <a:p>
            <a:pPr eaLnBrk="0" indent="0" marL="0">
              <a:buNone/>
            </a:pPr>
            <a:r>
              <a:rPr lang="ko-KR" altLang="en-US" sz="13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ko-KR" altLang="en-US" sz="1300" dirty="0"/>
          </a:p>
          <a:p>
            <a:pPr eaLnBrk="0" indent="0" marL="0">
              <a:buNone/>
            </a:pPr>
            <a:r>
              <a:rPr lang="ko-KR" altLang="en-US" sz="13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(</a:t>
            </a:r>
            <a:endParaRPr lang="ko-KR" altLang="en-US" sz="1300" dirty="0"/>
          </a:p>
          <a:p>
            <a:pPr eaLnBrk="0" indent="0" marL="0">
              <a:buNone/>
            </a:pPr>
            <a:r>
              <a:rPr lang="ko-KR" altLang="en-US" sz="13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&lt;ul&gt;</a:t>
            </a:r>
            <a:endParaRPr lang="ko-KR" altLang="en-US" sz="1300" dirty="0"/>
          </a:p>
          <a:p>
            <a:pPr eaLnBrk="0" indent="0" marL="0">
              <a:buNone/>
            </a:pPr>
            <a:r>
              <a:rPr lang="ko-KR" altLang="en-US" sz="13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{classrooms.data?.map((room) =&gt; (</a:t>
            </a:r>
            <a:endParaRPr lang="ko-KR" altLang="en-US" sz="1300" dirty="0"/>
          </a:p>
          <a:p>
            <a:pPr eaLnBrk="0" indent="0" marL="0">
              <a:buNone/>
            </a:pPr>
            <a:r>
              <a:rPr lang="ko-KR" altLang="en-US" sz="13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&lt;li key={room.id}&gt;</a:t>
            </a:r>
            <a:endParaRPr lang="ko-KR" altLang="en-US" sz="1300" dirty="0"/>
          </a:p>
          <a:p>
            <a:pPr eaLnBrk="0" indent="0" marL="0">
              <a:buNone/>
            </a:pPr>
            <a:r>
              <a:rPr lang="ko-KR" altLang="en-US" sz="13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&lt;strong&gt;{room.title}&lt;/strong&gt;</a:t>
            </a:r>
            <a:endParaRPr lang="ko-KR" altLang="en-US" sz="1300" dirty="0"/>
          </a:p>
          <a:p>
            <a:pPr eaLnBrk="0" indent="0" marL="0">
              <a:buNone/>
            </a:pPr>
            <a:r>
              <a:rPr lang="ko-KR" altLang="en-US" sz="13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&lt;LiveBadge live={room.live} /&gt;</a:t>
            </a:r>
            <a:endParaRPr lang="ko-KR" altLang="en-US" sz="1300" dirty="0"/>
          </a:p>
          <a:p>
            <a:pPr eaLnBrk="0" indent="0" marL="0">
              <a:buNone/>
            </a:pPr>
            <a:r>
              <a:rPr lang="ko-KR" altLang="en-US" sz="13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&lt;Link to={`/classrooms/${room.id}/teach`}&gt;강의하기&lt;/Link&gt;</a:t>
            </a:r>
            <a:endParaRPr lang="ko-KR" altLang="en-US" sz="1300" dirty="0"/>
          </a:p>
          <a:p>
            <a:pPr eaLnBrk="0" indent="0" marL="0">
              <a:buNone/>
            </a:pPr>
            <a:r>
              <a:rPr lang="ko-KR" altLang="en-US" sz="13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&lt;Link to={`/classrooms/${room.id}/watch`}&gt;시청하기&lt;/Link&gt;</a:t>
            </a:r>
            <a:endParaRPr lang="ko-KR" altLang="en-US" sz="1300" dirty="0"/>
          </a:p>
          <a:p>
            <a:pPr eaLnBrk="0" indent="0" marL="0">
              <a:buNone/>
            </a:pPr>
            <a:r>
              <a:rPr lang="ko-KR" altLang="en-US" sz="13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&lt;/li&gt;</a:t>
            </a:r>
            <a:endParaRPr lang="ko-KR" altLang="en-US" sz="1300" dirty="0"/>
          </a:p>
          <a:p>
            <a:pPr eaLnBrk="0" indent="0" marL="0">
              <a:buNone/>
            </a:pPr>
            <a:r>
              <a:rPr lang="ko-KR" altLang="en-US" sz="13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))}</a:t>
            </a:r>
            <a:endParaRPr lang="ko-KR" altLang="en-US" sz="1300" dirty="0"/>
          </a:p>
          <a:p>
            <a:pPr eaLnBrk="0" indent="0" marL="0">
              <a:buNone/>
            </a:pPr>
            <a:r>
              <a:rPr lang="ko-KR" altLang="en-US" sz="13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&lt;/ul&gt;</a:t>
            </a:r>
            <a:endParaRPr lang="ko-KR" altLang="en-US" sz="1300" dirty="0"/>
          </a:p>
          <a:p>
            <a:pPr eaLnBrk="0" indent="0" marL="0">
              <a:buNone/>
            </a:pPr>
            <a:r>
              <a:rPr lang="ko-KR" altLang="en-US" sz="13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ko-KR" alt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eaLnBrk="0" algn="r"/>
            <a:fld id="{F7021451-1387-4CA6-816F-3879F97B5CBC}" type="slidenum">
              <a:rPr b="0" lang="ko-KR" altLang="en-US"/>
              <a:t>7</a:t>
            </a:fld>
            <a:endParaRPr lang="ko-KR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-pill"/>
          <p:cNvSpPr/>
          <p:nvPr/>
        </p:nvSpPr>
        <p:spPr>
          <a:xfrm>
            <a:off x="548640" y="292608"/>
            <a:ext cx="2354580" cy="310896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3" name="tag-dot"/>
          <p:cNvSpPr/>
          <p:nvPr/>
        </p:nvSpPr>
        <p:spPr>
          <a:xfrm>
            <a:off x="676656" y="393192"/>
            <a:ext cx="109728" cy="10972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ag-text"/>
          <p:cNvSpPr txBox="1"/>
          <p:nvPr/>
        </p:nvSpPr>
        <p:spPr>
          <a:xfrm>
            <a:off x="841248" y="292608"/>
            <a:ext cx="20253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100" b="1" dirty="0">
                <a:solidFill>
                  <a:schemeClr val="tx1"/>
                </a:solidFill>
              </a:rPr>
              <a:t>04회차 · React 화면</a:t>
            </a:r>
            <a:endParaRPr lang="ko-KR" altLang="en-US" sz="11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548640" y="65836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b="1" dirty="0">
                <a:solidFill>
                  <a:schemeClr val="tx1"/>
                </a:solidFill>
              </a:rPr>
              <a:t>사례: "삭제 버튼이 반응이 없어요"</a:t>
            </a:r>
            <a:endParaRPr lang="ko-KR" altLang="en-US" sz="3200" dirty="0"/>
          </a:p>
        </p:txBody>
      </p:sp>
      <p:sp>
        <p:nvSpPr>
          <p:cNvPr id="7" name="case-증상"/>
          <p:cNvSpPr/>
          <p:nvPr/>
        </p:nvSpPr>
        <p:spPr>
          <a:xfrm>
            <a:off x="548640" y="1600200"/>
            <a:ext cx="3515258" cy="3611880"/>
          </a:xfrm>
          <a:prstGeom prst="roundRect">
            <a:avLst>
              <a:gd name="adj" fmla="val 3121"/>
            </a:avLst>
          </a:prstGeom>
          <a:solidFill>
            <a:schemeClr val="bg2"/>
          </a:solidFill>
          <a:ln/>
        </p:spPr>
      </p:sp>
      <p:sp>
        <p:nvSpPr>
          <p:cNvPr id="8" name="Shape 5"/>
          <p:cNvSpPr/>
          <p:nvPr/>
        </p:nvSpPr>
        <p:spPr>
          <a:xfrm>
            <a:off x="822960" y="1874520"/>
            <a:ext cx="868680" cy="36576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822960" y="1874520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400" b="1" dirty="0">
                <a:solidFill>
                  <a:schemeClr val="bg1"/>
                </a:solidFill>
              </a:rPr>
              <a:t>증상</a:t>
            </a:r>
            <a:endParaRPr lang="ko-KR" alt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2468880"/>
            <a:ext cx="2966618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marL="203200" indent="-203200">
              <a:spcAft>
                <a:spcPts val="800"/>
              </a:spcAft>
              <a:buSzPct val="100000"/>
              <a:buChar char="•"/>
            </a:pPr>
            <a:r>
              <a:rPr lang="ko-KR" altLang="en-US" sz="1500" dirty="0">
                <a:solidFill>
                  <a:schemeClr val="tx1"/>
                </a:solidFill>
              </a:rPr>
              <a:t>삭제를 눌러도 아무 일도 없는 것 같다</a:t>
            </a:r>
            <a:endParaRPr lang="ko-KR" altLang="en-US" sz="1500" dirty="0"/>
          </a:p>
          <a:p>
            <a:pPr eaLnBrk="0" marL="203200" indent="-203200">
              <a:spcAft>
                <a:spcPts val="800"/>
              </a:spcAft>
              <a:buSzPct val="100000"/>
              <a:buChar char="•"/>
            </a:pPr>
            <a:r>
              <a:rPr lang="ko-KR" altLang="en-US" sz="1500" dirty="0">
                <a:solidFill>
                  <a:schemeClr val="tx1"/>
                </a:solidFill>
              </a:rPr>
              <a:t>실제로는 두 번 눌러야 삭제되는 방식이었다</a:t>
            </a:r>
            <a:endParaRPr lang="ko-KR" altLang="en-US" sz="1500" dirty="0"/>
          </a:p>
        </p:txBody>
      </p:sp>
      <p:sp>
        <p:nvSpPr>
          <p:cNvPr id="11" name="case-원인"/>
          <p:cNvSpPr/>
          <p:nvPr/>
        </p:nvSpPr>
        <p:spPr>
          <a:xfrm>
            <a:off x="4338218" y="1600200"/>
            <a:ext cx="3515258" cy="3611880"/>
          </a:xfrm>
          <a:prstGeom prst="roundRect">
            <a:avLst>
              <a:gd name="adj" fmla="val 3121"/>
            </a:avLst>
          </a:prstGeom>
          <a:solidFill>
            <a:schemeClr val="bg2"/>
          </a:solidFill>
          <a:ln/>
        </p:spPr>
      </p:sp>
      <p:sp>
        <p:nvSpPr>
          <p:cNvPr id="12" name="Shape 9"/>
          <p:cNvSpPr/>
          <p:nvPr/>
        </p:nvSpPr>
        <p:spPr>
          <a:xfrm>
            <a:off x="4612538" y="1874520"/>
            <a:ext cx="868680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4612538" y="1874520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400" b="1" dirty="0">
                <a:solidFill>
                  <a:schemeClr val="bg1"/>
                </a:solidFill>
              </a:rPr>
              <a:t>원인</a:t>
            </a:r>
            <a:endParaRPr lang="ko-KR" alt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4612538" y="2468880"/>
            <a:ext cx="2966618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marL="203200" indent="-203200">
              <a:spcAft>
                <a:spcPts val="800"/>
              </a:spcAft>
              <a:buSzPct val="100000"/>
              <a:buChar char="•"/>
            </a:pPr>
            <a:r>
              <a:rPr lang="ko-KR" altLang="en-US" sz="1500" dirty="0">
                <a:solidFill>
                  <a:schemeClr val="tx1"/>
                </a:solidFill>
              </a:rPr>
              <a:t>첫 클릭 뒤 "정말 삭제"로 바뀌지만 빨간 바탕에 회색 글씨라 안 보였다</a:t>
            </a:r>
            <a:endParaRPr lang="ko-KR" altLang="en-US" sz="1500" dirty="0"/>
          </a:p>
          <a:p>
            <a:pPr eaLnBrk="0" marL="203200" indent="-203200">
              <a:spcAft>
                <a:spcPts val="800"/>
              </a:spcAft>
              <a:buSzPct val="100000"/>
              <a:buChar char="•"/>
            </a:pPr>
            <a:r>
              <a:rPr lang="ko-KR" altLang="en-US" sz="1500" dirty="0">
                <a:solidFill>
                  <a:schemeClr val="tx1"/>
                </a:solidFill>
              </a:rPr>
              <a:t>두 번 눌러야 한다는 안내가 없었다</a:t>
            </a:r>
            <a:endParaRPr lang="ko-KR" altLang="en-US" sz="1500" dirty="0"/>
          </a:p>
          <a:p>
            <a:pPr eaLnBrk="0" marL="203200" indent="-203200">
              <a:spcAft>
                <a:spcPts val="800"/>
              </a:spcAft>
              <a:buSzPct val="100000"/>
              <a:buChar char="•"/>
            </a:pPr>
            <a:r>
              <a:rPr lang="ko-KR" altLang="en-US" sz="1500" dirty="0">
                <a:solidFill>
                  <a:schemeClr val="tx1"/>
                </a:solidFill>
              </a:rPr>
              <a:t>다른 곳을 누르면 조용히 원래대로 돌아갔다</a:t>
            </a:r>
            <a:endParaRPr lang="ko-KR" altLang="en-US" sz="1500" dirty="0"/>
          </a:p>
        </p:txBody>
      </p:sp>
      <p:sp>
        <p:nvSpPr>
          <p:cNvPr id="15" name="case-해결"/>
          <p:cNvSpPr/>
          <p:nvPr/>
        </p:nvSpPr>
        <p:spPr>
          <a:xfrm>
            <a:off x="8127797" y="1600200"/>
            <a:ext cx="3515258" cy="3611880"/>
          </a:xfrm>
          <a:prstGeom prst="roundRect">
            <a:avLst>
              <a:gd name="adj" fmla="val 3121"/>
            </a:avLst>
          </a:prstGeom>
          <a:solidFill>
            <a:schemeClr val="bg2"/>
          </a:solidFill>
          <a:ln/>
        </p:spPr>
      </p:sp>
      <p:sp>
        <p:nvSpPr>
          <p:cNvPr id="16" name="Shape 13"/>
          <p:cNvSpPr/>
          <p:nvPr/>
        </p:nvSpPr>
        <p:spPr>
          <a:xfrm>
            <a:off x="8402117" y="1874520"/>
            <a:ext cx="868680" cy="36576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8402117" y="1874520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400" b="1" dirty="0">
                <a:solidFill>
                  <a:schemeClr val="bg1"/>
                </a:solidFill>
              </a:rPr>
              <a:t>해결</a:t>
            </a:r>
            <a:endParaRPr lang="ko-KR" alt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8402117" y="2468880"/>
            <a:ext cx="2966618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marL="203200" indent="-203200">
              <a:spcAft>
                <a:spcPts val="800"/>
              </a:spcAft>
              <a:buSzPct val="100000"/>
              <a:buChar char="•"/>
            </a:pPr>
            <a:r>
              <a:rPr lang="ko-KR" altLang="en-US" sz="1500" dirty="0">
                <a:solidFill>
                  <a:schemeClr val="tx1"/>
                </a:solidFill>
              </a:rPr>
              <a:t>줄 안에 확인 상자를 띄운다: "이 강의실을 삭제할까요? [삭제] [취소]"</a:t>
            </a:r>
            <a:endParaRPr lang="ko-KR" altLang="en-US" sz="1500" dirty="0"/>
          </a:p>
          <a:p>
            <a:pPr eaLnBrk="0" marL="203200" indent="-203200">
              <a:spcAft>
                <a:spcPts val="800"/>
              </a:spcAft>
              <a:buSzPct val="100000"/>
              <a:buChar char="•"/>
            </a:pPr>
            <a:r>
              <a:rPr lang="ko-KR" altLang="en-US" sz="1500" dirty="0">
                <a:solidFill>
                  <a:schemeClr val="tx1"/>
                </a:solidFill>
              </a:rPr>
              <a:t>방송 중이면 송출이 끊긴다고 경고한다</a:t>
            </a:r>
            <a:endParaRPr lang="ko-KR" altLang="en-US" sz="1500" dirty="0"/>
          </a:p>
          <a:p>
            <a:pPr eaLnBrk="0" marL="203200" indent="-203200">
              <a:spcAft>
                <a:spcPts val="800"/>
              </a:spcAft>
              <a:buSzPct val="100000"/>
              <a:buChar char="•"/>
            </a:pPr>
            <a:r>
              <a:rPr lang="ko-KR" altLang="en-US" sz="1500" dirty="0">
                <a:solidFill>
                  <a:schemeClr val="tx1"/>
                </a:solidFill>
              </a:rPr>
              <a:t>실패하면 오류 문구를 보여준다</a:t>
            </a:r>
            <a:endParaRPr lang="ko-KR" altLang="en-US" sz="1500" dirty="0"/>
          </a:p>
        </p:txBody>
      </p:sp>
      <p:sp>
        <p:nvSpPr>
          <p:cNvPr id="19" name="key-box"/>
          <p:cNvSpPr/>
          <p:nvPr/>
        </p:nvSpPr>
        <p:spPr>
          <a:xfrm>
            <a:off x="548640" y="5532120"/>
            <a:ext cx="11094415" cy="566928"/>
          </a:xfrm>
          <a:prstGeom prst="roundRect">
            <a:avLst>
              <a:gd name="adj" fmla="val 16129"/>
            </a:avLst>
          </a:prstGeom>
          <a:solidFill>
            <a:schemeClr val="tx2"/>
          </a:solidFill>
          <a:ln/>
        </p:spPr>
      </p:sp>
      <p:sp>
        <p:nvSpPr>
          <p:cNvPr id="20" name="key-dot"/>
          <p:cNvSpPr/>
          <p:nvPr/>
        </p:nvSpPr>
        <p:spPr>
          <a:xfrm>
            <a:off x="777240" y="5760720"/>
            <a:ext cx="109728" cy="10972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1" name="key-text"/>
          <p:cNvSpPr txBox="1"/>
          <p:nvPr/>
        </p:nvSpPr>
        <p:spPr>
          <a:xfrm>
            <a:off x="1005840" y="5532120"/>
            <a:ext cx="104543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500" b="1" dirty="0">
                <a:solidFill>
                  <a:schemeClr val="bg1"/>
                </a:solidFill>
              </a:rPr>
              <a:t>"동작한다" ≠ "사용자가 알아챈다". 상태 변화는 눈에 띄게, 되돌릴 수 없는 일은 확인받기</a:t>
            </a:r>
            <a:endParaRPr lang="ko-KR" alt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eaLnBrk="0" algn="r"/>
            <a:fld id="{F7021451-1387-4CA6-816F-3879F97B5CBC}" type="slidenum">
              <a:rPr b="0" lang="ko-KR" altLang="en-US"/>
              <a:t>8</a:t>
            </a:fld>
            <a:endParaRPr lang="ko-KR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-pill"/>
          <p:cNvSpPr/>
          <p:nvPr/>
        </p:nvSpPr>
        <p:spPr>
          <a:xfrm>
            <a:off x="548640" y="292608"/>
            <a:ext cx="2354580" cy="310896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3" name="tag-dot"/>
          <p:cNvSpPr/>
          <p:nvPr/>
        </p:nvSpPr>
        <p:spPr>
          <a:xfrm>
            <a:off x="676656" y="393192"/>
            <a:ext cx="109728" cy="10972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ag-text"/>
          <p:cNvSpPr txBox="1"/>
          <p:nvPr/>
        </p:nvSpPr>
        <p:spPr>
          <a:xfrm>
            <a:off x="841248" y="292608"/>
            <a:ext cx="20253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100" b="1" dirty="0">
                <a:solidFill>
                  <a:schemeClr val="tx1"/>
                </a:solidFill>
              </a:rPr>
              <a:t>04회차 · React 화면</a:t>
            </a:r>
            <a:endParaRPr lang="ko-KR" altLang="en-US" sz="11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548640" y="65836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b="1" dirty="0">
                <a:solidFill>
                  <a:schemeClr val="tx1"/>
                </a:solidFill>
              </a:rPr>
              <a:t>실습: 강의실 목록 화면</a:t>
            </a:r>
            <a:endParaRPr lang="ko-KR" altLang="en-US" sz="3200" dirty="0"/>
          </a:p>
        </p:txBody>
      </p:sp>
      <p:sp>
        <p:nvSpPr>
          <p:cNvPr id="7" name="num-1"/>
          <p:cNvSpPr/>
          <p:nvPr/>
        </p:nvSpPr>
        <p:spPr>
          <a:xfrm>
            <a:off x="548640" y="1709928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548640" y="17099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400" b="1" dirty="0">
                <a:solidFill>
                  <a:schemeClr val="bg1"/>
                </a:solidFill>
              </a:rPr>
              <a:t>1</a:t>
            </a:r>
            <a:endParaRPr lang="ko-KR" alt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1143000" y="1600200"/>
            <a:ext cx="6355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600" dirty="0">
                <a:solidFill>
                  <a:schemeClr val="tx1"/>
                </a:solidFill>
              </a:rPr>
              <a:t>api.ts 에 목록 · 만들기 · 삭제 함수를 만든다</a:t>
            </a:r>
            <a:endParaRPr lang="ko-KR" altLang="en-US" sz="1600" dirty="0"/>
          </a:p>
        </p:txBody>
      </p:sp>
      <p:sp>
        <p:nvSpPr>
          <p:cNvPr id="10" name="num-2"/>
          <p:cNvSpPr/>
          <p:nvPr/>
        </p:nvSpPr>
        <p:spPr>
          <a:xfrm>
            <a:off x="548640" y="2313432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548640" y="23134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400" b="1" dirty="0">
                <a:solidFill>
                  <a:schemeClr val="bg1"/>
                </a:solidFill>
              </a:rPr>
              <a:t>2</a:t>
            </a:r>
            <a:endParaRPr lang="ko-KR" alt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1143000" y="2203704"/>
            <a:ext cx="6355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600" dirty="0">
                <a:solidFill>
                  <a:schemeClr val="tx1"/>
                </a:solidFill>
              </a:rPr>
              <a:t>usePolling 으로 5초마다 목록을 불러온다</a:t>
            </a:r>
            <a:endParaRPr lang="ko-KR" altLang="en-US" sz="1600" dirty="0"/>
          </a:p>
        </p:txBody>
      </p:sp>
      <p:sp>
        <p:nvSpPr>
          <p:cNvPr id="13" name="num-3"/>
          <p:cNvSpPr/>
          <p:nvPr/>
        </p:nvSpPr>
        <p:spPr>
          <a:xfrm>
            <a:off x="548640" y="2916936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548640" y="2916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400" b="1" dirty="0">
                <a:solidFill>
                  <a:schemeClr val="bg1"/>
                </a:solidFill>
              </a:rPr>
              <a:t>3</a:t>
            </a:r>
            <a:endParaRPr lang="ko-KR" alt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1143000" y="2807208"/>
            <a:ext cx="6355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600" dirty="0">
                <a:solidFill>
                  <a:schemeClr val="tx1"/>
                </a:solidFill>
              </a:rPr>
              <a:t>목록을 map 으로 그린다 (key 잊지 않기)</a:t>
            </a:r>
            <a:endParaRPr lang="ko-KR" altLang="en-US" sz="1600" dirty="0"/>
          </a:p>
        </p:txBody>
      </p:sp>
      <p:sp>
        <p:nvSpPr>
          <p:cNvPr id="16" name="num-4"/>
          <p:cNvSpPr/>
          <p:nvPr/>
        </p:nvSpPr>
        <p:spPr>
          <a:xfrm>
            <a:off x="548640" y="352044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548640" y="3520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400" b="1" dirty="0">
                <a:solidFill>
                  <a:schemeClr val="bg1"/>
                </a:solidFill>
              </a:rPr>
              <a:t>4</a:t>
            </a:r>
            <a:endParaRPr lang="ko-KR" alt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1143000" y="3410712"/>
            <a:ext cx="6355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600" dirty="0">
                <a:solidFill>
                  <a:schemeClr val="tx1"/>
                </a:solidFill>
              </a:rPr>
              <a:t>만들기 폼을 만들고 성공하면 목록을 새로 고친다</a:t>
            </a:r>
            <a:endParaRPr lang="ko-KR" altLang="en-US" sz="1600" dirty="0"/>
          </a:p>
        </p:txBody>
      </p:sp>
      <p:sp>
        <p:nvSpPr>
          <p:cNvPr id="19" name="num-5"/>
          <p:cNvSpPr/>
          <p:nvPr/>
        </p:nvSpPr>
        <p:spPr>
          <a:xfrm>
            <a:off x="548640" y="4123944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548640" y="41239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400" b="1" dirty="0">
                <a:solidFill>
                  <a:schemeClr val="bg1"/>
                </a:solidFill>
              </a:rPr>
              <a:t>5</a:t>
            </a:r>
            <a:endParaRPr lang="ko-KR" alt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1143000" y="4014216"/>
            <a:ext cx="6355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600" dirty="0">
                <a:solidFill>
                  <a:schemeClr val="tx1"/>
                </a:solidFill>
              </a:rPr>
              <a:t>LIVE 배지 컴포넌트를 만든다</a:t>
            </a:r>
            <a:endParaRPr lang="ko-KR" altLang="en-US" sz="1600" dirty="0"/>
          </a:p>
        </p:txBody>
      </p:sp>
      <p:sp>
        <p:nvSpPr>
          <p:cNvPr id="22" name="num-6"/>
          <p:cNvSpPr/>
          <p:nvPr/>
        </p:nvSpPr>
        <p:spPr>
          <a:xfrm>
            <a:off x="548640" y="4727448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548640" y="47274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400" b="1" dirty="0">
                <a:solidFill>
                  <a:schemeClr val="bg1"/>
                </a:solidFill>
              </a:rPr>
              <a:t>6</a:t>
            </a:r>
            <a:endParaRPr lang="ko-KR" alt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1143000" y="4617720"/>
            <a:ext cx="6355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600" dirty="0">
                <a:solidFill>
                  <a:schemeClr val="tx1"/>
                </a:solidFill>
              </a:rPr>
              <a:t>삭제 확인 상자를 만든다</a:t>
            </a:r>
            <a:endParaRPr lang="ko-KR" altLang="en-US" sz="1600" dirty="0"/>
          </a:p>
        </p:txBody>
      </p:sp>
      <p:sp>
        <p:nvSpPr>
          <p:cNvPr id="25" name="lab-done"/>
          <p:cNvSpPr/>
          <p:nvPr/>
        </p:nvSpPr>
        <p:spPr>
          <a:xfrm>
            <a:off x="7863840" y="1600200"/>
            <a:ext cx="3779215" cy="4572000"/>
          </a:xfrm>
          <a:prstGeom prst="roundRect">
            <a:avLst>
              <a:gd name="adj" fmla="val 2903"/>
            </a:avLst>
          </a:prstGeom>
          <a:solidFill>
            <a:schemeClr val="bg2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8138160" y="1828800"/>
            <a:ext cx="32305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800" b="1" dirty="0">
                <a:solidFill>
                  <a:schemeClr val="tx1"/>
                </a:solidFill>
              </a:rPr>
              <a:t>완성 기준</a:t>
            </a:r>
            <a:endParaRPr lang="ko-KR" altLang="en-US" sz="1800" dirty="0"/>
          </a:p>
        </p:txBody>
      </p:sp>
      <p:sp>
        <p:nvSpPr>
          <p:cNvPr id="27" name="Text 24"/>
          <p:cNvSpPr txBox="1"/>
          <p:nvPr/>
        </p:nvSpPr>
        <p:spPr>
          <a:xfrm>
            <a:off x="8138160" y="1828800"/>
            <a:ext cx="32305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r" indent="0" marL="0">
              <a:buNone/>
            </a:pPr>
            <a:r>
              <a:rPr lang="ko-KR" altLang="en-US" sz="1300" b="1" dirty="0">
                <a:solidFill>
                  <a:schemeClr val="accent1"/>
                </a:solidFill>
              </a:rPr>
              <a:t>실습 45분</a:t>
            </a:r>
            <a:endParaRPr lang="ko-KR" altLang="en-US" sz="1300" dirty="0"/>
          </a:p>
        </p:txBody>
      </p:sp>
      <p:sp>
        <p:nvSpPr>
          <p:cNvPr id="28" name="Text 25"/>
          <p:cNvSpPr txBox="1"/>
          <p:nvPr/>
        </p:nvSpPr>
        <p:spPr>
          <a:xfrm>
            <a:off x="8138160" y="2423160"/>
            <a:ext cx="3230575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marL="254000" indent="-254000">
              <a:spcAft>
                <a:spcPts val="1000"/>
              </a:spcAft>
              <a:buSzPct val="100000"/>
              <a:buChar char="✓"/>
            </a:pPr>
            <a:r>
              <a:rPr lang="ko-KR" altLang="en-US" sz="1500" dirty="0">
                <a:solidFill>
                  <a:schemeClr val="tx1"/>
                </a:solidFill>
              </a:rPr>
              <a:t>강의실을 만들면 바로 목록에 나온다</a:t>
            </a:r>
            <a:endParaRPr lang="ko-KR" altLang="en-US" sz="1500" dirty="0"/>
          </a:p>
          <a:p>
            <a:pPr eaLnBrk="0" marL="254000" indent="-254000">
              <a:spcAft>
                <a:spcPts val="1000"/>
              </a:spcAft>
              <a:buSzPct val="100000"/>
              <a:buChar char="✓"/>
            </a:pPr>
            <a:r>
              <a:rPr lang="ko-KR" altLang="en-US" sz="1500" dirty="0">
                <a:solidFill>
                  <a:schemeClr val="tx1"/>
                </a:solidFill>
              </a:rPr>
              <a:t>다른 창에서 송출하면 5초 안에 LIVE로 바뀐다</a:t>
            </a:r>
            <a:endParaRPr lang="ko-KR" altLang="en-US" sz="1500" dirty="0"/>
          </a:p>
          <a:p>
            <a:pPr eaLnBrk="0" marL="254000" indent="-254000">
              <a:spcAft>
                <a:spcPts val="1000"/>
              </a:spcAft>
              <a:buSzPct val="100000"/>
              <a:buChar char="✓"/>
            </a:pPr>
            <a:r>
              <a:rPr lang="ko-KR" altLang="en-US" sz="1500" dirty="0">
                <a:solidFill>
                  <a:schemeClr val="tx1"/>
                </a:solidFill>
              </a:rPr>
              <a:t>삭제 전에 확인 상자가 보인다</a:t>
            </a:r>
            <a:endParaRPr lang="ko-KR" altLang="en-US" sz="1500" dirty="0"/>
          </a:p>
          <a:p>
            <a:pPr eaLnBrk="0" marL="254000" indent="-254000">
              <a:spcAft>
                <a:spcPts val="1000"/>
              </a:spcAft>
              <a:buSzPct val="100000"/>
              <a:buChar char="✓"/>
            </a:pPr>
            <a:r>
              <a:rPr lang="ko-KR" altLang="en-US" sz="1500" dirty="0">
                <a:solidFill>
                  <a:schemeClr val="tx1"/>
                </a:solidFill>
              </a:rPr>
              <a:t>API 서버를 끄면 오류 안내가 보인다</a:t>
            </a:r>
            <a:endParaRPr lang="ko-KR" alt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eaLnBrk="0" algn="r"/>
            <a:fld id="{F7021451-1387-4CA6-816F-3879F97B5CBC}" type="slidenum">
              <a:rPr b="0" lang="ko-KR" altLang="en-US"/>
              <a:t>9</a:t>
            </a:fld>
            <a:endParaRPr lang="ko-KR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-pill"/>
          <p:cNvSpPr/>
          <p:nvPr/>
        </p:nvSpPr>
        <p:spPr>
          <a:xfrm>
            <a:off x="548640" y="292608"/>
            <a:ext cx="2354580" cy="310896"/>
          </a:xfrm>
          <a:prstGeom prst="roundRect">
            <a:avLst>
              <a:gd name="adj" fmla="val 50000"/>
            </a:avLst>
          </a:prstGeom>
          <a:solidFill>
            <a:schemeClr val="bg1">
              <a:alpha val="12000"/>
            </a:schemeClr>
          </a:solidFill>
          <a:ln/>
        </p:spPr>
      </p:sp>
      <p:sp>
        <p:nvSpPr>
          <p:cNvPr id="3" name="tag-dot"/>
          <p:cNvSpPr/>
          <p:nvPr/>
        </p:nvSpPr>
        <p:spPr>
          <a:xfrm>
            <a:off x="676656" y="393192"/>
            <a:ext cx="109728" cy="10972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ag-text"/>
          <p:cNvSpPr txBox="1"/>
          <p:nvPr/>
        </p:nvSpPr>
        <p:spPr>
          <a:xfrm>
            <a:off x="841248" y="292608"/>
            <a:ext cx="20253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100" b="1" dirty="0">
                <a:solidFill>
                  <a:schemeClr val="bg1"/>
                </a:solidFill>
              </a:rPr>
              <a:t>04회차 · React 화면</a:t>
            </a:r>
            <a:endParaRPr lang="ko-KR" altLang="en-US" sz="11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548640" y="65836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b="1" dirty="0">
                <a:solidFill>
                  <a:schemeClr val="bg1"/>
                </a:solidFill>
              </a:rPr>
              <a:t>오늘의 정리</a:t>
            </a:r>
            <a:endParaRPr lang="ko-KR" altLang="en-US" sz="32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60020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400" b="1" dirty="0">
                <a:solidFill>
                  <a:schemeClr val="accent1"/>
                </a:solidFill>
              </a:rPr>
              <a:t>꼭 기억할 것</a:t>
            </a:r>
            <a:endParaRPr lang="ko-KR" altLang="en-US" sz="1400" dirty="0"/>
          </a:p>
        </p:txBody>
      </p:sp>
      <p:sp>
        <p:nvSpPr>
          <p:cNvPr id="8" name="num-1"/>
          <p:cNvSpPr/>
          <p:nvPr/>
        </p:nvSpPr>
        <p:spPr>
          <a:xfrm>
            <a:off x="548640" y="21488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548640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400" b="1" dirty="0">
                <a:solidFill>
                  <a:schemeClr val="bg1"/>
                </a:solidFill>
              </a:rPr>
              <a:t>1</a:t>
            </a:r>
            <a:endParaRPr lang="ko-KR" alt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1234440" y="2057400"/>
            <a:ext cx="4983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1700" dirty="0">
                <a:solidFill>
                  <a:schemeClr val="bg1"/>
                </a:solidFill>
              </a:rPr>
              <a:t>화면은 상태를 그린 것. 상태를 바꾸면 React가 다시 그린다</a:t>
            </a:r>
            <a:endParaRPr lang="ko-KR" altLang="en-US" sz="1700" dirty="0"/>
          </a:p>
        </p:txBody>
      </p:sp>
      <p:sp>
        <p:nvSpPr>
          <p:cNvPr id="11" name="num-2"/>
          <p:cNvSpPr/>
          <p:nvPr/>
        </p:nvSpPr>
        <p:spPr>
          <a:xfrm>
            <a:off x="548640" y="342900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548640" y="3429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400" b="1" dirty="0">
                <a:solidFill>
                  <a:schemeClr val="bg1"/>
                </a:solidFill>
              </a:rPr>
              <a:t>2</a:t>
            </a:r>
            <a:endParaRPr lang="ko-KR" alt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1234440" y="3337560"/>
            <a:ext cx="4983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1700" dirty="0">
                <a:solidFill>
                  <a:schemeClr val="bg1"/>
                </a:solidFill>
              </a:rPr>
              <a:t>서버 요청과 타이머는 useEffect 에서, 정리 함수로 뒷정리</a:t>
            </a:r>
            <a:endParaRPr lang="ko-KR" altLang="en-US" sz="1700" dirty="0"/>
          </a:p>
        </p:txBody>
      </p:sp>
      <p:sp>
        <p:nvSpPr>
          <p:cNvPr id="14" name="num-3"/>
          <p:cNvSpPr/>
          <p:nvPr/>
        </p:nvSpPr>
        <p:spPr>
          <a:xfrm>
            <a:off x="548640" y="470916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548640" y="4709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400" b="1" dirty="0">
                <a:solidFill>
                  <a:schemeClr val="bg1"/>
                </a:solidFill>
              </a:rPr>
              <a:t>3</a:t>
            </a:r>
            <a:endParaRPr lang="ko-KR" alt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1234440" y="4617720"/>
            <a:ext cx="4983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1700" dirty="0">
                <a:solidFill>
                  <a:schemeClr val="bg1"/>
                </a:solidFill>
              </a:rPr>
              <a:t>사용자가 알아챌 수 있게: 눈에 띄는 변화와 확인 단계</a:t>
            </a:r>
            <a:endParaRPr lang="ko-KR" altLang="en-US" sz="1700" dirty="0"/>
          </a:p>
        </p:txBody>
      </p:sp>
      <p:sp>
        <p:nvSpPr>
          <p:cNvPr id="17" name="recap-확인 퀴즈"/>
          <p:cNvSpPr/>
          <p:nvPr/>
        </p:nvSpPr>
        <p:spPr>
          <a:xfrm>
            <a:off x="6583680" y="1600200"/>
            <a:ext cx="5059375" cy="2606040"/>
          </a:xfrm>
          <a:prstGeom prst="roundRect">
            <a:avLst>
              <a:gd name="adj" fmla="val 4211"/>
            </a:avLst>
          </a:prstGeom>
          <a:solidFill>
            <a:schemeClr val="bg1">
              <a:alpha val="10000"/>
            </a:schemeClr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6858000" y="1783080"/>
            <a:ext cx="45107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400" b="1" dirty="0">
                <a:solidFill>
                  <a:schemeClr val="accent1"/>
                </a:solidFill>
              </a:rPr>
              <a:t>확인 퀴즈</a:t>
            </a:r>
            <a:endParaRPr lang="ko-KR" alt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6858000" y="2240280"/>
            <a:ext cx="451073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marL="254000" indent="-2540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ko-KR" altLang="en-US" sz="1500" dirty="0">
                <a:solidFill>
                  <a:schemeClr val="bg1"/>
                </a:solidFill>
              </a:rPr>
              <a:t>useState 의 set 함수를 부르면 무슨 일이 일어날까?</a:t>
            </a:r>
            <a:endParaRPr lang="ko-KR" altLang="en-US" sz="1500" dirty="0"/>
          </a:p>
          <a:p>
            <a:pPr eaLnBrk="0" marL="254000" indent="-2540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ko-KR" altLang="en-US" sz="1500" dirty="0">
                <a:solidFill>
                  <a:schemeClr val="bg1"/>
                </a:solidFill>
              </a:rPr>
              <a:t>map 으로 그릴 때 key 가 필요한 이유는?</a:t>
            </a:r>
            <a:endParaRPr lang="ko-KR" altLang="en-US" sz="1500" dirty="0"/>
          </a:p>
          <a:p>
            <a:pPr eaLnBrk="0" marL="254000" indent="-2540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ko-KR" altLang="en-US" sz="1500" dirty="0">
                <a:solidFill>
                  <a:schemeClr val="bg1"/>
                </a:solidFill>
              </a:rPr>
              <a:t>useEffect 에서 정리 함수를 빼먹으면 어떤 문제가 생길까?</a:t>
            </a:r>
            <a:endParaRPr lang="ko-KR" altLang="en-US" sz="1500" dirty="0"/>
          </a:p>
        </p:txBody>
      </p:sp>
      <p:sp>
        <p:nvSpPr>
          <p:cNvPr id="20" name="recap-과제"/>
          <p:cNvSpPr/>
          <p:nvPr/>
        </p:nvSpPr>
        <p:spPr>
          <a:xfrm>
            <a:off x="6583680" y="4434840"/>
            <a:ext cx="5059375" cy="1737360"/>
          </a:xfrm>
          <a:prstGeom prst="roundRect">
            <a:avLst>
              <a:gd name="adj" fmla="val 6316"/>
            </a:avLst>
          </a:prstGeom>
          <a:solidFill>
            <a:schemeClr val="bg1">
              <a:alpha val="10000"/>
            </a:schemeClr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6858000" y="4617720"/>
            <a:ext cx="45107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400" b="1" dirty="0">
                <a:solidFill>
                  <a:schemeClr val="accent1"/>
                </a:solidFill>
              </a:rPr>
              <a:t>과제</a:t>
            </a:r>
            <a:endParaRPr lang="ko-KR" alt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6858000" y="5074920"/>
            <a:ext cx="451073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marL="203200" indent="-203200">
              <a:spcAft>
                <a:spcPts val="800"/>
              </a:spcAft>
              <a:buSzPct val="100000"/>
              <a:buChar char="•"/>
            </a:pPr>
            <a:r>
              <a:rPr lang="ko-KR" altLang="en-US" sz="1500" dirty="0">
                <a:solidFill>
                  <a:schemeClr val="bg1"/>
                </a:solidFill>
              </a:rPr>
              <a:t>목록에 "방송 시작 후 경과 시간"(예: 12분째 방송 중) 표시하기</a:t>
            </a:r>
            <a:endParaRPr lang="ko-KR" alt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eaLnBrk="0" algn="r"/>
            <a:fld id="{F7021451-1387-4CA6-816F-3879F97B5CBC}" type="slidenum">
              <a:rPr b="0" lang="ko-KR" altLang="en-US"/>
              <a:t>10</a:t>
            </a:fld>
            <a:endParaRPr lang="ko-KR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n Air">
  <a:themeElements>
    <a:clrScheme name="On Air">
      <a:dk1>
        <a:srgbClr val="1B2130"/>
      </a:dk1>
      <a:lt1>
        <a:srgbClr val="FFFFFF"/>
      </a:lt1>
      <a:dk2>
        <a:srgbClr val="141A26"/>
      </a:dk2>
      <a:lt2>
        <a:srgbClr val="F2F4F7"/>
      </a:lt2>
      <a:accent1>
        <a:srgbClr val="E5372C"/>
      </a:accent1>
      <a:accent2>
        <a:srgbClr val="2F6FED"/>
      </a:accent2>
      <a:accent3>
        <a:srgbClr val="12B76A"/>
      </a:accent3>
      <a:accent4>
        <a:srgbClr val="F79009"/>
      </a:accent4>
      <a:accent5>
        <a:srgbClr val="7A5AF8"/>
      </a:accent5>
      <a:accent6>
        <a:srgbClr val="667085"/>
      </a:accent6>
      <a:hlink>
        <a:srgbClr val="2F6FED"/>
      </a:hlink>
      <a:folHlink>
        <a:srgbClr val="7A5AF8"/>
      </a:folHlink>
    </a:clrScheme>
    <a:fontScheme name="On Air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4회차 React로 화면 만들기</dc:title>
  <dc:subject>실시간 강의 방송 만들기</dc:subject>
  <dc:creator>실시간 강의 방송 만들기</dc:creator>
  <cp:lastModifiedBy>실시간 강의 방송 만들기</cp:lastModifiedBy>
  <cp:revision>1</cp:revision>
  <dcterms:created xsi:type="dcterms:W3CDTF">2026-10-10T06:35:49Z</dcterms:created>
  <dcterms:modified xsi:type="dcterms:W3CDTF">2026-10-10T06:35:49Z</dcterms:modified>
</cp:coreProperties>
</file>