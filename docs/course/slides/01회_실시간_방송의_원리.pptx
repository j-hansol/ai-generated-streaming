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2d25a00-ab19-bf45-f285-6328bd4f7e3b}">
          <p14:sldIdLst>
            <p14:sldId id="256"/>
            <p14:sldId id="257"/>
          </p14:sldIdLst>
        </p14:section>
        <p14:section name="개념" id="{b30714cf-6431-0730-6efc-b7357beacc8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실습" id="{5c2f0533-7320-ba82-07f7-10f357af717a}">
          <p14:sldIdLst>
            <p14:sldId id="264"/>
          </p14:sldIdLst>
        </p14:section>
        <p14:section name="정리" id="{dbf0b53d-4673-ccb8-4e2d-836f752d893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 첫 시간입니다. 8회 동안 직접 만들 결과물(온라인 강의실)을 먼저 보여주고 동기를 부여하세요. 오늘은 코드를 거의 쓰지 않고 원리와 환경 준비에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수업은 매번 같은 순서로 진행합니다. 복습 10분, 개념 40분, 시연 15분, 실습 45분, 정리 10분. 실습 시간이 가장 길다는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단계는 시간이 걸립니다. 네 단계에 걸리는 시간을 모두 더한 것이 지연 시간(latency)입니다. 수강생에게 화상회의에서 말이 늦게 들린 경험을 물어보세요.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칠판에 직접 계산해 보세요. 1280×720×3×8×30 = 약 6억 6천만 비트/초. 압축하지 않으면 기가 인터넷도 버티지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앱의 강의 화면 오른쪽 통계(코덱, 해상도, 프레임, 비트레이트)가 바로 이 네 가지입니다. 실습 때 직접 확인하게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HLS는 영상을 작은 파일 조각으로 나눠 보내서 확장은 쉽지만 느립니다. WebRTC는 화상회의 기술이라 빠르지만 시청자마다 연결을 유지해야 해서 서버 부담이 큽니다. 강의는 질문과 답변이 오가야 하므로 WebRTC를 기본으로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구조도를 천천히 설명하세요. 영상은 MediaMTX라는 미디어 서버가 처리하고, 우리는 Node.js로 강의실 관리와 권한 같은 서비스 로직을 만듭니다. 2~4회는 아래쪽, 5~6회는 위쪽을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실습실 인터넷이 느리면 MediaMTX 파일을 USB나 공유 폴더로 미리 나눠 주세요. Windows 방화벽 경고가 뜨면 취소해도 같은 PC 안의 연결은 동작합니다.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 두 개를 나란히 띄우게 하세요. 탭으로 겹치면 가려진 탭이 느려질 수 있습니다. pnpm dev가 실패하면 포트 확인 메시지를 함께 읽어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퀴즈는 손을 들어 답하게 하세요. 과제는 다음 시간 복습 때 몇 명의 결과를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2200" dirty="0">
                <a:solidFill>
                  <a:schemeClr val="bg2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ON AIR · 01회차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실시간 방송은 어떻게 동작할까</a:t>
            </a:r>
            <a:endParaRPr lang="ko-KR" alt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200" dirty="0">
                <a:solidFill>
                  <a:schemeClr val="bg2"/>
                </a:solidFill>
              </a:rPr>
              <a:t>방송의 원리를 이해하고, 완성된 강의실을 직접 실행해 봅니다</a:t>
            </a:r>
            <a:endParaRPr lang="ko-KR" alt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 할 수 있게 될 것</a:t>
            </a:r>
            <a:endParaRPr lang="ko-KR" altLang="en-US" sz="1300" dirty="0"/>
          </a:p>
        </p:txBody>
      </p:sp>
      <p:sp>
        <p:nvSpPr>
          <p:cNvPr id="8" name="goal-1"/>
          <p:cNvSpPr/>
          <p:nvPr/>
        </p:nvSpPr>
        <p:spPr>
          <a:xfrm>
            <a:off x="7315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방송의 4단계를 설명한다</a:t>
            </a:r>
            <a:endParaRPr lang="ko-KR" altLang="en-US" sz="1500" dirty="0"/>
          </a:p>
        </p:txBody>
      </p:sp>
      <p:sp>
        <p:nvSpPr>
          <p:cNvPr id="10" name="goal-2"/>
          <p:cNvSpPr/>
          <p:nvPr/>
        </p:nvSpPr>
        <p:spPr>
          <a:xfrm>
            <a:off x="43891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WebRTC와 HLS의 지연을 직접 잰다</a:t>
            </a:r>
            <a:endParaRPr lang="ko-KR" altLang="en-US" sz="1500" dirty="0"/>
          </a:p>
        </p:txBody>
      </p:sp>
      <p:sp>
        <p:nvSpPr>
          <p:cNvPr id="12" name="goal-3"/>
          <p:cNvSpPr/>
          <p:nvPr/>
        </p:nvSpPr>
        <p:spPr>
          <a:xfrm>
            <a:off x="80467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개발 환경을 갖추고 앱을 실행한다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01회차 · 원리와 개발 환경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오늘의 진행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9164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방송은 어떤 단계로 이루어질까</a:t>
            </a:r>
            <a:endParaRPr lang="ko-KR" alt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24028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영상 품질과 압축(코덱)</a:t>
            </a:r>
            <a:endParaRPr lang="ko-KR" alt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78892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전송 방식 비교: RTMP · HLS · WebRTC</a:t>
            </a:r>
            <a:endParaRPr lang="ko-KR" altLang="en-US" sz="1800" dirty="0"/>
          </a:p>
        </p:txBody>
      </p:sp>
      <p:sp>
        <p:nvSpPr>
          <p:cNvPr id="16" name="num-4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33756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우리가 만들 시스템의 구조</a:t>
            </a:r>
            <a:endParaRPr lang="ko-KR" altLang="en-US" sz="1800" dirty="0"/>
          </a:p>
        </p:txBody>
      </p:sp>
      <p:sp>
        <p:nvSpPr>
          <p:cNvPr id="19" name="num-5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88620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실습: 완성본 실행하고 지연 시간 재기</a:t>
            </a:r>
            <a:endParaRPr lang="ko-KR" alt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6"/>
                </a:solidFill>
              </a:rPr>
              <a:t>2시간 진행 순서</a:t>
            </a:r>
            <a:endParaRPr lang="ko-KR" altLang="en-US" sz="1300" dirty="0"/>
          </a:p>
        </p:txBody>
      </p:sp>
      <p:sp>
        <p:nvSpPr>
          <p:cNvPr id="23" name="agenda-1"/>
          <p:cNvSpPr/>
          <p:nvPr/>
        </p:nvSpPr>
        <p:spPr>
          <a:xfrm>
            <a:off x="576072" y="4983480"/>
            <a:ext cx="869671" cy="5029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복습 · 퀴즈</a:t>
            </a:r>
            <a:endParaRPr lang="ko-KR" altLang="en-US" sz="1300" dirty="0"/>
          </a:p>
        </p:txBody>
      </p:sp>
      <p:sp>
        <p:nvSpPr>
          <p:cNvPr id="26" name="agenda-2"/>
          <p:cNvSpPr/>
          <p:nvPr/>
        </p:nvSpPr>
        <p:spPr>
          <a:xfrm>
            <a:off x="1500607" y="4983480"/>
            <a:ext cx="3643274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73175" y="4983480"/>
            <a:ext cx="3698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40분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473175" y="5577840"/>
            <a:ext cx="3698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개념 강의</a:t>
            </a:r>
            <a:endParaRPr lang="ko-KR" altLang="en-US" sz="1300" dirty="0"/>
          </a:p>
        </p:txBody>
      </p:sp>
      <p:sp>
        <p:nvSpPr>
          <p:cNvPr id="29" name="agenda-3"/>
          <p:cNvSpPr/>
          <p:nvPr/>
        </p:nvSpPr>
        <p:spPr>
          <a:xfrm>
            <a:off x="5198745" y="4983480"/>
            <a:ext cx="1331938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71313" y="4983480"/>
            <a:ext cx="1386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15분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171313" y="5577840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시연</a:t>
            </a:r>
            <a:endParaRPr lang="ko-KR" altLang="en-US" sz="1300" dirty="0"/>
          </a:p>
        </p:txBody>
      </p:sp>
      <p:sp>
        <p:nvSpPr>
          <p:cNvPr id="32" name="agenda-4"/>
          <p:cNvSpPr/>
          <p:nvPr/>
        </p:nvSpPr>
        <p:spPr>
          <a:xfrm>
            <a:off x="6585547" y="4983480"/>
            <a:ext cx="410554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58115" y="4983480"/>
            <a:ext cx="4160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45분</a:t>
            </a:r>
            <a:endParaRPr lang="ko-KR" alt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58115" y="5577840"/>
            <a:ext cx="4160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실습</a:t>
            </a:r>
            <a:endParaRPr lang="ko-KR" altLang="en-US" sz="1300" dirty="0"/>
          </a:p>
        </p:txBody>
      </p:sp>
      <p:sp>
        <p:nvSpPr>
          <p:cNvPr id="35" name="agenda-5"/>
          <p:cNvSpPr/>
          <p:nvPr/>
        </p:nvSpPr>
        <p:spPr>
          <a:xfrm>
            <a:off x="10745953" y="4983480"/>
            <a:ext cx="869671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718521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718521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정리 · 과제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01회차 · 원리와 개발 환경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방송은 4단계로 이루어진다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캡처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카메라·화면·마이크에서 영상과 소리를 가져온다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3134792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3418256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46856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46856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인코딩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46856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H.264(영상)·Opus(소리)로 작게 압축한다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6004408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6287872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16472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516472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전송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516472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인터넷을 통해 서버와 시청자에게 보낸다</a:t>
            </a:r>
            <a:endParaRPr lang="ko-KR" altLang="en-US" sz="1400" dirty="0"/>
          </a:p>
        </p:txBody>
      </p:sp>
      <p:sp>
        <p:nvSpPr>
          <p:cNvPr id="21" name="arrow-3"/>
          <p:cNvSpPr/>
          <p:nvPr/>
        </p:nvSpPr>
        <p:spPr>
          <a:xfrm rot="5400000">
            <a:off x="8874023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9157487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86087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86087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재생</a:t>
            </a:r>
            <a:endParaRPr lang="ko-KR" alt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386087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압축을 풀어 화면과 스피커로 내보낸다</a:t>
            </a:r>
            <a:endParaRPr lang="ko-KR" altLang="en-US" sz="1400" dirty="0"/>
          </a:p>
        </p:txBody>
      </p:sp>
      <p:sp>
        <p:nvSpPr>
          <p:cNvPr id="26" name="key-box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7" name="key-dot"/>
          <p:cNvSpPr/>
          <p:nvPr/>
        </p:nvSpPr>
        <p:spPr>
          <a:xfrm>
            <a:off x="777240" y="52578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key-text"/>
          <p:cNvSpPr txBox="1"/>
          <p:nvPr/>
        </p:nvSpPr>
        <p:spPr>
          <a:xfrm>
            <a:off x="1005840" y="50292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네 단계에 걸리는 시간의 합 = 지연 시간 (강사가 말한 뒤 수강생이 듣기까지)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01회차 · 원리와 개발 환경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왜 압축이 필요할까</a:t>
            </a:r>
            <a:endParaRPr lang="ko-KR" altLang="en-US" sz="3200" dirty="0"/>
          </a:p>
        </p:txBody>
      </p:sp>
      <p:sp>
        <p:nvSpPr>
          <p:cNvPr id="7" name="stat-1"/>
          <p:cNvSpPr/>
          <p:nvPr/>
        </p:nvSpPr>
        <p:spPr>
          <a:xfrm>
            <a:off x="548640" y="178308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664 Mbps</a:t>
            </a:r>
            <a:endParaRPr lang="ko-KR" alt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461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압축 전 (720p · 30fps)</a:t>
            </a:r>
            <a:endParaRPr lang="ko-KR" alt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490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accent6"/>
                </a:solidFill>
              </a:rPr>
              <a:t>1280 × 720 픽셀 × 3바이트 × 8비트 × 30장</a:t>
            </a:r>
            <a:endParaRPr lang="ko-KR" altLang="en-US" sz="1400" dirty="0"/>
          </a:p>
        </p:txBody>
      </p:sp>
      <p:sp>
        <p:nvSpPr>
          <p:cNvPr id="11" name="stat-2"/>
          <p:cNvSpPr/>
          <p:nvPr/>
        </p:nvSpPr>
        <p:spPr>
          <a:xfrm>
            <a:off x="4338218" y="178308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2538" y="21031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1~2 Mbps</a:t>
            </a:r>
            <a:endParaRPr lang="ko-KR" alt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612538" y="32461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H.264로 압축 후</a:t>
            </a:r>
            <a:endParaRPr lang="ko-KR" alt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12538" y="37490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accent6"/>
                </a:solidFill>
              </a:rPr>
              <a:t>이전 장면과 달라진 부분만 저장한다</a:t>
            </a:r>
            <a:endParaRPr lang="ko-KR" altLang="en-US" sz="1400" dirty="0"/>
          </a:p>
        </p:txBody>
      </p:sp>
      <p:sp>
        <p:nvSpPr>
          <p:cNvPr id="15" name="stat-3"/>
          <p:cNvSpPr/>
          <p:nvPr/>
        </p:nvSpPr>
        <p:spPr>
          <a:xfrm>
            <a:off x="8127797" y="178308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02117" y="21031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약 400배</a:t>
            </a:r>
            <a:endParaRPr lang="ko-KR" alt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402117" y="32461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줄어드는 크기</a:t>
            </a:r>
            <a:endParaRPr lang="ko-KR" alt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402117" y="37490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2"/>
                </a:solidFill>
              </a:rPr>
              <a:t>그래서 가정용 인터넷으로도 방송할 수 있다</a:t>
            </a:r>
            <a:endParaRPr lang="ko-KR" altLang="en-US" sz="1400" dirty="0"/>
          </a:p>
        </p:txBody>
      </p:sp>
      <p:sp>
        <p:nvSpPr>
          <p:cNvPr id="19" name="key-box"/>
          <p:cNvSpPr/>
          <p:nvPr/>
        </p:nvSpPr>
        <p:spPr>
          <a:xfrm>
            <a:off x="548640" y="52578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0" name="key-dot"/>
          <p:cNvSpPr/>
          <p:nvPr/>
        </p:nvSpPr>
        <p:spPr>
          <a:xfrm>
            <a:off x="777240" y="54864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key-text"/>
          <p:cNvSpPr txBox="1"/>
          <p:nvPr/>
        </p:nvSpPr>
        <p:spPr>
          <a:xfrm>
            <a:off x="1005840" y="52578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코덱(codec) = 압축(인코딩)과 풀기(디코딩) 규칙. 영상은 H.264, 소리는 Opus를 쓴다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01회차 · 원리와 개발 환경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영상 품질을 정하는 네 가지</a:t>
            </a:r>
            <a:endParaRPr lang="ko-KR" altLang="en-US" sz="3200" dirty="0"/>
          </a:p>
        </p:txBody>
      </p:sp>
      <p:sp>
        <p:nvSpPr>
          <p:cNvPr id="7" name="card-1"/>
          <p:cNvSpPr/>
          <p:nvPr/>
        </p:nvSpPr>
        <p:spPr>
          <a:xfrm>
            <a:off x="548640" y="1600200"/>
            <a:ext cx="2567864" cy="37490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156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해상도</a:t>
            </a:r>
            <a:endParaRPr lang="ko-KR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1280 × 720</a:t>
            </a:r>
            <a:endParaRPr lang="ko-KR" alt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2019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화면을 이루는 점의 개수. 클수록 선명하지만 데이터가 많다.</a:t>
            </a:r>
            <a:endParaRPr lang="ko-KR" altLang="en-US" sz="1500" dirty="0"/>
          </a:p>
        </p:txBody>
      </p:sp>
      <p:sp>
        <p:nvSpPr>
          <p:cNvPr id="13" name="card-2"/>
          <p:cNvSpPr/>
          <p:nvPr/>
        </p:nvSpPr>
        <p:spPr>
          <a:xfrm>
            <a:off x="3390824" y="1600200"/>
            <a:ext cx="2567864" cy="37490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4" name="num-2"/>
          <p:cNvSpPr/>
          <p:nvPr/>
        </p:nvSpPr>
        <p:spPr>
          <a:xfrm>
            <a:off x="3665144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65144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213784" y="1828800"/>
            <a:ext cx="156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프레임</a:t>
            </a:r>
            <a:endParaRPr lang="ko-KR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665144" y="24688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fps</a:t>
            </a:r>
            <a:endParaRPr lang="ko-KR" alt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665144" y="2880360"/>
            <a:ext cx="2019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1초에 보여주는 장면 수. 강의 화면은 15~30이면 충분하다.</a:t>
            </a:r>
            <a:endParaRPr lang="ko-KR" altLang="en-US" sz="1500" dirty="0"/>
          </a:p>
        </p:txBody>
      </p:sp>
      <p:sp>
        <p:nvSpPr>
          <p:cNvPr id="19" name="card-3"/>
          <p:cNvSpPr/>
          <p:nvPr/>
        </p:nvSpPr>
        <p:spPr>
          <a:xfrm>
            <a:off x="6233008" y="1600200"/>
            <a:ext cx="2567864" cy="37490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20" name="num-3"/>
          <p:cNvSpPr/>
          <p:nvPr/>
        </p:nvSpPr>
        <p:spPr>
          <a:xfrm>
            <a:off x="6507328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5073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055968" y="1828800"/>
            <a:ext cx="156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비트레이트</a:t>
            </a:r>
            <a:endParaRPr lang="ko-KR" alt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507328" y="24688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Mbps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507328" y="2880360"/>
            <a:ext cx="2019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1초에 보내는 데이터 양. 같은 해상도라도 높을수록 깨끗하다.</a:t>
            </a:r>
            <a:endParaRPr lang="ko-KR" altLang="en-US" sz="1500" dirty="0"/>
          </a:p>
        </p:txBody>
      </p:sp>
      <p:sp>
        <p:nvSpPr>
          <p:cNvPr id="25" name="card-4"/>
          <p:cNvSpPr/>
          <p:nvPr/>
        </p:nvSpPr>
        <p:spPr>
          <a:xfrm>
            <a:off x="9075191" y="1600200"/>
            <a:ext cx="2567864" cy="37490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26" name="num-4"/>
          <p:cNvSpPr/>
          <p:nvPr/>
        </p:nvSpPr>
        <p:spPr>
          <a:xfrm>
            <a:off x="9349511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349511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898151" y="1828800"/>
            <a:ext cx="156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코덱</a:t>
            </a:r>
            <a:endParaRPr lang="ko-KR" alt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349511" y="24688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H.264 · Opus</a:t>
            </a:r>
            <a:endParaRPr lang="ko-KR" alt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349511" y="2880360"/>
            <a:ext cx="2019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압축 방식. 보내는 쪽과 받는 쪽이 같은 코덱을 알아야 한다.</a:t>
            </a:r>
            <a:endParaRPr lang="ko-KR" altLang="en-US" sz="1500" dirty="0"/>
          </a:p>
        </p:txBody>
      </p:sp>
      <p:sp>
        <p:nvSpPr>
          <p:cNvPr id="31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32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우리 앱 강의 화면 오른쪽의 송출 통계가 바로 이 네 가지다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01회차 · 원리와 개발 환경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전송 방식 비교</a:t>
            </a:r>
            <a:endParaRPr lang="ko-KR" altLang="en-US" sz="3200" dirty="0"/>
          </a:p>
        </p:txBody>
      </p:sp>
      <p:graphicFrame>
        <p:nvGraphicFramePr>
          <p:cNvPr id="7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206240"/>
                <a:gridCol w="3227832"/>
              </a:tblGrid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방식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지연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시청자가 많을 때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우리 앱에서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RTMP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2~5초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송출 전용 (브라우저 재생 불가)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OBS로 송출할 때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HLS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6~30초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매우 강함 (CDN 사용)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사용 안 함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LL-HLS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2~4초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강함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시청 방식 ②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accent1"/>
                          </a:solidFill>
                        </a:rPr>
                        <a:t>WebRTC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accent1"/>
                          </a:solidFill>
                        </a:rPr>
                        <a:t>1초 미만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accent1"/>
                          </a:solidFill>
                        </a:rPr>
                        <a:t>서버 부담이 큼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accent1"/>
                          </a:solidFill>
                        </a:rPr>
                        <a:t>송출 + 시청 방식 ①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9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강의는 질문·답변이 바로 오가야 하므로 WebRTC를 기본으로, LL-HLS를 보조로 쓴다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01회차 · 원리와 개발 환경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우리가 만들 시스템</a:t>
            </a:r>
            <a:endParaRPr lang="ko-KR" altLang="en-US" sz="3200" dirty="0"/>
          </a:p>
        </p:txBody>
      </p:sp>
      <p:sp>
        <p:nvSpPr>
          <p:cNvPr id="7" name="arch-teacher"/>
          <p:cNvSpPr/>
          <p:nvPr/>
        </p:nvSpPr>
        <p:spPr>
          <a:xfrm>
            <a:off x="548640" y="1874520"/>
            <a:ext cx="2926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강사 브라우저</a:t>
            </a:r>
            <a:endParaRPr lang="ko-KR" alt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963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화면 공유 · 웹캠 · 마이크</a:t>
            </a:r>
            <a:endParaRPr lang="ko-KR" altLang="en-US" sz="1300" dirty="0"/>
          </a:p>
        </p:txBody>
      </p:sp>
      <p:sp>
        <p:nvSpPr>
          <p:cNvPr id="10" name="arch-mediamtx"/>
          <p:cNvSpPr/>
          <p:nvPr/>
        </p:nvSpPr>
        <p:spPr>
          <a:xfrm>
            <a:off x="4636008" y="1874520"/>
            <a:ext cx="292608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64608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MediaMTX</a:t>
            </a:r>
            <a:endParaRPr lang="ko-KR" alt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864608" y="24963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2"/>
                </a:solidFill>
              </a:rPr>
              <a:t>미디어 서버: 받아서 나눠준다</a:t>
            </a:r>
            <a:endParaRPr lang="ko-KR" altLang="en-US" sz="1300" dirty="0"/>
          </a:p>
        </p:txBody>
      </p:sp>
      <p:sp>
        <p:nvSpPr>
          <p:cNvPr id="13" name="arch-student"/>
          <p:cNvSpPr/>
          <p:nvPr/>
        </p:nvSpPr>
        <p:spPr>
          <a:xfrm>
            <a:off x="8714232" y="1874520"/>
            <a:ext cx="2926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42832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수강생 브라우저</a:t>
            </a:r>
            <a:endParaRPr lang="ko-KR" alt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942832" y="24963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영상 시청 · (7회) 채팅</a:t>
            </a:r>
            <a:endParaRPr lang="ko-KR" altLang="en-US" sz="1300" dirty="0"/>
          </a:p>
        </p:txBody>
      </p:sp>
      <p:sp>
        <p:nvSpPr>
          <p:cNvPr id="16" name="arch-web"/>
          <p:cNvSpPr/>
          <p:nvPr/>
        </p:nvSpPr>
        <p:spPr>
          <a:xfrm>
            <a:off x="548640" y="3931920"/>
            <a:ext cx="2926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웹 화면 (React)</a:t>
            </a:r>
            <a:endParaRPr lang="ko-KR" alt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553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강의실 목록 · 강의 · 시청 화면</a:t>
            </a:r>
            <a:endParaRPr lang="ko-KR" altLang="en-US" sz="1300" dirty="0"/>
          </a:p>
        </p:txBody>
      </p:sp>
      <p:sp>
        <p:nvSpPr>
          <p:cNvPr id="19" name="arch-api"/>
          <p:cNvSpPr/>
          <p:nvPr/>
        </p:nvSpPr>
        <p:spPr>
          <a:xfrm>
            <a:off x="4636008" y="3931920"/>
            <a:ext cx="2926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64608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API 서버 (Node)</a:t>
            </a:r>
            <a:endParaRPr lang="ko-KR" alt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864608" y="4553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강의실 관리 · 방송 상태</a:t>
            </a:r>
            <a:endParaRPr lang="ko-KR" altLang="en-US" sz="1300" dirty="0"/>
          </a:p>
        </p:txBody>
      </p:sp>
      <p:sp>
        <p:nvSpPr>
          <p:cNvPr id="22" name="arch-db"/>
          <p:cNvSpPr/>
          <p:nvPr/>
        </p:nvSpPr>
        <p:spPr>
          <a:xfrm>
            <a:off x="8714232" y="3931920"/>
            <a:ext cx="2926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942832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SQLite</a:t>
            </a:r>
            <a:endParaRPr lang="ko-KR" alt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942832" y="4553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강의실 정보 저장</a:t>
            </a:r>
            <a:endParaRPr lang="ko-KR" alt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520440" y="2697480"/>
            <a:ext cx="1069848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3520440" y="22860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accent1"/>
                </a:solidFill>
              </a:rPr>
              <a:t>WHIP</a:t>
            </a:r>
            <a:endParaRPr lang="ko-KR" alt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607808" y="2697480"/>
            <a:ext cx="106070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7607808" y="228600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accent1"/>
                </a:solidFill>
              </a:rPr>
              <a:t>WHEP · HLS</a:t>
            </a:r>
            <a:endParaRPr lang="ko-KR" alt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520440" y="4526280"/>
            <a:ext cx="1069848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3520440" y="411480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accent1"/>
                </a:solidFill>
              </a:rPr>
              <a:t>/api</a:t>
            </a:r>
            <a:endParaRPr lang="ko-KR" alt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607808" y="4526280"/>
            <a:ext cx="106070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7607808" y="411480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accent1"/>
                </a:solidFill>
              </a:rPr>
              <a:t>SQL</a:t>
            </a:r>
            <a:endParaRPr lang="ko-KR" alt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099048" y="3246120"/>
            <a:ext cx="0" cy="6400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headEnd type="triangle"/>
          </a:ln>
        </p:spPr>
      </p:sp>
      <p:sp>
        <p:nvSpPr>
          <p:cNvPr id="34" name="Text 31"/>
          <p:cNvSpPr txBox="1"/>
          <p:nvPr/>
        </p:nvSpPr>
        <p:spPr>
          <a:xfrm>
            <a:off x="6208776" y="34107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accent6"/>
                </a:solidFill>
              </a:rPr>
              <a:t>제어 API (상태 조회)</a:t>
            </a:r>
            <a:endParaRPr lang="ko-KR" altLang="en-US" sz="1200" dirty="0"/>
          </a:p>
        </p:txBody>
      </p:sp>
      <p:sp>
        <p:nvSpPr>
          <p:cNvPr id="35" name="key-box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36" name="key-dot"/>
          <p:cNvSpPr/>
          <p:nvPr/>
        </p:nvSpPr>
        <p:spPr>
          <a:xfrm>
            <a:off x="777240" y="5715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key-text"/>
          <p:cNvSpPr txBox="1"/>
          <p:nvPr/>
        </p:nvSpPr>
        <p:spPr>
          <a:xfrm>
            <a:off x="1005840" y="54864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영상은 위쪽 길(브라우저 ↔ MediaMTX)로, 강의실 정보는 아래쪽 길(화면 ↔ Node ↔ DB)로 흐른다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01회차 · 원리와 개발 환경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개발 환경 준비</a:t>
            </a:r>
            <a:endParaRPr lang="ko-KR" altLang="en-US" sz="3200" dirty="0"/>
          </a:p>
        </p:txBody>
      </p:sp>
      <p:sp>
        <p:nvSpPr>
          <p:cNvPr id="7" name="card-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Node.js 24+</a:t>
            </a:r>
            <a:endParaRPr lang="ko-KR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endParaRPr lang="ko-KR" alt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서버와 도구를 실행하는 JavaScript 런타임</a:t>
            </a:r>
            <a:endParaRPr lang="ko-KR" altLang="en-US" sz="1500" dirty="0"/>
          </a:p>
        </p:txBody>
      </p:sp>
      <p:sp>
        <p:nvSpPr>
          <p:cNvPr id="13" name="card-2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num-2"/>
          <p:cNvSpPr/>
          <p:nvPr/>
        </p:nvSpPr>
        <p:spPr>
          <a:xfrm>
            <a:off x="6507328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73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55968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pnpm</a:t>
            </a:r>
            <a:endParaRPr lang="ko-KR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07328" y="246888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-v</a:t>
            </a:r>
            <a:endParaRPr lang="ko-KR" alt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07328" y="288036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여러 앱을 한 저장소에서 관리하는 패키지 관리자</a:t>
            </a:r>
            <a:endParaRPr lang="ko-KR" altLang="en-US" sz="1500" dirty="0"/>
          </a:p>
        </p:txBody>
      </p:sp>
      <p:sp>
        <p:nvSpPr>
          <p:cNvPr id="19" name="card-3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0" name="num-3"/>
          <p:cNvSpPr/>
          <p:nvPr/>
        </p:nvSpPr>
        <p:spPr>
          <a:xfrm>
            <a:off x="822960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425196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MediaMTX</a:t>
            </a:r>
            <a:endParaRPr lang="ko-KR" alt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89204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media/mediamtx.exe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30352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실행 파일 하나로 된 미디어 서버. GitHub 릴리스에서 받는다</a:t>
            </a:r>
            <a:endParaRPr lang="ko-KR" altLang="en-US" sz="1500" dirty="0"/>
          </a:p>
        </p:txBody>
      </p:sp>
      <p:sp>
        <p:nvSpPr>
          <p:cNvPr id="25" name="card-4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6" name="num-4"/>
          <p:cNvSpPr/>
          <p:nvPr/>
        </p:nvSpPr>
        <p:spPr>
          <a:xfrm>
            <a:off x="6507328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507328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055968" y="425196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Chrome · VS Code</a:t>
            </a:r>
            <a:endParaRPr lang="ko-KR" alt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507328" y="489204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chrome://webrtc-internals</a:t>
            </a:r>
            <a:endParaRPr lang="ko-KR" alt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507328" y="530352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시험용 브라우저와 코드 편집기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01회차 · 원리와 개발 환경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실습: 완성본을 실행하고 지연 재기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60020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저장소를 받고 폴더로 이동한다</a:t>
            </a:r>
            <a:endParaRPr lang="ko-KR" altLang="en-US" sz="1600" dirty="0"/>
          </a:p>
        </p:txBody>
      </p:sp>
      <p:sp>
        <p:nvSpPr>
          <p:cNvPr id="10" name="num-2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03704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pnpm install 로 의존성을 설치한다</a:t>
            </a:r>
            <a:endParaRPr lang="ko-KR" altLang="en-US" sz="1600" dirty="0"/>
          </a:p>
        </p:txBody>
      </p:sp>
      <p:sp>
        <p:nvSpPr>
          <p:cNvPr id="13" name="num-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07208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mediamtx.exe 를 media/ 폴더에 넣는다</a:t>
            </a:r>
            <a:endParaRPr lang="ko-KR" altLang="en-US" sz="1600" dirty="0"/>
          </a:p>
        </p:txBody>
      </p:sp>
      <p:sp>
        <p:nvSpPr>
          <p:cNvPr id="16" name="num-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410712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pnpm dev 로 세 서버를 함께 실행한다</a:t>
            </a:r>
            <a:endParaRPr lang="ko-KR" altLang="en-US" sz="1600" dirty="0"/>
          </a:p>
        </p:txBody>
      </p:sp>
      <p:sp>
        <p:nvSpPr>
          <p:cNvPr id="19" name="num-5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014216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localhost:5173 에서 강의실을 만든다</a:t>
            </a:r>
            <a:endParaRPr lang="ko-KR" altLang="en-US" sz="1600" dirty="0"/>
          </a:p>
        </p:txBody>
      </p:sp>
      <p:sp>
        <p:nvSpPr>
          <p:cNvPr id="22" name="num-6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6</a:t>
            </a:r>
            <a:endParaRPr lang="ko-KR" alt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61772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강의하기 → 테스트 화면 → 강의 시작</a:t>
            </a:r>
            <a:endParaRPr lang="ko-KR" altLang="en-US" sz="1600" dirty="0"/>
          </a:p>
        </p:txBody>
      </p:sp>
      <p:sp>
        <p:nvSpPr>
          <p:cNvPr id="25" name="num-7"/>
          <p:cNvSpPr/>
          <p:nvPr/>
        </p:nvSpPr>
        <p:spPr>
          <a:xfrm>
            <a:off x="548640" y="5330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864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7</a:t>
            </a:r>
            <a:endParaRPr lang="ko-KR" alt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5221224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새 Chrome 창에서 시청하기 → 시계 비교</a:t>
            </a:r>
            <a:endParaRPr lang="ko-KR" altLang="en-US" sz="1600" dirty="0"/>
          </a:p>
        </p:txBody>
      </p:sp>
      <p:sp>
        <p:nvSpPr>
          <p:cNvPr id="28" name="lab-done"/>
          <p:cNvSpPr/>
          <p:nvPr/>
        </p:nvSpPr>
        <p:spPr>
          <a:xfrm>
            <a:off x="7863840" y="1600200"/>
            <a:ext cx="3779215" cy="457200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완성 기준</a:t>
            </a:r>
            <a:endParaRPr lang="ko-KR" alt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실습 45분</a:t>
            </a:r>
            <a:endParaRPr lang="ko-KR" alt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2423160"/>
            <a:ext cx="32305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목록에 LIVE 배지가 보인다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시청 화면에 영상이 나온다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WebRTC와 LL-HLS 지연을 각각 기록했다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강의 종료 후 시청 화면이 대기 상태로 바뀐다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01회차 · 원리와 개발 환경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오늘의 정리</a:t>
            </a:r>
            <a:endParaRPr lang="ko-KR" alt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꼭 기억할 것</a:t>
            </a:r>
            <a:endParaRPr lang="ko-KR" altLang="en-US" sz="1400" dirty="0"/>
          </a:p>
        </p:txBody>
      </p:sp>
      <p:sp>
        <p:nvSpPr>
          <p:cNvPr id="8" name="num-1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0574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방송 = 캡처 → 인코딩 → 전송 → 재생, 각 단계 시간의 합이 지연</a:t>
            </a:r>
            <a:endParaRPr lang="ko-KR" altLang="en-US" sz="1700" dirty="0"/>
          </a:p>
        </p:txBody>
      </p:sp>
      <p:sp>
        <p:nvSpPr>
          <p:cNvPr id="11" name="num-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37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압축(코덱) 덕분에 영상 데이터가 약 400분의 1로 줄어든다</a:t>
            </a:r>
            <a:endParaRPr lang="ko-KR" altLang="en-US" sz="1700" dirty="0"/>
          </a:p>
        </p:txBody>
      </p:sp>
      <p:sp>
        <p:nvSpPr>
          <p:cNvPr id="14" name="num-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WebRTC는 빠르지만 무겁고, HLS는 느리지만 많은 시청자에 강하다</a:t>
            </a:r>
            <a:endParaRPr lang="ko-KR" altLang="en-US" sz="1700" dirty="0"/>
          </a:p>
        </p:txBody>
      </p:sp>
      <p:sp>
        <p:nvSpPr>
          <p:cNvPr id="17" name="recap-확인 퀴즈"/>
          <p:cNvSpPr/>
          <p:nvPr/>
        </p:nvSpPr>
        <p:spPr>
          <a:xfrm>
            <a:off x="6583680" y="1600200"/>
            <a:ext cx="5059375" cy="2606040"/>
          </a:xfrm>
          <a:prstGeom prst="roundRect">
            <a:avLst>
              <a:gd name="adj" fmla="val 421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178308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확인 퀴즈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240280"/>
            <a:ext cx="4510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720p 30fps 영상을 압축하지 않으면 초당 몇 비트일까?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강의에 WebRTC를 기본으로 쓰는 이유는?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MediaMTX와 Node 서버는 각각 무슨 일을 할까?</a:t>
            </a:r>
            <a:endParaRPr lang="ko-KR" altLang="en-US" sz="1500" dirty="0"/>
          </a:p>
        </p:txBody>
      </p:sp>
      <p:sp>
        <p:nvSpPr>
          <p:cNvPr id="20" name="recap-과제"/>
          <p:cNvSpPr/>
          <p:nvPr/>
        </p:nvSpPr>
        <p:spPr>
          <a:xfrm>
            <a:off x="6583680" y="4434840"/>
            <a:ext cx="5059375" cy="1737360"/>
          </a:xfrm>
          <a:prstGeom prst="roundRect">
            <a:avLst>
              <a:gd name="adj" fmla="val 631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461772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과제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07492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bg1"/>
                </a:solidFill>
              </a:rPr>
              <a:t>WebRTC와 LL-HLS의 지연을 각각 3번 재서 표로 정리해 오기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 Air">
  <a:themeElements>
    <a:clrScheme name="On Air">
      <a:dk1>
        <a:srgbClr val="1B2130"/>
      </a:dk1>
      <a:lt1>
        <a:srgbClr val="FFFFFF"/>
      </a:lt1>
      <a:dk2>
        <a:srgbClr val="141A26"/>
      </a:dk2>
      <a:lt2>
        <a:srgbClr val="F2F4F7"/>
      </a:lt2>
      <a:accent1>
        <a:srgbClr val="E5372C"/>
      </a:accent1>
      <a:accent2>
        <a:srgbClr val="2F6FED"/>
      </a:accent2>
      <a:accent3>
        <a:srgbClr val="12B76A"/>
      </a:accent3>
      <a:accent4>
        <a:srgbClr val="F79009"/>
      </a:accent4>
      <a:accent5>
        <a:srgbClr val="7A5AF8"/>
      </a:accent5>
      <a:accent6>
        <a:srgbClr val="667085"/>
      </a:accent6>
      <a:hlink>
        <a:srgbClr val="2F6FED"/>
      </a:hlink>
      <a:folHlink>
        <a:srgbClr val="7A5AF8"/>
      </a:folHlink>
    </a:clrScheme>
    <a:fontScheme name="On A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1회차 실시간 방송은 어떻게 동작할까</dc:title>
  <dc:subject>실시간 강의 방송 만들기</dc:subject>
  <dc:creator>실시간 강의 방송 만들기</dc:creator>
  <cp:lastModifiedBy>실시간 강의 방송 만들기</cp:lastModifiedBy>
  <cp:revision>1</cp:revision>
  <dcterms:created xsi:type="dcterms:W3CDTF">2026-10-10T06:35:49Z</dcterms:created>
  <dcterms:modified xsi:type="dcterms:W3CDTF">2026-10-10T06:35:49Z</dcterms:modified>
</cp:coreProperties>
</file>