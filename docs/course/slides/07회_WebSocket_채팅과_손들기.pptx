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039d538-3f22-d095-c11a-1f33fcd683a4}">
          <p14:sldIdLst>
            <p14:sldId id="256"/>
            <p14:sldId id="257"/>
          </p14:sldIdLst>
        </p14:section>
        <p14:section name="개념" id="{33c270e1-c997-e79b-d30b-b5d9b002214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실습" id="{868b803d-6f10-73cc-710f-4e43a5a601da}">
          <p14:sldIdLst>
            <p14:sldId id="264"/>
          </p14:sldIdLst>
        </p14:section>
        <p14:section name="정리" id="{1954ce3a-f657-51c0-4a6e-d127727450a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7·8회는 저장소의 2단계 구현 범위입니다. 수업 전에 2단계 코드를 완성해 두세요. 슬라이드의 코드는 설계 스케치입니다.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수업은 매번 같은 순서로 진행합니다. 복습 10분, 개념 40분, 시연 15분, 실습 45분, 정리 10분. 실습 시간이 가장 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4회에서 만든 usePolling은 목록처럼 조금 늦어도 되는 곳에 적합합니다. 채팅은 즉시 보여야 하므로 WebSocket을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방(room)은 Map&lt;강의실ID, Set&lt;연결&gt;&gt; 하나로 만들 수 있습니다. 연결이 끊기면 Set에서 빼는 것을 잊지 않게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이런 형태를 판별 유니온(discriminated union)이라고 합니다. switch(msg.type) 안에서 TypeScript가 각 경우의 필드를 정확히 알아냅니다.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@fastify/websocket 플러그인 기준 스케치입니다. 실제 구현에서는 로그인 정보(8회)로 nick을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채팅은 흘러가는 메시지이고, 손들기와 접속자는 "현재 상태"라는 차이를 설명하세요. 상태는 바뀔 때마다 전체 목록을 다시 보내는 방식이 단순하고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2회의 "검사는 서버에서" 원칙이 여기서도 똑같이 적용됩니다.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처음에는 닉네임을 임의로 정하고, 8회에서 로그인 정보로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힌트: 사용자별 마지막 전송 시각을 Map에 저장해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200" dirty="0">
                <a:solidFill>
                  <a:schemeClr val="bg2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ON AIR · 07회차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실시간 소통: 채팅 · 질문 · 손들기</a:t>
            </a:r>
            <a:endParaRPr lang="ko-KR" alt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WebSocket으로 강의실 단위의 실시간 메시지를 주고받습니다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 할 수 있게 될 것</a:t>
            </a:r>
            <a:endParaRPr lang="ko-KR" altLang="en-US" sz="1300" dirty="0"/>
          </a:p>
        </p:txBody>
      </p:sp>
      <p:sp>
        <p:nvSpPr>
          <p:cNvPr id="8" name="goal-1"/>
          <p:cNvSpPr/>
          <p:nvPr/>
        </p:nvSpPr>
        <p:spPr>
          <a:xfrm>
            <a:off x="7315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폴링과 WebSocket을 비교한다</a:t>
            </a:r>
            <a:endParaRPr lang="ko-KR" altLang="en-US" sz="1500" dirty="0"/>
          </a:p>
        </p:txBody>
      </p:sp>
      <p:sp>
        <p:nvSpPr>
          <p:cNvPr id="10" name="goal-2"/>
          <p:cNvSpPr/>
          <p:nvPr/>
        </p:nvSpPr>
        <p:spPr>
          <a:xfrm>
            <a:off x="43891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강의실(room) 단위로 메시지를 나눈다</a:t>
            </a:r>
            <a:endParaRPr lang="ko-KR" altLang="en-US" sz="1500" dirty="0"/>
          </a:p>
        </p:txBody>
      </p:sp>
      <p:sp>
        <p:nvSpPr>
          <p:cNvPr id="12" name="goal-3"/>
          <p:cNvSpPr/>
          <p:nvPr/>
        </p:nvSpPr>
        <p:spPr>
          <a:xfrm>
            <a:off x="80467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채팅 · 질문 · 손들기를 만든다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오늘의 진행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9164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폴링 vs WebSocket</a:t>
            </a:r>
            <a:endParaRPr lang="ko-KR" alt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24028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강의실 단위로 메시지 나누기</a:t>
            </a:r>
            <a:endParaRPr lang="ko-KR" alt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78892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메시지 형식 설계</a:t>
            </a:r>
            <a:endParaRPr lang="ko-KR" altLang="en-US" sz="1800" dirty="0"/>
          </a:p>
        </p:txBody>
      </p:sp>
      <p:sp>
        <p:nvSpPr>
          <p:cNvPr id="16" name="num-4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33756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서버에서 브로드캐스트하기</a:t>
            </a:r>
            <a:endParaRPr lang="ko-KR" altLang="en-US" sz="1800" dirty="0"/>
          </a:p>
        </p:txBody>
      </p:sp>
      <p:sp>
        <p:nvSpPr>
          <p:cNvPr id="19" name="num-5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88620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실습: 채팅 · 질문 · 손들기</a:t>
            </a:r>
            <a:endParaRPr lang="ko-KR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2시간 진행 순서</a:t>
            </a:r>
            <a:endParaRPr lang="ko-KR" altLang="en-US" sz="1300" dirty="0"/>
          </a:p>
        </p:txBody>
      </p:sp>
      <p:sp>
        <p:nvSpPr>
          <p:cNvPr id="23" name="agenda-1"/>
          <p:cNvSpPr/>
          <p:nvPr/>
        </p:nvSpPr>
        <p:spPr>
          <a:xfrm>
            <a:off x="576072" y="4983480"/>
            <a:ext cx="869671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복습 · 퀴즈</a:t>
            </a:r>
            <a:endParaRPr lang="ko-KR" altLang="en-US" sz="1300" dirty="0"/>
          </a:p>
        </p:txBody>
      </p:sp>
      <p:sp>
        <p:nvSpPr>
          <p:cNvPr id="26" name="agenda-2"/>
          <p:cNvSpPr/>
          <p:nvPr/>
        </p:nvSpPr>
        <p:spPr>
          <a:xfrm>
            <a:off x="1500607" y="4983480"/>
            <a:ext cx="3643274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73175" y="4983480"/>
            <a:ext cx="3698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40분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73175" y="5577840"/>
            <a:ext cx="3698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개념 강의</a:t>
            </a:r>
            <a:endParaRPr lang="ko-KR" altLang="en-US" sz="1300" dirty="0"/>
          </a:p>
        </p:txBody>
      </p:sp>
      <p:sp>
        <p:nvSpPr>
          <p:cNvPr id="29" name="agenda-3"/>
          <p:cNvSpPr/>
          <p:nvPr/>
        </p:nvSpPr>
        <p:spPr>
          <a:xfrm>
            <a:off x="5198745" y="4983480"/>
            <a:ext cx="1331938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71313" y="4983480"/>
            <a:ext cx="1386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15분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71313" y="5577840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시연</a:t>
            </a:r>
            <a:endParaRPr lang="ko-KR" altLang="en-US" sz="1300" dirty="0"/>
          </a:p>
        </p:txBody>
      </p:sp>
      <p:sp>
        <p:nvSpPr>
          <p:cNvPr id="32" name="agenda-4"/>
          <p:cNvSpPr/>
          <p:nvPr/>
        </p:nvSpPr>
        <p:spPr>
          <a:xfrm>
            <a:off x="6585547" y="4983480"/>
            <a:ext cx="410554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8115" y="4983480"/>
            <a:ext cx="4160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45분</a:t>
            </a:r>
            <a:endParaRPr lang="ko-KR" alt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58115" y="5577840"/>
            <a:ext cx="416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실습</a:t>
            </a:r>
            <a:endParaRPr lang="ko-KR" altLang="en-US" sz="1300" dirty="0"/>
          </a:p>
        </p:txBody>
      </p:sp>
      <p:sp>
        <p:nvSpPr>
          <p:cNvPr id="35" name="agenda-5"/>
          <p:cNvSpPr/>
          <p:nvPr/>
        </p:nvSpPr>
        <p:spPr>
          <a:xfrm>
            <a:off x="10745953" y="4983480"/>
            <a:ext cx="869671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718521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718521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정리 · 과제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폴링 vs WebSocket</a:t>
            </a:r>
            <a:endParaRPr lang="ko-KR" altLang="en-US" sz="3200" dirty="0"/>
          </a:p>
        </p:txBody>
      </p:sp>
      <p:graphicFrame>
        <p:nvGraphicFramePr>
          <p:cNvPr id="4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61688"/>
                <a:gridCol w="4352544"/>
              </a:tblGrid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HTTP 폴링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WebSocket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방식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몇 초마다 "새 소식 있어요?" 묻기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연결을 열어 두고 서로 바로 보내기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지연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최대 폴링 간격만큼 늦다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거의 즉시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서버가 먼저 보내기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불가능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가능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우리 앱에서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강의실 목록 · 방송 상태 (4회)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채팅 · 질문 · 손들기 (오늘)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9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조금 늦어도 되면 폴링, 바로 보여야 하면 WebSocket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강의실 단위로 메시지 나누기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접속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/ws/classrooms/:id 로 WebSocket 연결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3134792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3418256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46856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46856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방 입장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646856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서버가 강의실 ID별 연결 목록에 추가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6004408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6287872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16472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16472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메시지 수신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516472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채팅·질문·손들기를 받아 검사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8874023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9157487" y="1965960"/>
            <a:ext cx="2485568" cy="2651760"/>
          </a:xfrm>
          <a:prstGeom prst="roundRect">
            <a:avLst>
              <a:gd name="adj" fmla="val 4415"/>
            </a:avLst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86087" y="2167128"/>
            <a:ext cx="202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86087" y="2514600"/>
            <a:ext cx="202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같은 방에 전파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386087" y="3337560"/>
            <a:ext cx="2028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그 강의실 사람들에게만 보낸다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메시지 형식 설계 (공유 타입)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type 필드로 메시지 종류를 구분한다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화면 → 서버, 서버 → 화면 형식을 따로 정의한다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packages/shared 에 두면 양쪽이 같은 약속을 지킨다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packages/shared/src/index.ts (설계 스케치)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화면 → 서버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ClientMessage =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{ type: 'chat'; text: string }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{ type: 'question'; text: string }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{ type: 'raise-hand'; raised: boolean };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서버 → 화면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ServerMessage =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{ type: 'chat'; from: string; text: string; at: string }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{ type: 'question'; id: string; from: string; text: string }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{ type: 'hands'; users: string[] }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{ type: 'presence'; users: string[] };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서버: 같은 방에 보내기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강의실 ID별로 연결 목록(Set)을 둔다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받은 메시지를 검사한 뒤 같은 방에 전파한다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연결이 끊기면 목록에서 뺀다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apps/server/src/ws.ts (설계 스케치)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rooms = new Map&lt;string, Set&lt;WebSocket&gt;&gt;();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app.get('/ws/classrooms/:id', { websocket: true },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(socket, req) =&gt; {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room = rooms.get(req.params.id) ?? new Set();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rooms.set(req.params.id, room);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room.add(socket);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socket.on('message', (raw) =&gt; {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msg = JSON.parse(raw.toString()) as ClientMessage;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(msg.type === 'chat' &amp;&amp; msg.text.length &lt;= 500) {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broadcast(room, { type: 'chat', from: nick,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text: msg.text, at: new Date().toISOString() });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socket.on('close', () =&gt; room.delete(socket));</a:t>
            </a:r>
            <a:endParaRPr lang="ko-KR" altLang="en-US" sz="1200" dirty="0"/>
          </a:p>
          <a:p>
            <a:pPr eaLnBrk="0" indent="0" marL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질문과 손들기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질문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 'question' }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채팅에 묻히지 않게 따로 모은다. 강사가 "답변 완료"로 표시한다.</a:t>
            </a:r>
            <a:endParaRPr lang="ko-KR" altLang="en-US" sz="1500" dirty="0"/>
          </a:p>
        </p:txBody>
      </p:sp>
      <p:sp>
        <p:nvSpPr>
          <p:cNvPr id="13" name="card-2"/>
          <p:cNvSpPr/>
          <p:nvPr/>
        </p:nvSpPr>
        <p:spPr>
          <a:xfrm>
            <a:off x="4338218" y="160020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4" name="num-2"/>
          <p:cNvSpPr/>
          <p:nvPr/>
        </p:nvSpPr>
        <p:spPr>
          <a:xfrm>
            <a:off x="461253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1253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161178" y="1828800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손들기</a:t>
            </a:r>
            <a:endParaRPr lang="ko-KR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612538" y="24688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 'raise-hand' }</a:t>
            </a:r>
            <a:endParaRPr lang="ko-KR" alt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612538" y="288036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켜고 끌 수 있는 상태. 서버가 손 든 사람 목록을 모두에게 보낸다.</a:t>
            </a:r>
            <a:endParaRPr lang="ko-KR" altLang="en-US" sz="1500" dirty="0"/>
          </a:p>
        </p:txBody>
      </p:sp>
      <p:sp>
        <p:nvSpPr>
          <p:cNvPr id="19" name="card-3"/>
          <p:cNvSpPr/>
          <p:nvPr/>
        </p:nvSpPr>
        <p:spPr>
          <a:xfrm>
            <a:off x="8127797" y="1600200"/>
            <a:ext cx="3515258" cy="37490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20" name="num-3"/>
          <p:cNvSpPr/>
          <p:nvPr/>
        </p:nvSpPr>
        <p:spPr>
          <a:xfrm>
            <a:off x="8402117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02117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950757" y="1828800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접속자 목록</a:t>
            </a:r>
            <a:endParaRPr lang="ko-KR" alt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402117" y="24688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 'presence' }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402117" y="2880360"/>
            <a:ext cx="29666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입장·퇴장 때마다 목록을 다시 보낸다. 시청자 수보다 정확하다.</a:t>
            </a:r>
            <a:endParaRPr lang="ko-KR" altLang="en-US" sz="1500" dirty="0"/>
          </a:p>
        </p:txBody>
      </p:sp>
      <p:sp>
        <p:nvSpPr>
          <p:cNvPr id="25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26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채팅은 흘러가는 "사건", 손들기·접속자는 지금의 "상태"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실서비스라면 꼭 챙길 것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재접속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와이파이가 끊겼다 돌아오면 자동으로 다시 연결하고 방에 다시 들어간다.</a:t>
            </a:r>
            <a:endParaRPr lang="ko-KR" altLang="en-US" sz="1500" dirty="0"/>
          </a:p>
        </p:txBody>
      </p:sp>
      <p:sp>
        <p:nvSpPr>
          <p:cNvPr id="12" name="card-2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3" name="num-2"/>
          <p:cNvSpPr/>
          <p:nvPr/>
        </p:nvSpPr>
        <p:spPr>
          <a:xfrm>
            <a:off x="650732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073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55968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도배 방지</a:t>
            </a:r>
            <a:endParaRPr lang="ko-KR" alt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246888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한 사람이 짧은 시간에 너무 많이 보내면 막는다 (슬로우 모드).</a:t>
            </a:r>
            <a:endParaRPr lang="ko-KR" altLang="en-US" sz="1500" dirty="0"/>
          </a:p>
        </p:txBody>
      </p:sp>
      <p:sp>
        <p:nvSpPr>
          <p:cNvPr id="17" name="card-3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8" name="num-3"/>
          <p:cNvSpPr/>
          <p:nvPr/>
        </p:nvSpPr>
        <p:spPr>
          <a:xfrm>
            <a:off x="822960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25196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길이 제한</a:t>
            </a:r>
            <a:endParaRPr lang="ko-KR" alt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89204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메시지 길이를 서버에서 검사한다. 화면 검사는 우회할 수 있다.</a:t>
            </a:r>
            <a:endParaRPr lang="ko-KR" altLang="en-US" sz="1500" dirty="0"/>
          </a:p>
        </p:txBody>
      </p:sp>
      <p:sp>
        <p:nvSpPr>
          <p:cNvPr id="22" name="card-4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3" name="num-4"/>
          <p:cNvSpPr/>
          <p:nvPr/>
        </p:nvSpPr>
        <p:spPr>
          <a:xfrm>
            <a:off x="6507328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07328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055968" y="425196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안전한 출력</a:t>
            </a:r>
            <a:endParaRPr lang="ko-KR" alt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07328" y="489204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React는 글자를 그대로 출력해 HTML 주입을 막는다. innerHTML 은 쓰지 않는다.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실습: 채팅 · 질문 · 손들기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서버에 WebSocket 엔드포인트를 만든다</a:t>
            </a:r>
            <a:endParaRPr lang="ko-KR" altLang="en-US" sz="1600" dirty="0"/>
          </a:p>
        </p:txBody>
      </p:sp>
      <p:sp>
        <p:nvSpPr>
          <p:cNvPr id="10" name="num-2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0370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강의실별 방(Map · Set)을 관리한다</a:t>
            </a:r>
            <a:endParaRPr lang="ko-KR" altLang="en-US" sz="1600" dirty="0"/>
          </a:p>
        </p:txBody>
      </p:sp>
      <p:sp>
        <p:nvSpPr>
          <p:cNvPr id="13" name="num-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07208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화면에 채팅창을 붙인다</a:t>
            </a:r>
            <a:endParaRPr lang="ko-KR" altLang="en-US" sz="1600" dirty="0"/>
          </a:p>
        </p:txBody>
      </p:sp>
      <p:sp>
        <p:nvSpPr>
          <p:cNvPr id="16" name="num-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41071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질문 등록과 "답변 완료" 표시를 만든다</a:t>
            </a:r>
            <a:endParaRPr lang="ko-KR" altLang="en-US" sz="1600" dirty="0"/>
          </a:p>
        </p:txBody>
      </p:sp>
      <p:sp>
        <p:nvSpPr>
          <p:cNvPr id="19" name="num-5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014216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손들기 버튼과 손 든 사람 목록을 만든다</a:t>
            </a:r>
            <a:endParaRPr lang="ko-KR" altLang="en-US" sz="1600" dirty="0"/>
          </a:p>
        </p:txBody>
      </p:sp>
      <p:sp>
        <p:nvSpPr>
          <p:cNvPr id="22" name="num-6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6</a:t>
            </a:r>
            <a:endParaRPr lang="ko-KR" alt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61772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두 창에서 실시간 반영을 확인한다</a:t>
            </a:r>
            <a:endParaRPr lang="ko-KR" altLang="en-US" sz="1600" dirty="0"/>
          </a:p>
        </p:txBody>
      </p:sp>
      <p:sp>
        <p:nvSpPr>
          <p:cNvPr id="25" name="lab-done"/>
          <p:cNvSpPr/>
          <p:nvPr/>
        </p:nvSpPr>
        <p:spPr>
          <a:xfrm>
            <a:off x="7863840" y="1600200"/>
            <a:ext cx="3779215" cy="457200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완성 기준</a:t>
            </a:r>
            <a:endParaRPr lang="ko-KR" alt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실습 45분</a:t>
            </a:r>
            <a:endParaRPr lang="ko-KR" alt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2423160"/>
            <a:ext cx="32305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한 창의 채팅이 다른 창에 바로 보인다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다른 강의실에는 보이지 않는다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질문이 채팅과 따로 모인다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창을 닫으면 접속자 목록에서 빠진다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478024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07회차 · WebSocket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오늘의 정리</a:t>
            </a:r>
            <a:endParaRPr lang="ko-KR" alt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꼭 기억할 것</a:t>
            </a:r>
            <a:endParaRPr lang="ko-KR" altLang="en-US" sz="1400" dirty="0"/>
          </a:p>
        </p:txBody>
      </p:sp>
      <p:sp>
        <p:nvSpPr>
          <p:cNvPr id="8" name="num-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0574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즉시 보여야 하는 것은 WebSocket, 조금 늦어도 되는 것은 폴링</a:t>
            </a:r>
            <a:endParaRPr lang="ko-KR" altLang="en-US" sz="1700" dirty="0"/>
          </a:p>
        </p:txBody>
      </p:sp>
      <p:sp>
        <p:nvSpPr>
          <p:cNvPr id="11" name="num-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37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강의실 ID별 연결 목록으로 같은 방에만 보낸다</a:t>
            </a:r>
            <a:endParaRPr lang="ko-KR" altLang="en-US" sz="1700" dirty="0"/>
          </a:p>
        </p:txBody>
      </p:sp>
      <p:sp>
        <p:nvSpPr>
          <p:cNvPr id="14" name="num-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메시지 형식은 공유 타입으로, 검사는 서버에서</a:t>
            </a:r>
            <a:endParaRPr lang="ko-KR" altLang="en-US" sz="1700" dirty="0"/>
          </a:p>
        </p:txBody>
      </p:sp>
      <p:sp>
        <p:nvSpPr>
          <p:cNvPr id="17" name="recap-확인 퀴즈"/>
          <p:cNvSpPr/>
          <p:nvPr/>
        </p:nvSpPr>
        <p:spPr>
          <a:xfrm>
            <a:off x="6583680" y="1600200"/>
            <a:ext cx="5059375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78308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확인 퀴즈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채팅에 폴링을 쓰면 어떤 문제가 생길까?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연결이 끊길 때 방에서 빼지 않으면?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손들기를 "상태"로 다루는 이유는?</a:t>
            </a:r>
            <a:endParaRPr lang="ko-KR" altLang="en-US" sz="1500" dirty="0"/>
          </a:p>
        </p:txBody>
      </p:sp>
      <p:sp>
        <p:nvSpPr>
          <p:cNvPr id="20" name="recap-과제"/>
          <p:cNvSpPr/>
          <p:nvPr/>
        </p:nvSpPr>
        <p:spPr>
          <a:xfrm>
            <a:off x="6583680" y="443484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4617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과제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7492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bg1"/>
                </a:solidFill>
              </a:rPr>
              <a:t>채팅 슬로우 모드(한 사람당 3초에 1번) 구현하기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 Air">
  <a:themeElements>
    <a:clrScheme name="On Air">
      <a:dk1>
        <a:srgbClr val="1B2130"/>
      </a:dk1>
      <a:lt1>
        <a:srgbClr val="FFFFFF"/>
      </a:lt1>
      <a:dk2>
        <a:srgbClr val="141A26"/>
      </a:dk2>
      <a:lt2>
        <a:srgbClr val="F2F4F7"/>
      </a:lt2>
      <a:accent1>
        <a:srgbClr val="E5372C"/>
      </a:accent1>
      <a:accent2>
        <a:srgbClr val="2F6FED"/>
      </a:accent2>
      <a:accent3>
        <a:srgbClr val="12B76A"/>
      </a:accent3>
      <a:accent4>
        <a:srgbClr val="F79009"/>
      </a:accent4>
      <a:accent5>
        <a:srgbClr val="7A5AF8"/>
      </a:accent5>
      <a:accent6>
        <a:srgbClr val="667085"/>
      </a:accent6>
      <a:hlink>
        <a:srgbClr val="2F6FED"/>
      </a:hlink>
      <a:folHlink>
        <a:srgbClr val="7A5AF8"/>
      </a:folHlink>
    </a:clrScheme>
    <a:fontScheme name="On 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7회차 실시간 소통: 채팅 · 질문 · 손들기</dc:title>
  <dc:subject>실시간 강의 방송 만들기</dc:subject>
  <dc:creator>실시간 강의 방송 만들기</dc:creator>
  <cp:lastModifiedBy>실시간 강의 방송 만들기</cp:lastModifiedBy>
  <cp:revision>1</cp:revision>
  <dcterms:created xsi:type="dcterms:W3CDTF">2026-10-10T06:35:49Z</dcterms:created>
  <dcterms:modified xsi:type="dcterms:W3CDTF">2026-10-10T06:35:49Z</dcterms:modified>
</cp:coreProperties>
</file>