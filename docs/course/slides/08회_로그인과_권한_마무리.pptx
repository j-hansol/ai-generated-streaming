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fa143ae-7d21-b68c-1ae3-f25392286699}">
          <p14:sldIdLst>
            <p14:sldId id="256"/>
            <p14:sldId id="257"/>
          </p14:sldIdLst>
        </p14:section>
        <p14:section name="개념" id="{b86e6d9f-bc3f-e2bc-642b-d76f48a8bbe1}">
          <p14:sldIdLst>
            <p14:sldId id="258"/>
            <p14:sldId id="259"/>
            <p14:sldId id="260"/>
            <p14:sldId id="261"/>
            <p14:sldId id="262"/>
          </p14:sldIdLst>
        </p14:section>
        <p14:section name="마무리" id="{32c0f551-5146-ea79-e4bb-6a5654fe3663}">
          <p14:sldIdLst>
            <p14:sldId id="263"/>
          </p14:sldIdLst>
        </p14:section>
        <p14:section name="실습" id="{446fe1e0-4b00-908b-01db-bebd664d580e}">
          <p14:sldIdLst>
            <p14:sldId id="264"/>
          </p14:sldIdLst>
        </p14:section>
        <p14:section name="정리" id="{9c50ed8b-4dc8-5138-aabc-03e3b341357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회차입니다. 앞 1시간은 인증, 뒤 1시간은 미니 프로젝트 발표로 운영해도 좋습니다. 코드는 2단계 설계 스케치입니다.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2시간 수업은 매번 같은 순서로 진행합니다. 복습 10분, 개념 40분, 시연 15분, 실습 45분, 정리 10분. 실습 시간이 가장 길다는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JWT는 서버가 서명한 출입증입니다. 서버는 DB를 다시 보지 않고 서명만 확인해 누구인지 압니다. 출입증에는 유효기간(만료)이 꼭 있어야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먼저 정하고 코드를 쓰는 습관을 강조하세요. 권한 규칙이 코드 곳곳에 흩어지면 빠뜨리기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3회 역할 분담 표의 마지막 줄이 바로 이것입니다. 영상 처리는 MediaMTX가, 판단은 Node가 합니다. 시연: 수강생 계정으로 송출하면 거부되는 모습.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규칙이 위에서 아래로 읽히도록 짧게 유지하는 것이 핵심입니다. 테스트할 때는 강사 계정, 수강생 계정, 로그인 안 한 상태 세 가지를 모두 시험하게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과정에서 계속 반복된 원칙(서버에서 검사, 최소 노출)을 정리하는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저장소 README의 3·4단계 목록과 같습니다. 관심 있는 주제로 스터디를 이어가도록 권해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주제 예시: 화면+웹캠 합성, 반응 버튼, 강의 타이머, 출석 기록, 투표. 발표의 핵심은 결과보다 디버깅 과정입니다.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수고하셨습니다. 마지막 퀴즈의 모범 답: "검사와 판단은 서버에서" 또는 "실제 사용자 환경에서 확인하기".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4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ko-KR" altLang="en-US" sz="2200" dirty="0">
                <a:solidFill>
                  <a:schemeClr val="bg2"/>
                </a:solidFill>
              </a:defRPr>
            </a:lvl1pPr>
          </a:lstStyle>
          <a:p>
            <a:pPr eaLnBrk="0" indent="0" marL="0">
              <a:buNone/>
            </a:pPr>
            <a:endParaRPr lang="ko-KR" alt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tx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1003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1004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ON AIR · 08회차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chemeClr val="bg1"/>
                </a:solidFill>
              </a:rPr>
              <a:t>로그인과 권한, 그리고 마무리</a:t>
            </a:r>
            <a:endParaRPr lang="ko-KR" alt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200" dirty="0">
                <a:solidFill>
                  <a:schemeClr val="bg2"/>
                </a:solidFill>
              </a:rPr>
              <a:t>강사와 수강생의 권한을 나누고, 프로젝트를 정리해 발표합니다</a:t>
            </a:r>
            <a:endParaRPr lang="ko-KR" alt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오늘 할 수 있게 될 것</a:t>
            </a:r>
            <a:endParaRPr lang="ko-KR" altLang="en-US" sz="1300" dirty="0"/>
          </a:p>
        </p:txBody>
      </p:sp>
      <p:sp>
        <p:nvSpPr>
          <p:cNvPr id="8" name="goal-1"/>
          <p:cNvSpPr/>
          <p:nvPr/>
        </p:nvSpPr>
        <p:spPr>
          <a:xfrm>
            <a:off x="7315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로그인과 JWT를 설명한다</a:t>
            </a:r>
            <a:endParaRPr lang="ko-KR" altLang="en-US" sz="1500" dirty="0"/>
          </a:p>
        </p:txBody>
      </p:sp>
      <p:sp>
        <p:nvSpPr>
          <p:cNvPr id="10" name="goal-2"/>
          <p:cNvSpPr/>
          <p:nvPr/>
        </p:nvSpPr>
        <p:spPr>
          <a:xfrm>
            <a:off x="43891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역할에 따라 송출 · 시청을 제어한다</a:t>
            </a:r>
            <a:endParaRPr lang="ko-KR" altLang="en-US" sz="1500" dirty="0"/>
          </a:p>
        </p:txBody>
      </p:sp>
      <p:sp>
        <p:nvSpPr>
          <p:cNvPr id="12" name="goal-3"/>
          <p:cNvSpPr/>
          <p:nvPr/>
        </p:nvSpPr>
        <p:spPr>
          <a:xfrm>
            <a:off x="80467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만든 것을 정리하고 다음 단계를 안다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08회차 · 인증 · 마무리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오늘의 진행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69164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69164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로그인은 어떻게 동작할까</a:t>
            </a:r>
            <a:endParaRPr lang="ko-KR" altLang="en-US" sz="1800" dirty="0"/>
          </a:p>
        </p:txBody>
      </p:sp>
      <p:sp>
        <p:nvSpPr>
          <p:cNvPr id="10" name="num-2"/>
          <p:cNvSpPr/>
          <p:nvPr/>
        </p:nvSpPr>
        <p:spPr>
          <a:xfrm>
            <a:off x="548640" y="224028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24028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역할별 권한 정하기</a:t>
            </a:r>
            <a:endParaRPr lang="ko-KR" altLang="en-US" sz="1800" dirty="0"/>
          </a:p>
        </p:txBody>
      </p:sp>
      <p:sp>
        <p:nvSpPr>
          <p:cNvPr id="13" name="num-3"/>
          <p:cNvSpPr/>
          <p:nvPr/>
        </p:nvSpPr>
        <p:spPr>
          <a:xfrm>
            <a:off x="548640" y="278892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78892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MediaMTX가 Node에게 묻는 인증 훅</a:t>
            </a:r>
            <a:endParaRPr lang="ko-KR" altLang="en-US" sz="1800" dirty="0"/>
          </a:p>
        </p:txBody>
      </p:sp>
      <p:sp>
        <p:nvSpPr>
          <p:cNvPr id="16" name="num-4"/>
          <p:cNvSpPr/>
          <p:nvPr/>
        </p:nvSpPr>
        <p:spPr>
          <a:xfrm>
            <a:off x="548640" y="333756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33756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보안 점검 목록</a:t>
            </a:r>
            <a:endParaRPr lang="ko-KR" altLang="en-US" sz="1800" dirty="0"/>
          </a:p>
        </p:txBody>
      </p:sp>
      <p:sp>
        <p:nvSpPr>
          <p:cNvPr id="19" name="num-5"/>
          <p:cNvSpPr/>
          <p:nvPr/>
        </p:nvSpPr>
        <p:spPr>
          <a:xfrm>
            <a:off x="548640" y="388620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5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388620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미니 프로젝트 발표와 다음 단계</a:t>
            </a:r>
            <a:endParaRPr lang="ko-KR" alt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6"/>
                </a:solidFill>
              </a:rPr>
              <a:t>2시간 진행 순서</a:t>
            </a:r>
            <a:endParaRPr lang="ko-KR" altLang="en-US" sz="1300" dirty="0"/>
          </a:p>
        </p:txBody>
      </p:sp>
      <p:sp>
        <p:nvSpPr>
          <p:cNvPr id="23" name="agenda-1"/>
          <p:cNvSpPr/>
          <p:nvPr/>
        </p:nvSpPr>
        <p:spPr>
          <a:xfrm>
            <a:off x="576072" y="4983480"/>
            <a:ext cx="869671" cy="50292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복습 · 퀴즈</a:t>
            </a:r>
            <a:endParaRPr lang="ko-KR" altLang="en-US" sz="1300" dirty="0"/>
          </a:p>
        </p:txBody>
      </p:sp>
      <p:sp>
        <p:nvSpPr>
          <p:cNvPr id="26" name="agenda-2"/>
          <p:cNvSpPr/>
          <p:nvPr/>
        </p:nvSpPr>
        <p:spPr>
          <a:xfrm>
            <a:off x="1500607" y="4983480"/>
            <a:ext cx="3643274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473175" y="4983480"/>
            <a:ext cx="3698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40분</a:t>
            </a:r>
            <a:endParaRPr lang="ko-KR" alt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473175" y="5577840"/>
            <a:ext cx="3698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개념 강의</a:t>
            </a:r>
            <a:endParaRPr lang="ko-KR" altLang="en-US" sz="1300" dirty="0"/>
          </a:p>
        </p:txBody>
      </p:sp>
      <p:sp>
        <p:nvSpPr>
          <p:cNvPr id="29" name="agenda-3"/>
          <p:cNvSpPr/>
          <p:nvPr/>
        </p:nvSpPr>
        <p:spPr>
          <a:xfrm>
            <a:off x="5198745" y="4983480"/>
            <a:ext cx="1331938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171313" y="4983480"/>
            <a:ext cx="1386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15분</a:t>
            </a:r>
            <a:endParaRPr lang="ko-KR" alt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171313" y="5577840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시연</a:t>
            </a:r>
            <a:endParaRPr lang="ko-KR" altLang="en-US" sz="1300" dirty="0"/>
          </a:p>
        </p:txBody>
      </p:sp>
      <p:sp>
        <p:nvSpPr>
          <p:cNvPr id="32" name="agenda-4"/>
          <p:cNvSpPr/>
          <p:nvPr/>
        </p:nvSpPr>
        <p:spPr>
          <a:xfrm>
            <a:off x="6585547" y="4983480"/>
            <a:ext cx="4105542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558115" y="4983480"/>
            <a:ext cx="4160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45분</a:t>
            </a:r>
            <a:endParaRPr lang="ko-KR" alt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558115" y="5577840"/>
            <a:ext cx="41604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실습</a:t>
            </a:r>
            <a:endParaRPr lang="ko-KR" altLang="en-US" sz="1300" dirty="0"/>
          </a:p>
        </p:txBody>
      </p:sp>
      <p:sp>
        <p:nvSpPr>
          <p:cNvPr id="35" name="agenda-5"/>
          <p:cNvSpPr/>
          <p:nvPr/>
        </p:nvSpPr>
        <p:spPr>
          <a:xfrm>
            <a:off x="10745953" y="4983480"/>
            <a:ext cx="869671" cy="502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718521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718521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정리 · 과제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08회차 · 인증 · 마무리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로그인은 이렇게 동작한다</a:t>
            </a:r>
            <a:endParaRPr lang="ko-KR" altLang="en-US" sz="3200" dirty="0"/>
          </a:p>
        </p:txBody>
      </p:sp>
      <p:sp>
        <p:nvSpPr>
          <p:cNvPr id="7" name="step-1"/>
          <p:cNvSpPr/>
          <p:nvPr/>
        </p:nvSpPr>
        <p:spPr>
          <a:xfrm>
            <a:off x="548640" y="1965960"/>
            <a:ext cx="1911645" cy="2651760"/>
          </a:xfrm>
          <a:prstGeom prst="roundRect">
            <a:avLst>
              <a:gd name="adj" fmla="val 574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167128"/>
            <a:ext cx="1454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01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14600"/>
            <a:ext cx="14544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회원가입</a:t>
            </a:r>
            <a:endParaRPr lang="ko-KR" alt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145444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비밀번호는 해시로 바꿔 저장 (원문 저장 금지)</a:t>
            </a:r>
            <a:endParaRPr lang="ko-KR" altLang="en-US" sz="1400" dirty="0"/>
          </a:p>
        </p:txBody>
      </p:sp>
      <p:sp>
        <p:nvSpPr>
          <p:cNvPr id="11" name="arrow-1"/>
          <p:cNvSpPr/>
          <p:nvPr/>
        </p:nvSpPr>
        <p:spPr>
          <a:xfrm rot="5400000">
            <a:off x="2560869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2" name="step-2"/>
          <p:cNvSpPr/>
          <p:nvPr/>
        </p:nvSpPr>
        <p:spPr>
          <a:xfrm>
            <a:off x="2844333" y="1965960"/>
            <a:ext cx="1911645" cy="2651760"/>
          </a:xfrm>
          <a:prstGeom prst="roundRect">
            <a:avLst>
              <a:gd name="adj" fmla="val 574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072933" y="2167128"/>
            <a:ext cx="1454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02</a:t>
            </a:r>
            <a:endParaRPr lang="ko-KR" alt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072933" y="2514600"/>
            <a:ext cx="14544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로그인</a:t>
            </a:r>
            <a:endParaRPr lang="ko-KR" alt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072933" y="3337560"/>
            <a:ext cx="145444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입력한 비밀번호의 해시를 비교</a:t>
            </a:r>
            <a:endParaRPr lang="ko-KR" altLang="en-US" sz="1400" dirty="0"/>
          </a:p>
        </p:txBody>
      </p:sp>
      <p:sp>
        <p:nvSpPr>
          <p:cNvPr id="16" name="arrow-2"/>
          <p:cNvSpPr/>
          <p:nvPr/>
        </p:nvSpPr>
        <p:spPr>
          <a:xfrm rot="5400000">
            <a:off x="4856561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7" name="step-3"/>
          <p:cNvSpPr/>
          <p:nvPr/>
        </p:nvSpPr>
        <p:spPr>
          <a:xfrm>
            <a:off x="5140025" y="1965960"/>
            <a:ext cx="1911645" cy="2651760"/>
          </a:xfrm>
          <a:prstGeom prst="roundRect">
            <a:avLst>
              <a:gd name="adj" fmla="val 5740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368625" y="2167128"/>
            <a:ext cx="1454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03</a:t>
            </a:r>
            <a:endParaRPr lang="ko-KR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368625" y="2514600"/>
            <a:ext cx="14544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JWT 발급</a:t>
            </a:r>
            <a:endParaRPr lang="ko-KR" alt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5368625" y="3337560"/>
            <a:ext cx="145444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"누구, 어떤 역할"을 서명해 건넨다</a:t>
            </a:r>
            <a:endParaRPr lang="ko-KR" altLang="en-US" sz="1400" dirty="0"/>
          </a:p>
        </p:txBody>
      </p:sp>
      <p:sp>
        <p:nvSpPr>
          <p:cNvPr id="21" name="arrow-3"/>
          <p:cNvSpPr/>
          <p:nvPr/>
        </p:nvSpPr>
        <p:spPr>
          <a:xfrm rot="5400000">
            <a:off x="7152254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2" name="step-4"/>
          <p:cNvSpPr/>
          <p:nvPr/>
        </p:nvSpPr>
        <p:spPr>
          <a:xfrm>
            <a:off x="7435718" y="1965960"/>
            <a:ext cx="1911645" cy="2651760"/>
          </a:xfrm>
          <a:prstGeom prst="roundRect">
            <a:avLst>
              <a:gd name="adj" fmla="val 5740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64318" y="2167128"/>
            <a:ext cx="1454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04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664318" y="2514600"/>
            <a:ext cx="14544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요청마다 제시</a:t>
            </a:r>
            <a:endParaRPr lang="ko-KR" alt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664318" y="3337560"/>
            <a:ext cx="145444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Authorization 헤더에 토큰을 붙인다</a:t>
            </a:r>
            <a:endParaRPr lang="ko-KR" altLang="en-US" sz="1400" dirty="0"/>
          </a:p>
        </p:txBody>
      </p:sp>
      <p:sp>
        <p:nvSpPr>
          <p:cNvPr id="26" name="arrow-4"/>
          <p:cNvSpPr/>
          <p:nvPr/>
        </p:nvSpPr>
        <p:spPr>
          <a:xfrm rot="5400000">
            <a:off x="9447947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7" name="step-5"/>
          <p:cNvSpPr/>
          <p:nvPr/>
        </p:nvSpPr>
        <p:spPr>
          <a:xfrm>
            <a:off x="9731411" y="1965960"/>
            <a:ext cx="1911645" cy="2651760"/>
          </a:xfrm>
          <a:prstGeom prst="roundRect">
            <a:avLst>
              <a:gd name="adj" fmla="val 5740"/>
            </a:avLst>
          </a:prstGeom>
          <a:solidFill>
            <a:schemeClr val="tx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960011" y="2167128"/>
            <a:ext cx="1454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05</a:t>
            </a:r>
            <a:endParaRPr lang="ko-KR" alt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960011" y="2514600"/>
            <a:ext cx="14544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bg1"/>
                </a:solidFill>
              </a:rPr>
              <a:t>서버가 검증</a:t>
            </a:r>
            <a:endParaRPr lang="ko-KR" alt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9960011" y="3337560"/>
            <a:ext cx="145444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서명이 맞으면 믿고 처리</a:t>
            </a:r>
            <a:endParaRPr lang="ko-KR" altLang="en-US" sz="1400" dirty="0"/>
          </a:p>
        </p:txBody>
      </p:sp>
      <p:sp>
        <p:nvSpPr>
          <p:cNvPr id="31" name="key-box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32" name="key-dot"/>
          <p:cNvSpPr/>
          <p:nvPr/>
        </p:nvSpPr>
        <p:spPr>
          <a:xfrm>
            <a:off x="777240" y="52578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key-text"/>
          <p:cNvSpPr txBox="1"/>
          <p:nvPr/>
        </p:nvSpPr>
        <p:spPr>
          <a:xfrm>
            <a:off x="1005840" y="50292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JWT = 서버가 서명한 출입증. 위조는 못 하지만 내용은 누구나 읽을 수 있다 (비밀 정보 넣지 않기)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08회차 · 인증 · 마무리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역할별 권한</a:t>
            </a:r>
            <a:endParaRPr lang="ko-KR" altLang="en-US" sz="3200" dirty="0"/>
          </a:p>
        </p:txBody>
      </p:sp>
      <p:graphicFrame>
        <p:nvGraphicFramePr>
          <p:cNvPr id="5" name="compa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55264"/>
                <a:gridCol w="3264408"/>
              </a:tblGrid>
              <a:tr h="54864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기능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강사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수강생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강의실 만들기 · 지우기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자기 강의실만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불가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송출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자기 강의실만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불가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시청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가능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로그인하면 가능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채팅 · 질문 · 손들기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가능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가능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질문 "답변 완료" 표시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가능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불가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08회차 · 인증 · 마무리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MediaMTX 인증 훅</a:t>
            </a:r>
            <a:endParaRPr lang="ko-KR" altLang="en-US" sz="3200" dirty="0"/>
          </a:p>
        </p:txBody>
      </p:sp>
      <p:sp>
        <p:nvSpPr>
          <p:cNvPr id="7" name="step-1"/>
          <p:cNvSpPr/>
          <p:nvPr/>
        </p:nvSpPr>
        <p:spPr>
          <a:xfrm>
            <a:off x="548640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01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브라우저</a:t>
            </a:r>
            <a:endParaRPr lang="ko-KR" alt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WHIP 요청에 토큰을 붙여 송출 시도</a:t>
            </a:r>
            <a:endParaRPr lang="ko-KR" altLang="en-US" sz="1400" dirty="0"/>
          </a:p>
        </p:txBody>
      </p:sp>
      <p:sp>
        <p:nvSpPr>
          <p:cNvPr id="11" name="arrow-1"/>
          <p:cNvSpPr/>
          <p:nvPr/>
        </p:nvSpPr>
        <p:spPr>
          <a:xfrm rot="5400000">
            <a:off x="3134792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2" name="step-2"/>
          <p:cNvSpPr/>
          <p:nvPr/>
        </p:nvSpPr>
        <p:spPr>
          <a:xfrm>
            <a:off x="3418256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46856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02</a:t>
            </a:r>
            <a:endParaRPr lang="ko-KR" alt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46856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MediaMTX</a:t>
            </a:r>
            <a:endParaRPr lang="ko-KR" alt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646856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"이 사람 송출해도 되나요?" Node에 POST</a:t>
            </a:r>
            <a:endParaRPr lang="ko-KR" altLang="en-US" sz="1400" dirty="0"/>
          </a:p>
        </p:txBody>
      </p:sp>
      <p:sp>
        <p:nvSpPr>
          <p:cNvPr id="16" name="arrow-2"/>
          <p:cNvSpPr/>
          <p:nvPr/>
        </p:nvSpPr>
        <p:spPr>
          <a:xfrm rot="5400000">
            <a:off x="6004408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7" name="step-3"/>
          <p:cNvSpPr/>
          <p:nvPr/>
        </p:nvSpPr>
        <p:spPr>
          <a:xfrm>
            <a:off x="6287872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16472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03</a:t>
            </a:r>
            <a:endParaRPr lang="ko-KR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516472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Node 판단</a:t>
            </a:r>
            <a:endParaRPr lang="ko-KR" alt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516472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토큰 확인 + 강의실 주인인지 확인</a:t>
            </a:r>
            <a:endParaRPr lang="ko-KR" altLang="en-US" sz="1400" dirty="0"/>
          </a:p>
        </p:txBody>
      </p:sp>
      <p:sp>
        <p:nvSpPr>
          <p:cNvPr id="21" name="arrow-3"/>
          <p:cNvSpPr/>
          <p:nvPr/>
        </p:nvSpPr>
        <p:spPr>
          <a:xfrm rot="5400000">
            <a:off x="8874023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2" name="step-4"/>
          <p:cNvSpPr/>
          <p:nvPr/>
        </p:nvSpPr>
        <p:spPr>
          <a:xfrm>
            <a:off x="9157487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386087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04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386087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bg1"/>
                </a:solidFill>
              </a:rPr>
              <a:t>허용 · 거부</a:t>
            </a:r>
            <a:endParaRPr lang="ko-KR" alt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9386087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200이면 송출, 401이면 연결 거부</a:t>
            </a:r>
            <a:endParaRPr lang="ko-KR" altLang="en-US" sz="1400" dirty="0"/>
          </a:p>
        </p:txBody>
      </p:sp>
      <p:sp>
        <p:nvSpPr>
          <p:cNvPr id="26" name="key-box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27" name="key-dot"/>
          <p:cNvSpPr/>
          <p:nvPr/>
        </p:nvSpPr>
        <p:spPr>
          <a:xfrm>
            <a:off x="777240" y="52578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key-text"/>
          <p:cNvSpPr txBox="1"/>
          <p:nvPr/>
        </p:nvSpPr>
        <p:spPr>
          <a:xfrm>
            <a:off x="1005840" y="50292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mediamtx.yml: authMethod: http · authHTTPAddress: http://127.0.0.1:3000/api/media/auth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08회차 · 인증 · 마무리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인증 훅 서버 코드</a:t>
            </a:r>
            <a:endParaRPr lang="ko-KR" altLang="en-US" sz="3200" dirty="0"/>
          </a:p>
        </p:txBody>
      </p:sp>
      <p:sp>
        <p:nvSpPr>
          <p:cNvPr id="7" name="code-explain"/>
          <p:cNvSpPr txBox="1"/>
          <p:nvPr/>
        </p:nvSpPr>
        <p:spPr>
          <a:xfrm>
            <a:off x="548640" y="1645920"/>
            <a:ext cx="4160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MediaMTX가 action(publish/read)과 path를 보내준다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토큰으로 사용자를, 경로로 강의실을 찾는다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규칙에 맞으면 200, 아니면 401</a:t>
            </a:r>
            <a:endParaRPr lang="ko-KR" altLang="en-US" sz="1600" dirty="0"/>
          </a:p>
        </p:txBody>
      </p:sp>
      <p:sp>
        <p:nvSpPr>
          <p:cNvPr id="8" name="code-panel"/>
          <p:cNvSpPr/>
          <p:nvPr/>
        </p:nvSpPr>
        <p:spPr>
          <a:xfrm>
            <a:off x="5029200" y="1600200"/>
            <a:ext cx="6613855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5303520" y="18745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de-file"/>
          <p:cNvSpPr txBox="1"/>
          <p:nvPr/>
        </p:nvSpPr>
        <p:spPr>
          <a:xfrm>
            <a:off x="5504688" y="178308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apps/server/src/auth.ts (설계 스케치)</a:t>
            </a:r>
            <a:endParaRPr lang="ko-KR" altLang="en-US" sz="1200" dirty="0"/>
          </a:p>
        </p:txBody>
      </p:sp>
      <p:sp>
        <p:nvSpPr>
          <p:cNvPr id="11" name="code-text"/>
          <p:cNvSpPr txBox="1"/>
          <p:nvPr/>
        </p:nvSpPr>
        <p:spPr>
          <a:xfrm>
            <a:off x="5303520" y="2194560"/>
            <a:ext cx="606521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app.post('/api/media/auth', async (req, reply) =&gt; 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action, path, token } = req.body;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verifyJwt(token);        // 누구인가?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room = findRoomByPath(path);    // 어느 강의실?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강의실 주인만 송출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(action === 'publish' &amp;&amp; room?.teacherId === user?.id)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reply.code(200).send();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로그인한 사람은 시청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(action === 'read' &amp;&amp; user)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reply.code(200).send();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reply.code(401).send();        // 그 외 거부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08회차 · 인증 · 마무리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보안 점검 목록</a:t>
            </a:r>
            <a:endParaRPr lang="ko-KR" altLang="en-US" sz="3200" dirty="0"/>
          </a:p>
        </p:txBody>
      </p:sp>
      <p:sp>
        <p:nvSpPr>
          <p:cNvPr id="7" name="card-1"/>
          <p:cNvSpPr/>
          <p:nvPr/>
        </p:nvSpPr>
        <p:spPr>
          <a:xfrm>
            <a:off x="548640" y="16002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num-1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182880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비밀번호</a:t>
            </a:r>
            <a:endParaRPr lang="ko-KR" alt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6888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원문 저장 금지. bcrypt · scrypt 같은 느린 해시를 쓴다.</a:t>
            </a:r>
            <a:endParaRPr lang="ko-KR" altLang="en-US" sz="1500" dirty="0"/>
          </a:p>
        </p:txBody>
      </p:sp>
      <p:sp>
        <p:nvSpPr>
          <p:cNvPr id="12" name="card-2"/>
          <p:cNvSpPr/>
          <p:nvPr/>
        </p:nvSpPr>
        <p:spPr>
          <a:xfrm>
            <a:off x="6233008" y="16002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3" name="num-2"/>
          <p:cNvSpPr/>
          <p:nvPr/>
        </p:nvSpPr>
        <p:spPr>
          <a:xfrm>
            <a:off x="6507328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0732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055968" y="182880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토큰</a:t>
            </a:r>
            <a:endParaRPr lang="ko-KR" alt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246888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유효기간을 짧게. 비밀 키는 코드가 아닌 환경 변수에.</a:t>
            </a:r>
            <a:endParaRPr lang="ko-KR" altLang="en-US" sz="1500" dirty="0"/>
          </a:p>
        </p:txBody>
      </p:sp>
      <p:sp>
        <p:nvSpPr>
          <p:cNvPr id="17" name="card-3"/>
          <p:cNvSpPr/>
          <p:nvPr/>
        </p:nvSpPr>
        <p:spPr>
          <a:xfrm>
            <a:off x="548640" y="40233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8" name="num-3"/>
          <p:cNvSpPr/>
          <p:nvPr/>
        </p:nvSpPr>
        <p:spPr>
          <a:xfrm>
            <a:off x="822960" y="42976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425196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포트</a:t>
            </a:r>
            <a:endParaRPr lang="ko-KR" alt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89204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필요한 것만 연다. 제어 API(9997)는 127.0.0.1 전용.</a:t>
            </a:r>
            <a:endParaRPr lang="ko-KR" altLang="en-US" sz="1500" dirty="0"/>
          </a:p>
        </p:txBody>
      </p:sp>
      <p:sp>
        <p:nvSpPr>
          <p:cNvPr id="22" name="card-4"/>
          <p:cNvSpPr/>
          <p:nvPr/>
        </p:nvSpPr>
        <p:spPr>
          <a:xfrm>
            <a:off x="6233008" y="40233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3" name="num-4"/>
          <p:cNvSpPr/>
          <p:nvPr/>
        </p:nvSpPr>
        <p:spPr>
          <a:xfrm>
            <a:off x="6507328" y="42976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507328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055968" y="425196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입력</a:t>
            </a:r>
            <a:endParaRPr lang="ko-KR" alt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507328" y="489204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모든 입력은 서버에서 검사한다 (길이 · 형식 · 권한).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08회차 · 인증 · 마무리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다음 단계</a:t>
            </a:r>
            <a:endParaRPr lang="ko-KR" altLang="en-US" sz="3200" dirty="0"/>
          </a:p>
        </p:txBody>
      </p:sp>
      <p:sp>
        <p:nvSpPr>
          <p:cNvPr id="7" name="card-1"/>
          <p:cNvSpPr/>
          <p:nvPr/>
        </p:nvSpPr>
        <p:spPr>
          <a:xfrm>
            <a:off x="548640" y="16002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num-1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182880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녹화와 다시보기</a:t>
            </a:r>
            <a:endParaRPr lang="ko-KR" alt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6888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MediaMTX record 옵션 + FFmpeg로 MP4 변환, 썸네일 생성</a:t>
            </a:r>
            <a:endParaRPr lang="ko-KR" altLang="en-US" sz="1500" dirty="0"/>
          </a:p>
        </p:txBody>
      </p:sp>
      <p:sp>
        <p:nvSpPr>
          <p:cNvPr id="12" name="card-2"/>
          <p:cNvSpPr/>
          <p:nvPr/>
        </p:nvSpPr>
        <p:spPr>
          <a:xfrm>
            <a:off x="6233008" y="16002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3" name="num-2"/>
          <p:cNvSpPr/>
          <p:nvPr/>
        </p:nvSpPr>
        <p:spPr>
          <a:xfrm>
            <a:off x="6507328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0732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055968" y="182880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화면 + 웹캠 합성</a:t>
            </a:r>
            <a:endParaRPr lang="ko-KR" alt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246888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Canvas에 화면을 그리고 구석에 강사 얼굴을 겹쳐 보낸다</a:t>
            </a:r>
            <a:endParaRPr lang="ko-KR" altLang="en-US" sz="1500" dirty="0"/>
          </a:p>
        </p:txBody>
      </p:sp>
      <p:sp>
        <p:nvSpPr>
          <p:cNvPr id="17" name="card-3"/>
          <p:cNvSpPr/>
          <p:nvPr/>
        </p:nvSpPr>
        <p:spPr>
          <a:xfrm>
            <a:off x="548640" y="40233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8" name="num-3"/>
          <p:cNvSpPr/>
          <p:nvPr/>
        </p:nvSpPr>
        <p:spPr>
          <a:xfrm>
            <a:off x="822960" y="42976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425196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SFU 직접 만들기</a:t>
            </a:r>
            <a:endParaRPr lang="ko-KR" alt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89204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mediasoup으로 MediaMTX가 하던 일을 직접 구현해 본다</a:t>
            </a:r>
            <a:endParaRPr lang="ko-KR" altLang="en-US" sz="1500" dirty="0"/>
          </a:p>
        </p:txBody>
      </p:sp>
      <p:sp>
        <p:nvSpPr>
          <p:cNvPr id="22" name="card-4"/>
          <p:cNvSpPr/>
          <p:nvPr/>
        </p:nvSpPr>
        <p:spPr>
          <a:xfrm>
            <a:off x="6233008" y="40233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3" name="num-4"/>
          <p:cNvSpPr/>
          <p:nvPr/>
        </p:nvSpPr>
        <p:spPr>
          <a:xfrm>
            <a:off x="6507328" y="42976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507328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055968" y="425196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HTTPS 배포</a:t>
            </a:r>
            <a:endParaRPr lang="ko-KR" alt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507328" y="489204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다른 기기 · 인터넷 공개를 위해 인증서와 TURN 서버를 갖춘다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08회차 · 인증 · 마무리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미니 프로젝트 발표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7099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600200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팀별 5분: 무엇을 왜 만들었나</a:t>
            </a:r>
            <a:endParaRPr lang="ko-KR" altLang="en-US" sz="1600" dirty="0"/>
          </a:p>
        </p:txBody>
      </p:sp>
      <p:sp>
        <p:nvSpPr>
          <p:cNvPr id="10" name="num-2"/>
          <p:cNvSpPr/>
          <p:nvPr/>
        </p:nvSpPr>
        <p:spPr>
          <a:xfrm>
            <a:off x="548640" y="2313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203704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시연: 실제로 동작하는 모습</a:t>
            </a:r>
            <a:endParaRPr lang="ko-KR" altLang="en-US" sz="1600" dirty="0"/>
          </a:p>
        </p:txBody>
      </p:sp>
      <p:sp>
        <p:nvSpPr>
          <p:cNvPr id="13" name="num-3"/>
          <p:cNvSpPr/>
          <p:nvPr/>
        </p:nvSpPr>
        <p:spPr>
          <a:xfrm>
            <a:off x="548640" y="29169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807208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가장 어려웠던 문제와 해결 과정</a:t>
            </a:r>
            <a:endParaRPr lang="ko-KR" altLang="en-US" sz="1600" dirty="0"/>
          </a:p>
        </p:txBody>
      </p:sp>
      <p:sp>
        <p:nvSpPr>
          <p:cNvPr id="16" name="num-4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410712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다른 팀 질문 1개 받기</a:t>
            </a:r>
            <a:endParaRPr lang="ko-KR" altLang="en-US" sz="1600" dirty="0"/>
          </a:p>
        </p:txBody>
      </p:sp>
      <p:sp>
        <p:nvSpPr>
          <p:cNvPr id="19" name="lab-done"/>
          <p:cNvSpPr/>
          <p:nvPr/>
        </p:nvSpPr>
        <p:spPr>
          <a:xfrm>
            <a:off x="7863840" y="1600200"/>
            <a:ext cx="3779215" cy="4572000"/>
          </a:xfrm>
          <a:prstGeom prst="roundRect">
            <a:avLst>
              <a:gd name="adj" fmla="val 2903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완성 기준</a:t>
            </a:r>
            <a:endParaRPr lang="ko-KR" alt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실습 45분</a:t>
            </a:r>
            <a:endParaRPr lang="ko-KR" alt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138160" y="2423160"/>
            <a:ext cx="32305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동작하는 기능이 하나 이상 있다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문제 → 원인 → 해결을 설명했다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사용자가 알아챌 수 있는 화면인가 점검했다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08회차 · 인증 · 마무리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bg1"/>
                </a:solidFill>
              </a:rPr>
              <a:t>오늘의 정리</a:t>
            </a:r>
            <a:endParaRPr lang="ko-KR" alt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꼭 기억할 것</a:t>
            </a:r>
            <a:endParaRPr lang="ko-KR" altLang="en-US" sz="1400" dirty="0"/>
          </a:p>
        </p:txBody>
      </p:sp>
      <p:sp>
        <p:nvSpPr>
          <p:cNvPr id="8" name="num-1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0574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로그인 = 해시로 비교하고, 서명된 출입증(JWT)을 건넨다</a:t>
            </a:r>
            <a:endParaRPr lang="ko-KR" altLang="en-US" sz="1700" dirty="0"/>
          </a:p>
        </p:txBody>
      </p:sp>
      <p:sp>
        <p:nvSpPr>
          <p:cNvPr id="11" name="num-2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33756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권한 규칙은 표로 먼저 정하고, 판단은 서버 한곳에서</a:t>
            </a:r>
            <a:endParaRPr lang="ko-KR" altLang="en-US" sz="1700" dirty="0"/>
          </a:p>
        </p:txBody>
      </p:sp>
      <p:sp>
        <p:nvSpPr>
          <p:cNvPr id="14" name="num-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6177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영상은 미디어 서버에, 서비스 로직과 권한은 우리 서버에</a:t>
            </a:r>
            <a:endParaRPr lang="ko-KR" altLang="en-US" sz="1700" dirty="0"/>
          </a:p>
        </p:txBody>
      </p:sp>
      <p:sp>
        <p:nvSpPr>
          <p:cNvPr id="17" name="recap-확인 퀴즈"/>
          <p:cNvSpPr/>
          <p:nvPr/>
        </p:nvSpPr>
        <p:spPr>
          <a:xfrm>
            <a:off x="6583680" y="1600200"/>
            <a:ext cx="5059375" cy="2606040"/>
          </a:xfrm>
          <a:prstGeom prst="roundRect">
            <a:avLst>
              <a:gd name="adj" fmla="val 4211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0" y="178308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확인 퀴즈</a:t>
            </a:r>
            <a:endParaRPr lang="ko-KR" alt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2240280"/>
            <a:ext cx="45107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비밀번호를 원문으로 저장하면 안 되는 이유는?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MediaMTX 인증 훅에서 판단은 누가 할까?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8회 동안 가장 자주 나온 원칙 하나는?</a:t>
            </a:r>
            <a:endParaRPr lang="ko-KR" altLang="en-US" sz="1500" dirty="0"/>
          </a:p>
        </p:txBody>
      </p:sp>
      <p:sp>
        <p:nvSpPr>
          <p:cNvPr id="20" name="recap-과제"/>
          <p:cNvSpPr/>
          <p:nvPr/>
        </p:nvSpPr>
        <p:spPr>
          <a:xfrm>
            <a:off x="6583680" y="4434840"/>
            <a:ext cx="5059375" cy="1737360"/>
          </a:xfrm>
          <a:prstGeom prst="roundRect">
            <a:avLst>
              <a:gd name="adj" fmla="val 631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0" y="461772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과제</a:t>
            </a:r>
            <a:endParaRPr lang="ko-KR" alt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5074920"/>
            <a:ext cx="4510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bg1"/>
                </a:solidFill>
              </a:rPr>
              <a:t>미니 프로젝트 코드와 발표 자료 제출 (README에 실행 방법 포함)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 Air">
  <a:themeElements>
    <a:clrScheme name="On Air">
      <a:dk1>
        <a:srgbClr val="1B2130"/>
      </a:dk1>
      <a:lt1>
        <a:srgbClr val="FFFFFF"/>
      </a:lt1>
      <a:dk2>
        <a:srgbClr val="141A26"/>
      </a:dk2>
      <a:lt2>
        <a:srgbClr val="F2F4F7"/>
      </a:lt2>
      <a:accent1>
        <a:srgbClr val="E5372C"/>
      </a:accent1>
      <a:accent2>
        <a:srgbClr val="2F6FED"/>
      </a:accent2>
      <a:accent3>
        <a:srgbClr val="12B76A"/>
      </a:accent3>
      <a:accent4>
        <a:srgbClr val="F79009"/>
      </a:accent4>
      <a:accent5>
        <a:srgbClr val="7A5AF8"/>
      </a:accent5>
      <a:accent6>
        <a:srgbClr val="667085"/>
      </a:accent6>
      <a:hlink>
        <a:srgbClr val="2F6FED"/>
      </a:hlink>
      <a:folHlink>
        <a:srgbClr val="7A5AF8"/>
      </a:folHlink>
    </a:clrScheme>
    <a:fontScheme name="On Ai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8회차 로그인과 권한, 그리고 마무리</dc:title>
  <dc:subject>실시간 강의 방송 만들기</dc:subject>
  <dc:creator>실시간 강의 방송 만들기</dc:creator>
  <cp:lastModifiedBy>실시간 강의 방송 만들기</cp:lastModifiedBy>
  <cp:revision>1</cp:revision>
  <dcterms:created xsi:type="dcterms:W3CDTF">2026-10-10T06:35:50Z</dcterms:created>
  <dcterms:modified xsi:type="dcterms:W3CDTF">2026-10-10T06:35:50Z</dcterms:modified>
</cp:coreProperties>
</file>